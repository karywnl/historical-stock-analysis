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Speaker: Mirthula M | Target: 0:20</a:t>
            </a:r>
          </a:p>
          <a:p>
            <a:pPr/>
            <a:r>
              <a:t>Open with the umbrella question. Explain that the project is not forecasting prices; it tests whether apparent diversification remains meaningful across technology groups and crisis periods.</a:t>
            </a:r>
          </a:p>
          <a:p>
            <a:pPr/>
          </a:p>
          <a:p>
            <a:pPr/>
            <a:r>
              <a:t>[Sources]</a:t>
            </a:r>
          </a:p>
          <a:p>
            <a:pPr/>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r>
              <a:t>Speaker: Mirthula M | Target: 0:50</a:t>
            </a:r>
          </a:p>
          <a:p>
            <a:pPr/>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pPr/>
          </a:p>
          <a:p>
            <a:pPr/>
            <a:r>
              <a:t>[Sources]</a:t>
            </a:r>
          </a:p>
          <a:p>
            <a:pPr/>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r>
              <a:t>Speaker: Mirthula M | Target: 0:55</a:t>
            </a:r>
          </a:p>
          <a:p>
            <a:pPr/>
            <a:r>
              <a:t>State each hypothesis before discussing the tests. H1 asks whether the selected chip/AI group outperformed the selected broader-tech group during the AI rally. H2 asks whether regional correlations increased during crises compared with calm years. H3 asks whether volatility and volume rose during panic periods. Together, they test whether apparent diversification becomes thinner during concentrated rallies and market stress.</a:t>
            </a:r>
          </a:p>
          <a:p>
            <a:pPr/>
            <a:r>
              <a:t>[Sources]</a:t>
            </a:r>
          </a:p>
          <a:p>
            <a:pPr/>
            <a:r>
              <a:t>Hypothesis definitions: assignment_3/analysis.ipynb, extra_credit_1/analysis.ipynb, and AGENTS.md.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r>
              <a:t>Speaker: Mirthula M | Target: 0:55</a:t>
            </a:r>
          </a:p>
          <a:p>
            <a:pPr/>
            <a:r>
              <a:t>Explain the periods in plain language. The 2008 crisis followed a housing boom: falling home prices created mortgage losses, damaged banks, and disrupted credit markets worldwide. The 2020 crash was the sudden market selloff around the first COVID-19 lockdowns. The 2022 drawdown was slower and occurred amid high inflation and rapid interest-rate increases. We compare all three with calm 2015–2017. Correlation means how closely markets move together; volatility means the size of price movements; volume means the number of shares traded. H1 separately compares the selected technology baskets using indexed adjusted prices and mean daily returns. Then hand over to Karthikeyan.</a:t>
            </a:r>
          </a:p>
          <a:p>
            <a:pPr/>
            <a:r>
              <a:t>[Sources]</a:t>
            </a:r>
          </a:p>
          <a:p>
            <a:pPr/>
            <a:r>
              <a:t>Group and period definitions: assignment_3/analysis.ipynb and extra_credit_1/analysis.ipynb. 2008 crisis context: Federal Reserve History, https://www.federalreservehistory.org/essays/great-recession-and-its-aftermath.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r>
              <a:t>Speaker: Karthikeyan M | Target: 1:00</a:t>
            </a:r>
          </a:p>
          <a:p>
            <a:pPr/>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pPr/>
          </a:p>
          <a:p>
            <a:pPr/>
            <a:r>
              <a:t>[Sources]</a:t>
            </a:r>
          </a:p>
          <a:p>
            <a:pPr/>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Speaker: Karthikeyan M | Target: 1:00</a:t>
            </a:r>
          </a:p>
          <a:p>
            <a:pPr/>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pPr/>
          </a:p>
          <a:p>
            <a:pPr/>
            <a:r>
              <a:t>[Sources]</a:t>
            </a:r>
          </a:p>
          <a:p>
            <a:pPr/>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Speaker: Karthikeyan M | Target: 1:00</a:t>
            </a:r>
          </a:p>
          <a:p>
            <a:pPr/>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pPr/>
          </a:p>
          <a:p>
            <a:pPr/>
            <a:r>
              <a:t>[Sources]</a:t>
            </a:r>
          </a:p>
          <a:p>
            <a:pPr/>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Shape 277"/>
          <p:cNvSpPr/>
          <p:nvPr>
            <p:ph type="sldImg"/>
          </p:nvPr>
        </p:nvSpPr>
        <p:spPr>
          <a:prstGeom prst="rect">
            <a:avLst/>
          </a:prstGeom>
        </p:spPr>
        <p:txBody>
          <a:bodyPr/>
          <a:lstStyle/>
          <a:p>
            <a:pPr/>
          </a:p>
        </p:txBody>
      </p:sp>
      <p:sp>
        <p:nvSpPr>
          <p:cNvPr id="278" name="Shape 278"/>
          <p:cNvSpPr/>
          <p:nvPr>
            <p:ph type="body" sz="quarter" idx="1"/>
          </p:nvPr>
        </p:nvSpPr>
        <p:spPr>
          <a:prstGeom prst="rect">
            <a:avLst/>
          </a:prstGeom>
        </p:spPr>
        <p:txBody>
          <a:bodyPr/>
          <a:lstStyle/>
          <a:p>
            <a:pPr/>
            <a:r>
              <a:t>Speaker: Lakshmi Mayuri Kavya N | Target: 1:00</a:t>
            </a:r>
          </a:p>
          <a:p>
            <a:pPr/>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pPr/>
          </a:p>
          <a:p>
            <a:pPr/>
            <a:r>
              <a:t>[Sources]</a:t>
            </a:r>
          </a:p>
          <a:p>
            <a:pPr/>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Shape 296"/>
          <p:cNvSpPr/>
          <p:nvPr>
            <p:ph type="sldImg"/>
          </p:nvPr>
        </p:nvSpPr>
        <p:spPr>
          <a:prstGeom prst="rect">
            <a:avLst/>
          </a:prstGeom>
        </p:spPr>
        <p:txBody>
          <a:bodyPr/>
          <a:lstStyle/>
          <a:p>
            <a:pPr/>
          </a:p>
        </p:txBody>
      </p:sp>
      <p:sp>
        <p:nvSpPr>
          <p:cNvPr id="297" name="Shape 297"/>
          <p:cNvSpPr/>
          <p:nvPr>
            <p:ph type="body" sz="quarter" idx="1"/>
          </p:nvPr>
        </p:nvSpPr>
        <p:spPr>
          <a:prstGeom prst="rect">
            <a:avLst/>
          </a:prstGeom>
        </p:spPr>
        <p:txBody>
          <a:bodyPr/>
          <a:lstStyle/>
          <a:p>
            <a:pPr/>
            <a:r>
              <a:t>Speaker: Lakshmi Mayuri Kavya N | Target: 0:55</a:t>
            </a:r>
          </a:p>
          <a:p>
            <a:pPr/>
            <a:r>
              <a:t>Resolve the opening question directly. The dataset shows diversification, but technology gains and crisis co-movement make it thinner than the surface suggests. Finish with the boundary: this is descriptive evidence, not causal proof or a forecast.</a:t>
            </a:r>
          </a:p>
          <a:p>
            <a:pPr/>
          </a:p>
          <a:p>
            <a:pPr/>
            <a:r>
              <a:t>[Sources]</a:t>
            </a:r>
          </a:p>
          <a:p>
            <a:pPr/>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Speaker: Lakshmi Mayuri Kavya N | Target: 0:50</a:t>
            </a:r>
          </a:p>
          <a:p>
            <a:pPr/>
            <a:r>
              <a:t>Describe the dashboard as the next analytical interface, not just a prettier report. The filters should let users change the group and period while retaining the same return, correlation, and volatility definitions.</a:t>
            </a:r>
          </a:p>
          <a:p>
            <a:pPr/>
          </a:p>
          <a:p>
            <a:pPr/>
            <a:r>
              <a:t>[Sources]</a:t>
            </a:r>
          </a:p>
          <a:p>
            <a:pPr/>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499553" y="2545644"/>
            <a:ext cx="9256894" cy="2065871"/>
          </a:xfrm>
          <a:prstGeom prst="rect">
            <a:avLst/>
          </a:prstGeom>
        </p:spPr>
        <p:txBody>
          <a:bodyPr anchor="b"/>
          <a:lstStyle/>
          <a:p>
            <a:pPr/>
            <a:r>
              <a:t>Title Text</a:t>
            </a:r>
          </a:p>
        </p:txBody>
      </p:sp>
      <p:sp>
        <p:nvSpPr>
          <p:cNvPr id="12" name="Body Level One…"/>
          <p:cNvSpPr txBox="1"/>
          <p:nvPr>
            <p:ph type="body" sz="quarter" idx="1"/>
          </p:nvPr>
        </p:nvSpPr>
        <p:spPr>
          <a:xfrm>
            <a:off x="3499553" y="4667953"/>
            <a:ext cx="9256894" cy="7055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half" idx="21"/>
          </p:nvPr>
        </p:nvSpPr>
        <p:spPr>
          <a:xfrm>
            <a:off x="4098652" y="1349022"/>
            <a:ext cx="8060268" cy="5373512"/>
          </a:xfrm>
          <a:prstGeom prst="rect">
            <a:avLst/>
          </a:prstGeom>
        </p:spPr>
        <p:txBody>
          <a:bodyPr lIns="91439" tIns="45719" rIns="91439" bIns="45719">
            <a:noAutofit/>
          </a:bodyPr>
          <a:lstStyle/>
          <a:p>
            <a:pPr/>
          </a:p>
        </p:txBody>
      </p:sp>
      <p:sp>
        <p:nvSpPr>
          <p:cNvPr id="21" name="Title Text"/>
          <p:cNvSpPr txBox="1"/>
          <p:nvPr>
            <p:ph type="title"/>
          </p:nvPr>
        </p:nvSpPr>
        <p:spPr>
          <a:xfrm>
            <a:off x="2991554" y="5751688"/>
            <a:ext cx="10272894" cy="891827"/>
          </a:xfrm>
          <a:prstGeom prst="rect">
            <a:avLst/>
          </a:prstGeom>
        </p:spPr>
        <p:txBody>
          <a:bodyPr anchor="b"/>
          <a:lstStyle/>
          <a:p>
            <a:pPr/>
            <a:r>
              <a:t>Title Text</a:t>
            </a:r>
          </a:p>
        </p:txBody>
      </p:sp>
      <p:sp>
        <p:nvSpPr>
          <p:cNvPr id="22" name="Body Level One…"/>
          <p:cNvSpPr txBox="1"/>
          <p:nvPr>
            <p:ph type="body" sz="quarter" idx="1"/>
          </p:nvPr>
        </p:nvSpPr>
        <p:spPr>
          <a:xfrm>
            <a:off x="2991554" y="6609643"/>
            <a:ext cx="10272894" cy="7055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3499553" y="3539066"/>
            <a:ext cx="9256894" cy="2065871"/>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8410222" y="1947333"/>
            <a:ext cx="5096937" cy="5096934"/>
          </a:xfrm>
          <a:prstGeom prst="rect">
            <a:avLst/>
          </a:prstGeom>
        </p:spPr>
        <p:txBody>
          <a:bodyPr lIns="91439" tIns="45719" rIns="91439" bIns="45719">
            <a:noAutofit/>
          </a:bodyPr>
          <a:lstStyle/>
          <a:p>
            <a:pPr/>
          </a:p>
        </p:txBody>
      </p:sp>
      <p:sp>
        <p:nvSpPr>
          <p:cNvPr id="39" name="Title Text"/>
          <p:cNvSpPr txBox="1"/>
          <p:nvPr>
            <p:ph type="title"/>
          </p:nvPr>
        </p:nvSpPr>
        <p:spPr>
          <a:xfrm>
            <a:off x="3443108" y="1947333"/>
            <a:ext cx="4543782" cy="2466626"/>
          </a:xfrm>
          <a:prstGeom prst="rect">
            <a:avLst/>
          </a:prstGeom>
        </p:spPr>
        <p:txBody>
          <a:bodyPr anchor="b"/>
          <a:lstStyle>
            <a:lvl1pPr>
              <a:defRPr sz="5600"/>
            </a:lvl1pPr>
          </a:lstStyle>
          <a:p>
            <a:pPr/>
            <a:r>
              <a:t>Title Text</a:t>
            </a:r>
          </a:p>
        </p:txBody>
      </p:sp>
      <p:sp>
        <p:nvSpPr>
          <p:cNvPr id="40" name="Body Level One…"/>
          <p:cNvSpPr txBox="1"/>
          <p:nvPr>
            <p:ph type="body" sz="quarter" idx="1"/>
          </p:nvPr>
        </p:nvSpPr>
        <p:spPr>
          <a:xfrm>
            <a:off x="3443108" y="4425243"/>
            <a:ext cx="4543782" cy="254564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7580486" y="2923819"/>
            <a:ext cx="6197606" cy="4131738"/>
          </a:xfrm>
          <a:prstGeom prst="rect">
            <a:avLst/>
          </a:prstGeom>
        </p:spPr>
        <p:txBody>
          <a:bodyPr lIns="91439" tIns="45719" rIns="91439" bIns="45719">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9509476" y="4656666"/>
            <a:ext cx="3699938" cy="2466627"/>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9714086" y="1907819"/>
            <a:ext cx="3290716" cy="3290717"/>
          </a:xfrm>
          <a:prstGeom prst="rect">
            <a:avLst/>
          </a:prstGeom>
        </p:spPr>
        <p:txBody>
          <a:bodyPr lIns="91439" tIns="45719" rIns="91439" bIns="45719">
            <a:noAutofit/>
          </a:bodyPr>
          <a:lstStyle/>
          <a:p>
            <a:pPr/>
          </a:p>
        </p:txBody>
      </p:sp>
      <p:sp>
        <p:nvSpPr>
          <p:cNvPr id="103" name="View of beach and sea from a grassy sand dune"/>
          <p:cNvSpPr/>
          <p:nvPr>
            <p:ph type="pic" sz="half" idx="23"/>
          </p:nvPr>
        </p:nvSpPr>
        <p:spPr>
          <a:xfrm>
            <a:off x="2269064" y="2026354"/>
            <a:ext cx="7645404" cy="5096937"/>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Body Level One…"/>
          <p:cNvSpPr txBox="1"/>
          <p:nvPr>
            <p:ph type="body" sz="quarter" idx="1"/>
          </p:nvPr>
        </p:nvSpPr>
        <p:spPr>
          <a:xfrm>
            <a:off x="3770488" y="5503333"/>
            <a:ext cx="8720668" cy="342847"/>
          </a:xfrm>
          <a:prstGeom prst="rect">
            <a:avLst/>
          </a:prstGeom>
        </p:spPr>
        <p:txBody>
          <a:bodyPr/>
          <a:lstStyle>
            <a:lvl1pPr>
              <a:defRPr i="1" sz="2000"/>
            </a:lvl1pPr>
            <a:lvl2pPr>
              <a:defRPr i="1" sz="2000"/>
            </a:lvl2pPr>
            <a:lvl3pPr>
              <a:defRPr i="1" sz="2000"/>
            </a:lvl3pPr>
            <a:lvl4pPr>
              <a:defRPr i="1" sz="2000"/>
            </a:lvl4pPr>
            <a:lvl5pPr>
              <a:defRPr i="1" sz="2000"/>
            </a:lvl5pPr>
          </a:lstStyle>
          <a:p>
            <a:pPr/>
            <a:r>
              <a:t>Body Level One</a:t>
            </a:r>
          </a:p>
          <a:p>
            <a:pPr lvl="1"/>
            <a:r>
              <a:t>Body Level Two</a:t>
            </a:r>
          </a:p>
          <a:p>
            <a:pPr lvl="2"/>
            <a:r>
              <a:t>Body Level Three</a:t>
            </a:r>
          </a:p>
          <a:p>
            <a:pPr lvl="3"/>
            <a:r>
              <a:t>Body Level Four</a:t>
            </a:r>
          </a:p>
          <a:p>
            <a:pPr lvl="4"/>
            <a:r>
              <a:t>Body Level Five</a:t>
            </a:r>
          </a:p>
        </p:txBody>
      </p:sp>
      <p:sp>
        <p:nvSpPr>
          <p:cNvPr id="112" name="“Type a quote here.”"/>
          <p:cNvSpPr txBox="1"/>
          <p:nvPr>
            <p:ph type="body" sz="quarter" idx="21"/>
          </p:nvPr>
        </p:nvSpPr>
        <p:spPr>
          <a:xfrm>
            <a:off x="3770488" y="4143976"/>
            <a:ext cx="8720668" cy="528671"/>
          </a:xfrm>
          <a:prstGeom prst="rect">
            <a:avLst/>
          </a:prstGeom>
        </p:spPr>
        <p:txBody>
          <a:bodyPr anchor="ctr"/>
          <a:lstStyle/>
          <a:p>
            <a:pP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2686754" y="959554"/>
            <a:ext cx="10882494" cy="7254996"/>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normAutofit fontScale="100000" lnSpcReduction="0"/>
          </a:bodyPr>
          <a:lstStyle/>
          <a:p>
            <a:pPr/>
            <a:r>
              <a:t>Title Text</a:t>
            </a:r>
          </a:p>
        </p:txBody>
      </p:sp>
      <p:sp>
        <p:nvSpPr>
          <p:cNvPr id="3" name="Body Level One…"/>
          <p:cNvSpPr txBox="1"/>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pPr/>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pPr/>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pPr/>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pPr/>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pPr/>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pPr/>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pPr/>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pPr/>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pPr/>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2006-01-02 → 2026-02-20</a:t>
            </a:r>
          </a:p>
        </p:txBody>
      </p:sp>
      <p:graphicFrame>
        <p:nvGraphicFramePr>
          <p:cNvPr id="165" name="Table 1"/>
          <p:cNvGraphicFramePr/>
          <p:nvPr/>
        </p:nvGraphicFramePr>
        <p:xfrm>
          <a:off x="914400" y="3149600"/>
          <a:ext cx="14427200" cy="401320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048000"/>
                <a:gridCol w="2667000"/>
                <a:gridCol w="2667000"/>
                <a:gridCol w="2997200"/>
                <a:gridCol w="3048000"/>
              </a:tblGrid>
              <a:tr h="1003300">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solidFill>
                      <a:srgbClr val="FFFFFF"/>
                    </a:solidFill>
                  </a:tcPr>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AAPL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258.97</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264.58</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4,20,44,900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005930.KS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1,90,000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1,90,100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2,42,13,880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MC.PA</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541.40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554.70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9,29,807</a:t>
                      </a:r>
                    </a:p>
                  </a:txBody>
                  <a:tcPr marL="50800" marR="50800" marT="50800" marB="50800" anchor="ctr" anchorCtr="0" horzOverflow="overflow"/>
                </a:tc>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D06F21"/>
                </a:solidFill>
                <a:latin typeface="Avenir Next Medium"/>
                <a:ea typeface="Avenir Next Medium"/>
                <a:cs typeface="Avenir Next Medium"/>
                <a:sym typeface="Avenir Next Medium"/>
              </a:defRPr>
            </a:lvl1pPr>
          </a:lstStyle>
          <a:p>
            <a:pPr/>
            <a:r>
              <a:t>Returns and index-to-100 values make currencies and price scales comparable.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SETUP</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3</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Three hypotheses guide the analysis</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Each hypothesis tests one part of the same diversification question.</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SETUP</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3</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pPr/>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H1 · AI-rally concentration</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The selected chip/AI group will outperform the selected broader-tech group during the AI rally.</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pPr/>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H2 · Regional diversification during crises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Average regional correlations will be higher in crisis periods than in calm years.</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pPr/>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H3 · Volatility and volume during panic periods</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pPr/>
            <a:r>
              <a:t>Volatility and trading volume will rise during panic periods relative to the calm baseline.</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pPr/>
            <a:r>
              <a:t>Together, H1 tests concentration; H2 and H3 test whether diversification weakens under stress.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SETUP</a:t>
            </a:r>
          </a:p>
        </p:txBody>
      </p:sp>
      <p:sp>
        <p:nvSpPr>
          <p:cNvPr id="189" name="14"/>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4</a:t>
            </a:r>
          </a:p>
        </p:txBody>
      </p:sp>
      <p:sp>
        <p:nvSpPr>
          <p:cNvPr id="190" name="Definitions behind the headline results"/>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How we test the three hypotheses</a:t>
            </a:r>
          </a:p>
        </p:txBody>
      </p:sp>
      <p:sp>
        <p:nvSpPr>
          <p:cNvPr id="191" name="These choices keep each claim reproducible and appropriately narrow."/>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One technology comparison and three crisis measures, using adjusted prices.</a:t>
            </a:r>
          </a:p>
        </p:txBody>
      </p:sp>
      <p:sp>
        <p:nvSpPr>
          <p:cNvPr id="192"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pPr/>
            <a:r>
              <a:t>HISTORICAL STOCK ANALYSIS  /  HYPOTHESIS SETUP</a:t>
            </a:r>
          </a:p>
        </p:txBody>
      </p:sp>
      <p:sp>
        <p:nvSpPr>
          <p:cNvPr id="193"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4</a:t>
            </a:r>
          </a:p>
        </p:txBody>
      </p:sp>
      <p:sp>
        <p:nvSpPr>
          <p:cNvPr id="194" name="H1 GROUPS"/>
          <p:cNvSpPr txBox="1"/>
          <p:nvPr/>
        </p:nvSpPr>
        <p:spPr>
          <a:xfrm>
            <a:off x="914398" y="2593620"/>
            <a:ext cx="3302005"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pPr/>
            <a:r>
              <a:t>TECHNOLOGY GROUPS</a:t>
            </a:r>
          </a:p>
        </p:txBody>
      </p:sp>
      <p:sp>
        <p:nvSpPr>
          <p:cNvPr id="195" name="Chip / AI"/>
          <p:cNvSpPr txBox="1"/>
          <p:nvPr/>
        </p:nvSpPr>
        <p:spPr>
          <a:xfrm>
            <a:off x="914400" y="3095269"/>
            <a:ext cx="2667000" cy="438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Chip / AI</a:t>
            </a:r>
          </a:p>
        </p:txBody>
      </p:sp>
      <p:sp>
        <p:nvSpPr>
          <p:cNvPr id="196"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NVDA · AVGO · TSM · ASML · AMD · MU · LRCX</a:t>
            </a:r>
          </a:p>
        </p:txBody>
      </p:sp>
      <p:sp>
        <p:nvSpPr>
          <p:cNvPr id="197"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Broader tech</a:t>
            </a:r>
          </a:p>
        </p:txBody>
      </p:sp>
      <p:sp>
        <p:nvSpPr>
          <p:cNvPr id="198"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pPr/>
            <a:r>
              <a:t>AAPL · MSFT · GOOGL · AMZN · META · NFLX · ORCL · CSCO</a:t>
            </a:r>
          </a:p>
        </p:txBody>
      </p:sp>
      <p:sp>
        <p:nvSpPr>
          <p:cNvPr id="199"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Indexed value = 100 × Adj Close / starting Adj Close</a:t>
            </a:r>
          </a:p>
        </p:txBody>
      </p:sp>
      <p:sp>
        <p:nvSpPr>
          <p:cNvPr id="200" name="H2 PERIODS"/>
          <p:cNvSpPr txBox="1"/>
          <p:nvPr/>
        </p:nvSpPr>
        <p:spPr>
          <a:xfrm>
            <a:off x="8407400" y="2593620"/>
            <a:ext cx="3048000" cy="299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pPr/>
            <a:r>
              <a:t>MARKET PERIODS</a:t>
            </a:r>
          </a:p>
        </p:txBody>
      </p:sp>
      <p:sp>
        <p:nvSpPr>
          <p:cNvPr id="201" name="Calm"/>
          <p:cNvSpPr txBox="1"/>
          <p:nvPr/>
        </p:nvSpPr>
        <p:spPr>
          <a:xfrm>
            <a:off x="8407399" y="2987320"/>
            <a:ext cx="3302003"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Calm baseline</a:t>
            </a:r>
          </a:p>
        </p:txBody>
      </p:sp>
      <p:sp>
        <p:nvSpPr>
          <p:cNvPr id="202" name="2015–2017"/>
          <p:cNvSpPr txBox="1"/>
          <p:nvPr/>
        </p:nvSpPr>
        <p:spPr>
          <a:xfrm>
            <a:off x="8407400" y="380012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2015–2017 · no major global shock</a:t>
            </a:r>
          </a:p>
        </p:txBody>
      </p:sp>
      <p:sp>
        <p:nvSpPr>
          <p:cNvPr id="203" name="2008 crisis"/>
          <p:cNvSpPr txBox="1"/>
          <p:nvPr/>
        </p:nvSpPr>
        <p:spPr>
          <a:xfrm>
            <a:off x="8407400" y="4003321"/>
            <a:ext cx="3302002"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2008 crisis</a:t>
            </a:r>
          </a:p>
        </p:txBody>
      </p:sp>
      <p:sp>
        <p:nvSpPr>
          <p:cNvPr id="204" name="calendar year 2008"/>
          <p:cNvSpPr txBox="1"/>
          <p:nvPr/>
        </p:nvSpPr>
        <p:spPr>
          <a:xfrm>
            <a:off x="8407400" y="481612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Housing collapse, mortgage losses, and a global banking shock</a:t>
            </a:r>
          </a:p>
        </p:txBody>
      </p:sp>
      <p:sp>
        <p:nvSpPr>
          <p:cNvPr id="205" name="2020 crash"/>
          <p:cNvSpPr txBox="1"/>
          <p:nvPr/>
        </p:nvSpPr>
        <p:spPr>
          <a:xfrm>
            <a:off x="8407400" y="5019321"/>
            <a:ext cx="3302002"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2020 crash</a:t>
            </a:r>
          </a:p>
        </p:txBody>
      </p:sp>
      <p:sp>
        <p:nvSpPr>
          <p:cNvPr id="206" name="February–April 2020"/>
          <p:cNvSpPr txBox="1"/>
          <p:nvPr/>
        </p:nvSpPr>
        <p:spPr>
          <a:xfrm>
            <a:off x="8407400" y="567337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Pandemic lockdowns triggered a sudden global selloff</a:t>
            </a:r>
          </a:p>
        </p:txBody>
      </p:sp>
      <p:sp>
        <p:nvSpPr>
          <p:cNvPr id="207" name="2022 drawdown"/>
          <p:cNvSpPr txBox="1"/>
          <p:nvPr/>
        </p:nvSpPr>
        <p:spPr>
          <a:xfrm>
            <a:off x="8407400" y="6035321"/>
            <a:ext cx="3556002" cy="426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pPr/>
            <a:r>
              <a:t>2022 drawdown</a:t>
            </a:r>
          </a:p>
        </p:txBody>
      </p:sp>
      <p:sp>
        <p:nvSpPr>
          <p:cNvPr id="208"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pPr/>
            <a:r>
              <a:t>Inflation and rapid rate hikes drove a slower drawdown</a:t>
            </a:r>
          </a:p>
        </p:txBody>
      </p:sp>
      <p:sp>
        <p:nvSpPr>
          <p:cNvPr id="209"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pPr/>
            <a:r>
              <a:t>Measures: correlation, volatility, and volume relative to calm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5</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5</a:t>
            </a:r>
          </a:p>
        </p:txBody>
      </p:sp>
      <p:pic>
        <p:nvPicPr>
          <p:cNvPr id="219" name="figure_a_ai_rally.png" descr="figure_a_ai_rally.png"/>
          <p:cNvPicPr>
            <a:picLocks noChangeAspect="1"/>
          </p:cNvPicPr>
          <p:nvPr/>
        </p:nvPicPr>
        <p:blipFill>
          <a:blip r:embed="rId3">
            <a:extLst/>
          </a:blip>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pPr/>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pPr/>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pPr/>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pPr/>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H1 is supported for these selected groups—not for every company linked to AI.</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6</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6</a:t>
            </a:r>
          </a:p>
        </p:txBody>
      </p:sp>
      <p:pic>
        <p:nvPicPr>
          <p:cNvPr id="237" name="ec1_f_widened_basket.png" descr="ec1_f_widened_basket.png"/>
          <p:cNvPicPr>
            <a:picLocks noChangeAspect="1"/>
          </p:cNvPicPr>
          <p:nvPr/>
        </p:nvPicPr>
        <p:blipFill>
          <a:blip r:embed="rId3">
            <a:extLst/>
          </a:blip>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pPr/>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pPr/>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pPr/>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pPr/>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Conclusion: H2 is strongly supported for 2020 and directionally supported for 2008.</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7</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7</a:t>
            </a:r>
          </a:p>
        </p:txBody>
      </p:sp>
      <p:pic>
        <p:nvPicPr>
          <p:cNvPr id="255" name="b2_monthly_absolute_return.png" descr="b2_monthly_absolute_return.png"/>
          <p:cNvPicPr>
            <a:picLocks noChangeAspect="1"/>
          </p:cNvPicPr>
          <p:nvPr/>
        </p:nvPicPr>
        <p:blipFill>
          <a:blip r:embed="rId3">
            <a:extLst/>
          </a:blip>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pPr/>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pPr/>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pPr/>
            <a:r>
              <a:t>Independent monthly aggregation reaches the same crisis conclusion.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8</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8</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pPr/>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pPr/>
            <a:r>
              <a:t>AFTER  ·  LOG</a:t>
            </a:r>
          </a:p>
        </p:txBody>
      </p:sp>
      <p:pic>
        <p:nvPicPr>
          <p:cNvPr id="272" name="ec1_a_before.png" descr="ec1_a_before.png"/>
          <p:cNvPicPr>
            <a:picLocks noChangeAspect="1"/>
          </p:cNvPicPr>
          <p:nvPr/>
        </p:nvPicPr>
        <p:blipFill>
          <a:blip r:embed="rId3">
            <a:extLst/>
          </a:blip>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extLst/>
          </a:blip>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pPr/>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pPr/>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pPr/>
            <a:r>
              <a:t>Principles applied: appropriate scale  ·  direct labels  ·  less non-data ink  ·  better pre-attentive separation</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9</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pPr/>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9</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pPr/>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pPr/>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pPr/>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pPr/>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pPr/>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pPr/>
            <a:r>
              <a:t>What we can claim: patterns in this dataset.  What we cannot claim: causality, forecasting, or a universal market law.</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pPr/>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pPr/>
            <a:r>
              <a:t>10</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pPr/>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pPr/>
            <a:r>
              <a:t>10</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pPr/>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pPr/>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pPr/>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pPr/>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pPr/>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pPr/>
            <a:r>
              <a:t>Success means the user can reproduce each headline and see where the evidence becomes uncertain.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upright="0">
        <a:spAutoFit/>
      </a:bodyPr>
      <a:lstStyle>
        <a:defPPr marL="0" marR="0" indent="0" algn="l" defTabSz="550332"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