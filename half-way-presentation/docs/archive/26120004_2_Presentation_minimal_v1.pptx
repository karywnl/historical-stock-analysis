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6256000" cy="9144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1pPr>
    <a:lvl2pPr marL="0" marR="0" indent="4572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2pPr>
    <a:lvl3pPr marL="0" marR="0" indent="9144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3pPr>
    <a:lvl4pPr marL="0" marR="0" indent="13716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4pPr>
    <a:lvl5pPr marL="0" marR="0" indent="18288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5pPr>
    <a:lvl6pPr marL="0" marR="0" indent="22860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6pPr>
    <a:lvl7pPr marL="0" marR="0" indent="27432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7pPr>
    <a:lvl8pPr marL="0" marR="0" indent="32004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8pPr>
    <a:lvl9pPr marL="0" marR="0" indent="365760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3175" cap="flat">
              <a:noFill/>
              <a:miter lim="400000"/>
            </a:ln>
          </a:right>
          <a:top>
            <a:ln w="12700" cap="flat">
              <a:noFill/>
              <a:miter lim="400000"/>
            </a:ln>
          </a:top>
          <a:bottom>
            <a:ln w="12700" cap="flat">
              <a:noFill/>
              <a:miter lim="400000"/>
            </a:ln>
          </a:bottom>
          <a:insideH>
            <a:ln w="12700" cap="flat">
              <a:noFill/>
              <a:miter lim="400000"/>
            </a:ln>
          </a:insideH>
          <a:insideV>
            <a:ln w="3175"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3175"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3175" cap="flat">
              <a:noFill/>
              <a:miter lim="400000"/>
            </a:ln>
          </a:bottom>
          <a:insideH>
            <a:ln w="3175"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3175" cap="flat">
              <a:solidFill>
                <a:srgbClr val="B8B8B8"/>
              </a:solidFill>
              <a:prstDash val="solid"/>
              <a:miter lim="400000"/>
            </a:ln>
          </a:left>
          <a:right>
            <a:ln w="3175" cap="flat">
              <a:solidFill>
                <a:srgbClr val="B8B8B8"/>
              </a:solidFill>
              <a:prstDash val="solid"/>
              <a:miter lim="400000"/>
            </a:ln>
          </a:right>
          <a:top>
            <a:ln w="3175" cap="flat">
              <a:solidFill>
                <a:srgbClr val="B8B8B8"/>
              </a:solidFill>
              <a:prstDash val="solid"/>
              <a:miter lim="400000"/>
            </a:ln>
          </a:top>
          <a:bottom>
            <a:ln w="3175" cap="flat">
              <a:solidFill>
                <a:srgbClr val="B8B8B8"/>
              </a:solidFill>
              <a:prstDash val="solid"/>
              <a:miter lim="400000"/>
            </a:ln>
          </a:bottom>
          <a:insideH>
            <a:ln w="3175" cap="flat">
              <a:solidFill>
                <a:srgbClr val="B8B8B8"/>
              </a:solidFill>
              <a:prstDash val="solid"/>
              <a:miter lim="400000"/>
            </a:ln>
          </a:insideH>
          <a:insideV>
            <a:ln w="3175"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Ref idx="minor">
          <a:srgbClr val="FFFFFF"/>
        </a:fontRef>
        <a:srgbClr val="FFFFFF"/>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3175" cap="flat">
              <a:solidFill>
                <a:srgbClr val="606060"/>
              </a:solidFill>
              <a:prstDash val="solid"/>
              <a:miter lim="400000"/>
            </a:ln>
          </a:left>
          <a:right>
            <a:ln w="3175" cap="flat">
              <a:solidFill>
                <a:srgbClr val="606060"/>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606060"/>
              </a:solidFill>
              <a:prstDash val="solid"/>
              <a:miter lim="400000"/>
            </a:ln>
          </a:insideH>
          <a:insideV>
            <a:ln w="3175"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3175" cap="flat">
              <a:solidFill>
                <a:srgbClr val="929292"/>
              </a:solidFill>
              <a:prstDash val="solid"/>
              <a:miter lim="400000"/>
            </a:ln>
          </a:left>
          <a:right>
            <a:ln w="3175" cap="flat">
              <a:solidFill>
                <a:srgbClr val="929292"/>
              </a:solidFill>
              <a:prstDash val="solid"/>
              <a:miter lim="400000"/>
            </a:ln>
          </a:right>
          <a:top>
            <a:ln w="3175" cap="flat">
              <a:solidFill>
                <a:srgbClr val="606060"/>
              </a:solidFill>
              <a:prstDash val="solid"/>
              <a:miter lim="400000"/>
            </a:ln>
          </a:top>
          <a:bottom>
            <a:ln w="3175" cap="flat">
              <a:solidFill>
                <a:srgbClr val="606060"/>
              </a:solidFill>
              <a:prstDash val="solid"/>
              <a:miter lim="400000"/>
            </a:ln>
          </a:bottom>
          <a:insideH>
            <a:ln w="3175" cap="flat">
              <a:solidFill>
                <a:srgbClr val="929292"/>
              </a:solidFill>
              <a:prstDash val="solid"/>
              <a:miter lim="400000"/>
            </a:ln>
          </a:insideH>
          <a:insideV>
            <a:ln w="3175"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3175" cap="flat">
              <a:solidFill>
                <a:srgbClr val="5D5D5D"/>
              </a:solidFill>
              <a:custDash>
                <a:ds d="200000" sp="200000"/>
              </a:custDash>
              <a:miter lim="400000"/>
            </a:ln>
          </a:left>
          <a:right>
            <a:ln w="3175" cap="flat">
              <a:solidFill>
                <a:srgbClr val="5D5D5D"/>
              </a:solidFill>
              <a:custDash>
                <a:ds d="200000" sp="200000"/>
              </a:custDash>
              <a:miter lim="400000"/>
            </a:ln>
          </a:right>
          <a:top>
            <a:ln w="3175" cap="flat">
              <a:solidFill>
                <a:srgbClr val="5D5D5D"/>
              </a:solidFill>
              <a:custDash>
                <a:ds d="200000" sp="200000"/>
              </a:custDash>
              <a:miter lim="400000"/>
            </a:ln>
          </a:top>
          <a:bottom>
            <a:ln w="3175" cap="flat">
              <a:solidFill>
                <a:srgbClr val="5D5D5D"/>
              </a:solidFill>
              <a:custDash>
                <a:ds d="200000" sp="200000"/>
              </a:custDash>
              <a:miter lim="400000"/>
            </a:ln>
          </a:bottom>
          <a:insideH>
            <a:ln w="3175" cap="flat">
              <a:solidFill>
                <a:srgbClr val="5D5D5D"/>
              </a:solidFill>
              <a:custDash>
                <a:ds d="200000" sp="200000"/>
              </a:custDash>
              <a:miter lim="400000"/>
            </a:ln>
          </a:insideH>
          <a:insideV>
            <a:ln w="3175"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3175" cap="flat">
              <a:solidFill>
                <a:srgbClr val="5D5D5D"/>
              </a:solidFill>
              <a:prstDash val="solid"/>
              <a:miter lim="400000"/>
            </a:ln>
          </a:left>
          <a:right>
            <a:ln w="3175" cap="flat">
              <a:solidFill>
                <a:srgbClr val="5D5D5D"/>
              </a:solidFill>
              <a:prstDash val="solid"/>
              <a:miter lim="400000"/>
            </a:ln>
          </a:right>
          <a:top>
            <a:ln w="3175" cap="flat">
              <a:solidFill>
                <a:srgbClr val="5D5D5D"/>
              </a:solidFill>
              <a:prstDash val="solid"/>
              <a:miter lim="400000"/>
            </a:ln>
          </a:top>
          <a:bottom>
            <a:ln w="3175" cap="flat">
              <a:solidFill>
                <a:srgbClr val="5D5D5D"/>
              </a:solidFill>
              <a:prstDash val="solid"/>
              <a:miter lim="400000"/>
            </a:ln>
          </a:bottom>
          <a:insideH>
            <a:ln w="3175" cap="flat">
              <a:solidFill>
                <a:srgbClr val="5D5D5D"/>
              </a:solidFill>
              <a:prstDash val="solid"/>
              <a:miter lim="400000"/>
            </a:ln>
          </a:insideH>
          <a:insideV>
            <a:ln w="3175"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3175" cap="flat">
              <a:solidFill>
                <a:srgbClr val="000000"/>
              </a:solidFill>
              <a:prstDash val="solid"/>
              <a:miter lim="400000"/>
            </a:ln>
          </a:top>
          <a:bottom>
            <a:ln w="12700" cap="flat">
              <a:noFill/>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3175" cap="flat">
              <a:solidFill>
                <a:srgbClr val="000000"/>
              </a:solidFill>
              <a:custDash>
                <a:ds d="200000" sp="200000"/>
              </a:custDash>
              <a:miter lim="400000"/>
            </a:ln>
          </a:left>
          <a:right>
            <a:ln w="3175" cap="flat">
              <a:solidFill>
                <a:srgbClr val="000000"/>
              </a:solidFill>
              <a:custDash>
                <a:ds d="200000" sp="200000"/>
              </a:custDash>
              <a:miter lim="400000"/>
            </a:ln>
          </a:right>
          <a:top>
            <a:ln w="12700" cap="flat">
              <a:noFill/>
              <a:miter lim="400000"/>
            </a:ln>
          </a:top>
          <a:bottom>
            <a:ln w="3175" cap="flat">
              <a:solidFill>
                <a:srgbClr val="000000"/>
              </a:solidFill>
              <a:prstDash val="solid"/>
              <a:miter lim="400000"/>
            </a:ln>
          </a:bottom>
          <a:insideH>
            <a:ln w="3175" cap="flat">
              <a:solidFill>
                <a:srgbClr val="000000"/>
              </a:solidFill>
              <a:custDash>
                <a:ds d="200000" sp="200000"/>
              </a:custDash>
              <a:miter lim="400000"/>
            </a:ln>
          </a:insideH>
          <a:insideV>
            <a:ln w="3175"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4" name="Shape 134"/>
          <p:cNvSpPr/>
          <p:nvPr>
            <p:ph type="sldImg"/>
          </p:nvPr>
        </p:nvSpPr>
        <p:spPr>
          <a:xfrm>
            <a:off x="1143000" y="685800"/>
            <a:ext cx="4572000" cy="3429000"/>
          </a:xfrm>
          <a:prstGeom prst="rect">
            <a:avLst/>
          </a:prstGeom>
        </p:spPr>
        <p:txBody>
          <a:bodyPr/>
          <a:lstStyle/>
          <a:p>
            <a:pPr/>
          </a:p>
        </p:txBody>
      </p:sp>
      <p:sp>
        <p:nvSpPr>
          <p:cNvPr id="135" name="Shape 1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Shape 142"/>
          <p:cNvSpPr/>
          <p:nvPr>
            <p:ph type="sldImg"/>
          </p:nvPr>
        </p:nvSpPr>
        <p:spPr>
          <a:prstGeom prst="rect">
            <a:avLst/>
          </a:prstGeom>
        </p:spPr>
        <p:txBody>
          <a:bodyPr/>
          <a:lstStyle/>
          <a:p>
            <a:pPr/>
          </a:p>
        </p:txBody>
      </p:sp>
      <p:sp>
        <p:nvSpPr>
          <p:cNvPr id="143" name="Shape 143"/>
          <p:cNvSpPr/>
          <p:nvPr>
            <p:ph type="body" sz="quarter" idx="1"/>
          </p:nvPr>
        </p:nvSpPr>
        <p:spPr>
          <a:prstGeom prst="rect">
            <a:avLst/>
          </a:prstGeom>
        </p:spPr>
        <p:txBody>
          <a:bodyPr/>
          <a:lstStyle/>
          <a:p>
            <a:pPr/>
            <a:r>
              <a:t>Open with the central tension: the dataset looks globally diversified, but the analysis asks whether that diversification survives closer inspection. Introduce the team and dataset in one breath.</a:t>
            </a:r>
          </a:p>
          <a:p>
            <a:pPr/>
          </a:p>
          <a:p>
            <a:pPr/>
            <a:r>
              <a:t>[Sources]</a:t>
            </a:r>
          </a:p>
          <a:p>
            <a:pPr/>
            <a:r>
              <a:t>data/stock_data.csv; project records in AGENTS.md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154"/>
          <p:cNvSpPr/>
          <p:nvPr>
            <p:ph type="sldImg"/>
          </p:nvPr>
        </p:nvSpPr>
        <p:spPr>
          <a:prstGeom prst="rect">
            <a:avLst/>
          </a:prstGeom>
        </p:spPr>
        <p:txBody>
          <a:bodyPr/>
          <a:lstStyle/>
          <a:p>
            <a:pPr/>
          </a:p>
        </p:txBody>
      </p:sp>
      <p:sp>
        <p:nvSpPr>
          <p:cNvPr id="155" name="Shape 155"/>
          <p:cNvSpPr/>
          <p:nvPr>
            <p:ph type="body" sz="quarter" idx="1"/>
          </p:nvPr>
        </p:nvSpPr>
        <p:spPr>
          <a:prstGeom prst="rect">
            <a:avLst/>
          </a:prstGeom>
        </p:spPr>
        <p:txBody>
          <a:bodyPr/>
          <a:lstStyle/>
          <a:p>
            <a:pPr/>
            <a:r>
              <a:t>Present the three hypotheses as one connected story, not three separate projects. H1 tests concentration within technology. H2 and H3 test concentration during crisis periods.</a:t>
            </a:r>
          </a:p>
          <a:p>
            <a:pPr/>
          </a:p>
          <a:p>
            <a:pPr/>
            <a:r>
              <a:t>[Sources]</a:t>
            </a:r>
          </a:p>
          <a:p>
            <a:pPr/>
            <a:r>
              <a:t>assignment_3/docs/submissions/26120004_Team2_Assignment3.docx</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Shape 166"/>
          <p:cNvSpPr/>
          <p:nvPr>
            <p:ph type="sldImg"/>
          </p:nvPr>
        </p:nvSpPr>
        <p:spPr>
          <a:prstGeom prst="rect">
            <a:avLst/>
          </a:prstGeom>
        </p:spPr>
        <p:txBody>
          <a:bodyPr/>
          <a:lstStyle/>
          <a:p>
            <a:pPr/>
          </a:p>
        </p:txBody>
      </p:sp>
      <p:sp>
        <p:nvSpPr>
          <p:cNvPr id="167" name="Shape 167"/>
          <p:cNvSpPr/>
          <p:nvPr>
            <p:ph type="body" sz="quarter" idx="1"/>
          </p:nvPr>
        </p:nvSpPr>
        <p:spPr>
          <a:prstGeom prst="rect">
            <a:avLst/>
          </a:prstGeom>
        </p:spPr>
        <p:txBody>
          <a:bodyPr/>
          <a:lstStyle/>
          <a:p>
            <a:pPr/>
            <a:r>
              <a:t>Preis and colleagues show that diversification can weaken under stress. Morningstar supports the narrow rally argument, while J.P. Morgan shows that the result changes when AI is defined more broadly. That disagreement is why the deck states the selected groups explicitly.</a:t>
            </a:r>
          </a:p>
          <a:p>
            <a:pPr/>
          </a:p>
          <a:p>
            <a:pPr/>
            <a:r>
              <a:t>[Sources]</a:t>
            </a:r>
          </a:p>
          <a:p>
            <a:pPr/>
            <a:r>
              <a:t>https://www.nature.com/articles/srep00752</a:t>
            </a:r>
          </a:p>
          <a:p>
            <a:pPr/>
            <a:r>
              <a:t>https://www.morningstar.com/stocks/three-years-ai-stock-market-boom-charts</a:t>
            </a:r>
          </a:p>
          <a:p>
            <a:pPr/>
            <a:r>
              <a:t>https://www.jpmorgan.com/insights/markets-and-economy/top-market-takeaways/tmt-is-it-all-one-big-ai-trade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Shape 181"/>
          <p:cNvSpPr/>
          <p:nvPr>
            <p:ph type="sldImg"/>
          </p:nvPr>
        </p:nvSpPr>
        <p:spPr>
          <a:prstGeom prst="rect">
            <a:avLst/>
          </a:prstGeom>
        </p:spPr>
        <p:txBody>
          <a:bodyPr/>
          <a:lstStyle/>
          <a:p>
            <a:pPr/>
          </a:p>
        </p:txBody>
      </p:sp>
      <p:sp>
        <p:nvSpPr>
          <p:cNvPr id="182" name="Shape 182"/>
          <p:cNvSpPr/>
          <p:nvPr>
            <p:ph type="body" sz="quarter" idx="1"/>
          </p:nvPr>
        </p:nvSpPr>
        <p:spPr>
          <a:prstGeom prst="rect">
            <a:avLst/>
          </a:prstGeom>
        </p:spPr>
        <p:txBody>
          <a:bodyPr/>
          <a:lstStyle/>
          <a:p>
            <a:pPr/>
            <a:r>
              <a:t>The same 230,111 rows were explored in Python and then replicated and reshaped in R. This gives the analysis a useful consistency check rather than two unrelated workflows.</a:t>
            </a:r>
          </a:p>
          <a:p>
            <a:pPr/>
          </a:p>
          <a:p>
            <a:pPr/>
            <a:r>
              <a:t>[Sources]</a:t>
            </a:r>
          </a:p>
          <a:p>
            <a:pPr/>
            <a:r>
              <a:t>data/stock_data.csv; assignment_2/analysis.ipynb; assignment_4/analysis.R; assignment_5/part_2/analysis.R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a:r>
              <a:t>Do not dwell on every data-cleaning step. Explain the consequence: raw prices would be misleading across currencies, and regional evidence is limited by the number of stocks available.</a:t>
            </a:r>
          </a:p>
          <a:p>
            <a:pPr/>
          </a:p>
          <a:p>
            <a:pPr/>
            <a:r>
              <a:t>[Sources]</a:t>
            </a:r>
          </a:p>
          <a:p>
            <a:pPr/>
            <a:r>
              <a:t>data/stock_data.csv; assignment_4/analysis.R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Shape 206"/>
          <p:cNvSpPr/>
          <p:nvPr>
            <p:ph type="sldImg"/>
          </p:nvPr>
        </p:nvSpPr>
        <p:spPr>
          <a:prstGeom prst="rect">
            <a:avLst/>
          </a:prstGeom>
        </p:spPr>
        <p:txBody>
          <a:bodyPr/>
          <a:lstStyle/>
          <a:p>
            <a:pPr/>
          </a:p>
        </p:txBody>
      </p:sp>
      <p:sp>
        <p:nvSpPr>
          <p:cNvPr id="207" name="Shape 207"/>
          <p:cNvSpPr/>
          <p:nvPr>
            <p:ph type="body" sz="quarter" idx="1"/>
          </p:nvPr>
        </p:nvSpPr>
        <p:spPr>
          <a:prstGeom prst="rect">
            <a:avLst/>
          </a:prstGeom>
        </p:spPr>
        <p:txBody>
          <a:bodyPr/>
          <a:lstStyle/>
          <a:p>
            <a:pPr/>
            <a:r>
              <a:t>Both groups begin at 100 on 3 January 2023. The selected chip and AI basket ends near 649, while the selected broader-tech basket ends near 268. The statistical check also found 0.26% versus 0.14% mean daily return, with p = 0.0073. Keep saying selected groups.</a:t>
            </a:r>
          </a:p>
          <a:p>
            <a:pPr/>
          </a:p>
          <a:p>
            <a:pPr/>
            <a:r>
              <a:t>[Sources]</a:t>
            </a:r>
          </a:p>
          <a:p>
            <a:pPr/>
            <a:r>
              <a:t>data/stock_data.csv; assignment_3/analysis.ipynb; extra_credit_1/analysis.ipynb</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hape 216"/>
          <p:cNvSpPr/>
          <p:nvPr>
            <p:ph type="sldImg"/>
          </p:nvPr>
        </p:nvSpPr>
        <p:spPr>
          <a:prstGeom prst="rect">
            <a:avLst/>
          </a:prstGeom>
        </p:spPr>
        <p:txBody>
          <a:bodyPr/>
          <a:lstStyle/>
          <a:p>
            <a:pPr/>
          </a:p>
        </p:txBody>
      </p:sp>
      <p:sp>
        <p:nvSpPr>
          <p:cNvPr id="217" name="Shape 217"/>
          <p:cNvSpPr/>
          <p:nvPr>
            <p:ph type="body" sz="quarter" idx="1"/>
          </p:nvPr>
        </p:nvSpPr>
        <p:spPr>
          <a:prstGeom prst="rect">
            <a:avLst/>
          </a:prstGeom>
        </p:spPr>
        <p:txBody>
          <a:bodyPr/>
          <a:lstStyle/>
          <a:p>
            <a:pPr/>
            <a:r>
              <a:t>Widening the baskets makes 2008 more distinct from calm years, but 2020 remains the clearest case of regional co-movement. Be honest that Paris still has one stock, while Korea and Switzerland remain sector-narrow.</a:t>
            </a:r>
          </a:p>
          <a:p>
            <a:pPr/>
          </a:p>
          <a:p>
            <a:pPr/>
            <a:r>
              <a:t>[Sources]</a:t>
            </a:r>
          </a:p>
          <a:p>
            <a:pPr/>
            <a:r>
              <a:t>data/stock_data.csv; extra_credit_1/analysis.ipynb</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Shape 223"/>
          <p:cNvSpPr/>
          <p:nvPr>
            <p:ph type="sldImg"/>
          </p:nvPr>
        </p:nvSpPr>
        <p:spPr>
          <a:prstGeom prst="rect">
            <a:avLst/>
          </a:prstGeom>
        </p:spPr>
        <p:txBody>
          <a:bodyPr/>
          <a:lstStyle/>
          <a:p>
            <a:pPr/>
          </a:p>
        </p:txBody>
      </p:sp>
      <p:sp>
        <p:nvSpPr>
          <p:cNvPr id="224" name="Shape 224"/>
          <p:cNvSpPr/>
          <p:nvPr>
            <p:ph type="body" sz="quarter" idx="1"/>
          </p:nvPr>
        </p:nvSpPr>
        <p:spPr>
          <a:prstGeom prst="rect">
            <a:avLst/>
          </a:prstGeom>
        </p:spPr>
        <p:txBody>
          <a:bodyPr/>
          <a:lstStyle/>
          <a:p>
            <a:pPr/>
            <a:r>
              <a:t>This R-based monthly view independently confirms the same two panic periods. October 2008 has 4.82% mean absolute daily return and March 2020 has 4.67%, equal-weighted across available tickers.</a:t>
            </a:r>
          </a:p>
          <a:p>
            <a:pPr/>
          </a:p>
          <a:p>
            <a:pPr/>
            <a:r>
              <a:t>[Sources]</a:t>
            </a:r>
          </a:p>
          <a:p>
            <a:pPr/>
            <a:r>
              <a:t>data/stock_data.csv; assignment_5/part_2/analysis.R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6" name="Shape 236"/>
          <p:cNvSpPr/>
          <p:nvPr>
            <p:ph type="sldImg"/>
          </p:nvPr>
        </p:nvSpPr>
        <p:spPr>
          <a:prstGeom prst="rect">
            <a:avLst/>
          </a:prstGeom>
        </p:spPr>
        <p:txBody>
          <a:bodyPr/>
          <a:lstStyle/>
          <a:p>
            <a:pPr/>
          </a:p>
        </p:txBody>
      </p:sp>
      <p:sp>
        <p:nvSpPr>
          <p:cNvPr id="237" name="Shape 237"/>
          <p:cNvSpPr/>
          <p:nvPr>
            <p:ph type="body" sz="quarter" idx="1"/>
          </p:nvPr>
        </p:nvSpPr>
        <p:spPr>
          <a:prstGeom prst="rect">
            <a:avLst/>
          </a:prstGeom>
        </p:spPr>
        <p:txBody>
          <a:bodyPr/>
          <a:lstStyle/>
          <a:p>
            <a:pPr/>
            <a:r>
              <a:t>Name the principles. The linear chart emphasizes absolute distance even though the question is proportional growth. The log scale makes equal vertical distance mean equal percentage change. The redesign also separates direct labels and removes unnecessary borders.</a:t>
            </a:r>
          </a:p>
          <a:p>
            <a:pPr/>
          </a:p>
          <a:p>
            <a:pPr/>
            <a:r>
              <a:t>[Sources]</a:t>
            </a:r>
          </a:p>
          <a:p>
            <a:pPr/>
            <a:r>
              <a:t>extra_credit_1/analysis.ipynb; assignment_2/analysis.ipynb</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246"/>
          <p:cNvSpPr/>
          <p:nvPr>
            <p:ph type="sldImg"/>
          </p:nvPr>
        </p:nvSpPr>
        <p:spPr>
          <a:prstGeom prst="rect">
            <a:avLst/>
          </a:prstGeom>
        </p:spPr>
        <p:txBody>
          <a:bodyPr/>
          <a:lstStyle/>
          <a:p>
            <a:pPr/>
          </a:p>
        </p:txBody>
      </p:sp>
      <p:sp>
        <p:nvSpPr>
          <p:cNvPr id="247" name="Shape 247"/>
          <p:cNvSpPr/>
          <p:nvPr>
            <p:ph type="body" sz="quarter" idx="1"/>
          </p:nvPr>
        </p:nvSpPr>
        <p:spPr>
          <a:prstGeom prst="rect">
            <a:avLst/>
          </a:prstGeom>
        </p:spPr>
        <p:txBody>
          <a:bodyPr/>
          <a:lstStyle/>
          <a:p>
            <a:pPr/>
            <a:r>
              <a:t>Close by resolving the opening question. The evidence suggests diversification is conditional, not absent. The next deliverable should let an audience explore those conditions through group, region, and period filters. End here rather than with a generic thank-you slide.</a:t>
            </a:r>
          </a:p>
          <a:p>
            <a:pPr/>
          </a:p>
          <a:p>
            <a:pPr/>
            <a:r>
              <a:t>[Sources]</a:t>
            </a:r>
          </a:p>
          <a:p>
            <a:pPr/>
            <a:r>
              <a:t>assignment_5/part_2/analysis.R; half-way-presentation/PRESENTATION_PLAN.md</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prstGeom prst="rect">
            <a:avLst/>
          </a:prstGeom>
        </p:spPr>
        <p:txBody>
          <a:bodyPr/>
          <a:lstStyle/>
          <a:p>
            <a:pPr/>
            <a:r>
              <a:t>Title Text</a:t>
            </a:r>
          </a:p>
        </p:txBody>
      </p:sp>
      <p:sp>
        <p:nvSpPr>
          <p:cNvPr id="12" name="Body Level One…"/>
          <p:cNvSpPr txBox="1"/>
          <p:nvPr>
            <p:ph type="body" sz="quarter"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View of beach and sea from a grassy sand dune"/>
          <p:cNvSpPr/>
          <p:nvPr>
            <p:ph type="pic" sz="half" idx="21"/>
          </p:nvPr>
        </p:nvSpPr>
        <p:spPr>
          <a:xfrm>
            <a:off x="4098652" y="1349022"/>
            <a:ext cx="8060268" cy="5373512"/>
          </a:xfrm>
          <a:prstGeom prst="rect">
            <a:avLst/>
          </a:prstGeom>
        </p:spPr>
        <p:txBody>
          <a:bodyPr lIns="91439" tIns="45719" rIns="91439" bIns="45719">
            <a:noAutofit/>
          </a:bodyPr>
          <a:lstStyle/>
          <a:p>
            <a:pPr/>
          </a:p>
        </p:txBody>
      </p:sp>
      <p:sp>
        <p:nvSpPr>
          <p:cNvPr id="21" name="Title Text"/>
          <p:cNvSpPr txBox="1"/>
          <p:nvPr>
            <p:ph type="title"/>
          </p:nvPr>
        </p:nvSpPr>
        <p:spPr>
          <a:xfrm>
            <a:off x="2991555" y="5751688"/>
            <a:ext cx="10272890" cy="891824"/>
          </a:xfrm>
          <a:prstGeom prst="rect">
            <a:avLst/>
          </a:prstGeom>
        </p:spPr>
        <p:txBody>
          <a:bodyPr/>
          <a:lstStyle/>
          <a:p>
            <a:pPr/>
            <a:r>
              <a:t>Title Text</a:t>
            </a:r>
          </a:p>
        </p:txBody>
      </p:sp>
      <p:sp>
        <p:nvSpPr>
          <p:cNvPr id="22" name="Body Level One…"/>
          <p:cNvSpPr txBox="1"/>
          <p:nvPr>
            <p:ph type="body" sz="quarter" idx="1"/>
          </p:nvPr>
        </p:nvSpPr>
        <p:spPr>
          <a:xfrm>
            <a:off x="2991555" y="6609644"/>
            <a:ext cx="10272890" cy="705557"/>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re">
    <p:spTree>
      <p:nvGrpSpPr>
        <p:cNvPr id="1" name=""/>
        <p:cNvGrpSpPr/>
        <p:nvPr/>
      </p:nvGrpSpPr>
      <p:grpSpPr>
        <a:xfrm>
          <a:off x="0" y="0"/>
          <a:ext cx="0" cy="0"/>
          <a:chOff x="0" y="0"/>
          <a:chExt cx="0" cy="0"/>
        </a:xfrm>
      </p:grpSpPr>
      <p:sp>
        <p:nvSpPr>
          <p:cNvPr id="30" name="Title Text"/>
          <p:cNvSpPr txBox="1"/>
          <p:nvPr>
            <p:ph type="title"/>
          </p:nvPr>
        </p:nvSpPr>
        <p:spPr>
          <a:xfrm>
            <a:off x="3499555" y="3539066"/>
            <a:ext cx="9256890" cy="2065868"/>
          </a:xfrm>
          <a:prstGeom prst="rect">
            <a:avLst/>
          </a:prstGeom>
        </p:spPr>
        <p:txBody>
          <a:bodyPr anchor="ct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Heron flying low over a beach with a short fence in the foreground"/>
          <p:cNvSpPr/>
          <p:nvPr>
            <p:ph type="pic" sz="quarter" idx="21"/>
          </p:nvPr>
        </p:nvSpPr>
        <p:spPr>
          <a:xfrm>
            <a:off x="8410222" y="1947333"/>
            <a:ext cx="5096934" cy="5096934"/>
          </a:xfrm>
          <a:prstGeom prst="rect">
            <a:avLst/>
          </a:prstGeom>
        </p:spPr>
        <p:txBody>
          <a:bodyPr lIns="91439" tIns="45719" rIns="91439" bIns="45719">
            <a:noAutofit/>
          </a:bodyPr>
          <a:lstStyle/>
          <a:p>
            <a:pPr/>
          </a:p>
        </p:txBody>
      </p:sp>
      <p:sp>
        <p:nvSpPr>
          <p:cNvPr id="39" name="Title Text"/>
          <p:cNvSpPr txBox="1"/>
          <p:nvPr>
            <p:ph type="title"/>
          </p:nvPr>
        </p:nvSpPr>
        <p:spPr>
          <a:xfrm>
            <a:off x="3443110" y="1947333"/>
            <a:ext cx="4543779" cy="2466623"/>
          </a:xfrm>
          <a:prstGeom prst="rect">
            <a:avLst/>
          </a:prstGeom>
        </p:spPr>
        <p:txBody>
          <a:bodyPr/>
          <a:lstStyle>
            <a:lvl1pPr>
              <a:defRPr sz="5600"/>
            </a:lvl1pPr>
          </a:lstStyle>
          <a:p>
            <a:pPr/>
            <a:r>
              <a:t>Title Text</a:t>
            </a:r>
          </a:p>
        </p:txBody>
      </p:sp>
      <p:sp>
        <p:nvSpPr>
          <p:cNvPr id="40" name="Body Level One…"/>
          <p:cNvSpPr txBox="1"/>
          <p:nvPr>
            <p:ph type="body" sz="quarter" idx="1"/>
          </p:nvPr>
        </p:nvSpPr>
        <p:spPr>
          <a:xfrm>
            <a:off x="3443110" y="4425244"/>
            <a:ext cx="4543779" cy="2545646"/>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xfrm>
            <a:off x="3460044" y="1682044"/>
            <a:ext cx="9335912" cy="1016001"/>
          </a:xfrm>
          <a:prstGeom prst="rect">
            <a:avLst/>
          </a:prstGeom>
        </p:spPr>
        <p:txBody>
          <a:bodyPr anchor="ct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xfrm>
            <a:off x="3460044" y="1682044"/>
            <a:ext cx="9335912" cy="1016001"/>
          </a:xfrm>
          <a:prstGeom prst="rect">
            <a:avLst/>
          </a:prstGeom>
        </p:spPr>
        <p:txBody>
          <a:bodyPr anchor="ctr"/>
          <a:lstStyle/>
          <a:p>
            <a:pPr/>
            <a:r>
              <a:t>Title Text</a:t>
            </a:r>
          </a:p>
        </p:txBody>
      </p:sp>
      <p:sp>
        <p:nvSpPr>
          <p:cNvPr id="57" name="Body Level One…"/>
          <p:cNvSpPr txBox="1"/>
          <p:nvPr>
            <p:ph type="body" sz="half" idx="1"/>
          </p:nvPr>
        </p:nvSpPr>
        <p:spPr>
          <a:xfrm>
            <a:off x="3460044" y="2923822"/>
            <a:ext cx="9335912" cy="4131734"/>
          </a:xfrm>
          <a:prstGeom prst="rect">
            <a:avLst/>
          </a:prstGeom>
        </p:spPr>
        <p:txBody>
          <a:bodyPr anchor="ctr"/>
          <a:lstStyle>
            <a:lvl1pPr marL="423333" indent="-423333" algn="l">
              <a:spcBef>
                <a:spcPts val="3900"/>
              </a:spcBef>
              <a:buSzPct val="125000"/>
              <a:buChar char="•"/>
              <a:defRPr sz="3200"/>
            </a:lvl1pPr>
            <a:lvl2pPr marL="1058333" indent="-423333" algn="l">
              <a:spcBef>
                <a:spcPts val="3900"/>
              </a:spcBef>
              <a:buSzPct val="125000"/>
              <a:buChar char="•"/>
              <a:defRPr sz="3200"/>
            </a:lvl2pPr>
            <a:lvl3pPr marL="1693333" indent="-423333"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Sandy path between two hills leading to the ocean"/>
          <p:cNvSpPr/>
          <p:nvPr>
            <p:ph type="pic" sz="quarter" idx="21"/>
          </p:nvPr>
        </p:nvSpPr>
        <p:spPr>
          <a:xfrm>
            <a:off x="7580488" y="2923822"/>
            <a:ext cx="6197602" cy="4131734"/>
          </a:xfrm>
          <a:prstGeom prst="rect">
            <a:avLst/>
          </a:prstGeom>
        </p:spPr>
        <p:txBody>
          <a:bodyPr lIns="91439" tIns="45719" rIns="91439" bIns="45719">
            <a:noAutofit/>
          </a:bodyPr>
          <a:lstStyle/>
          <a:p>
            <a:pPr/>
          </a:p>
        </p:txBody>
      </p:sp>
      <p:sp>
        <p:nvSpPr>
          <p:cNvPr id="66" name="Title Text"/>
          <p:cNvSpPr txBox="1"/>
          <p:nvPr>
            <p:ph type="title"/>
          </p:nvPr>
        </p:nvSpPr>
        <p:spPr>
          <a:xfrm>
            <a:off x="3460044" y="1682044"/>
            <a:ext cx="9335912" cy="1016001"/>
          </a:xfrm>
          <a:prstGeom prst="rect">
            <a:avLst/>
          </a:prstGeom>
        </p:spPr>
        <p:txBody>
          <a:bodyPr anchor="ctr"/>
          <a:lstStyle/>
          <a:p>
            <a:pPr/>
            <a:r>
              <a:t>Title Text</a:t>
            </a:r>
          </a:p>
        </p:txBody>
      </p:sp>
      <p:sp>
        <p:nvSpPr>
          <p:cNvPr id="67" name="Body Level One…"/>
          <p:cNvSpPr txBox="1"/>
          <p:nvPr>
            <p:ph type="body" sz="quarter" idx="1"/>
          </p:nvPr>
        </p:nvSpPr>
        <p:spPr>
          <a:xfrm>
            <a:off x="3460044" y="2923822"/>
            <a:ext cx="4543779" cy="4131734"/>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6" indent="-352926" algn="l">
              <a:spcBef>
                <a:spcPts val="3000"/>
              </a:spcBef>
              <a:buSzPct val="125000"/>
              <a:buChar char="•"/>
              <a:defRPr sz="2400"/>
            </a:lvl4pPr>
            <a:lvl5pPr marL="2588126" indent="-352926"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5" name="Title Text"/>
          <p:cNvSpPr txBox="1"/>
          <p:nvPr>
            <p:ph type="title"/>
          </p:nvPr>
        </p:nvSpPr>
        <p:spPr>
          <a:xfrm>
            <a:off x="3460044" y="1682044"/>
            <a:ext cx="9335912" cy="1016001"/>
          </a:xfrm>
          <a:prstGeom prst="rect">
            <a:avLst/>
          </a:prstGeom>
        </p:spPr>
        <p:txBody>
          <a:bodyPr anchor="ctr"/>
          <a:lstStyle/>
          <a:p>
            <a:pPr/>
            <a:r>
              <a:t>Title Text</a:t>
            </a:r>
          </a:p>
        </p:txBody>
      </p:sp>
      <p:sp>
        <p:nvSpPr>
          <p:cNvPr id="76" name="Body Level One…"/>
          <p:cNvSpPr txBox="1"/>
          <p:nvPr>
            <p:ph type="body" sz="quarter" idx="1"/>
          </p:nvPr>
        </p:nvSpPr>
        <p:spPr>
          <a:xfrm>
            <a:off x="3460044" y="2923822"/>
            <a:ext cx="4543779" cy="4131734"/>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6" indent="-352926" algn="l">
              <a:spcBef>
                <a:spcPts val="3000"/>
              </a:spcBef>
              <a:buSzPct val="125000"/>
              <a:buChar char="•"/>
              <a:defRPr sz="2400"/>
            </a:lvl4pPr>
            <a:lvl5pPr marL="2588126" indent="-352926"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4" name="Title Text"/>
          <p:cNvSpPr txBox="1"/>
          <p:nvPr>
            <p:ph type="title"/>
          </p:nvPr>
        </p:nvSpPr>
        <p:spPr>
          <a:xfrm>
            <a:off x="3460044" y="1682044"/>
            <a:ext cx="9335912" cy="1016001"/>
          </a:xfrm>
          <a:prstGeom prst="rect">
            <a:avLst/>
          </a:prstGeom>
        </p:spPr>
        <p:txBody>
          <a:bodyPr anchor="ctr"/>
          <a:lstStyle/>
          <a:p>
            <a:pPr/>
            <a:r>
              <a:t>Title Text</a:t>
            </a:r>
          </a:p>
        </p:txBody>
      </p:sp>
      <p:sp>
        <p:nvSpPr>
          <p:cNvPr id="85" name="Body Level One…"/>
          <p:cNvSpPr txBox="1"/>
          <p:nvPr>
            <p:ph type="body" sz="quarter" idx="1"/>
          </p:nvPr>
        </p:nvSpPr>
        <p:spPr>
          <a:xfrm>
            <a:off x="3460044" y="2923822"/>
            <a:ext cx="4543779" cy="4131734"/>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6" indent="-352926" algn="l">
              <a:spcBef>
                <a:spcPts val="3000"/>
              </a:spcBef>
              <a:buSzPct val="125000"/>
              <a:buChar char="•"/>
              <a:defRPr sz="2400"/>
            </a:lvl4pPr>
            <a:lvl5pPr marL="2588126" indent="-352926" algn="l">
              <a:spcBef>
                <a:spcPts val="3000"/>
              </a:spcBef>
              <a:buSzPct val="125000"/>
              <a:buChar char="•"/>
              <a:defRPr sz="2400"/>
            </a:lvl5pPr>
          </a:lstStyle>
          <a:p>
            <a:pPr/>
            <a:r>
              <a:t>Body Level One</a:t>
            </a:r>
          </a:p>
          <a:p>
            <a:pPr lvl="1"/>
            <a:r>
              <a:t>Body Level Two</a:t>
            </a:r>
          </a:p>
          <a:p>
            <a:pPr lvl="2"/>
            <a:r>
              <a:t>Body Level Three</a:t>
            </a:r>
          </a:p>
          <a:p>
            <a:pPr lvl="3"/>
            <a:r>
              <a:t>Body Level Four</a:t>
            </a:r>
          </a:p>
          <a:p>
            <a:pPr lvl="4"/>
            <a:r>
              <a:t>Body Level Five</a:t>
            </a: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93" name="Body Level One…"/>
          <p:cNvSpPr txBox="1"/>
          <p:nvPr>
            <p:ph type="body" sz="half" idx="1"/>
          </p:nvPr>
        </p:nvSpPr>
        <p:spPr>
          <a:xfrm>
            <a:off x="3460044" y="2314222"/>
            <a:ext cx="9335912" cy="4515556"/>
          </a:xfrm>
          <a:prstGeom prst="rect">
            <a:avLst/>
          </a:prstGeom>
        </p:spPr>
        <p:txBody>
          <a:bodyPr anchor="ctr"/>
          <a:lstStyle>
            <a:lvl1pPr marL="423333" indent="-423333" algn="l">
              <a:spcBef>
                <a:spcPts val="3900"/>
              </a:spcBef>
              <a:buSzPct val="125000"/>
              <a:buChar char="•"/>
              <a:defRPr sz="3200"/>
            </a:lvl1pPr>
            <a:lvl2pPr marL="1058333" indent="-423333" algn="l">
              <a:spcBef>
                <a:spcPts val="3900"/>
              </a:spcBef>
              <a:buSzPct val="125000"/>
              <a:buChar char="•"/>
              <a:defRPr sz="3200"/>
            </a:lvl2pPr>
            <a:lvl3pPr marL="1693333" indent="-423333"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01" name="Sandy path between two hills leading to the ocean"/>
          <p:cNvSpPr/>
          <p:nvPr>
            <p:ph type="pic" sz="quarter" idx="21"/>
          </p:nvPr>
        </p:nvSpPr>
        <p:spPr>
          <a:xfrm>
            <a:off x="9509477" y="4656666"/>
            <a:ext cx="3699935" cy="2466624"/>
          </a:xfrm>
          <a:prstGeom prst="rect">
            <a:avLst/>
          </a:prstGeom>
        </p:spPr>
        <p:txBody>
          <a:bodyPr lIns="91439" tIns="45719" rIns="91439" bIns="45719">
            <a:noAutofit/>
          </a:bodyPr>
          <a:lstStyle/>
          <a:p>
            <a:pPr/>
          </a:p>
        </p:txBody>
      </p:sp>
      <p:sp>
        <p:nvSpPr>
          <p:cNvPr id="102" name="Heron flying low over a beach with a short fence in the foreground"/>
          <p:cNvSpPr/>
          <p:nvPr>
            <p:ph type="pic" sz="quarter" idx="22"/>
          </p:nvPr>
        </p:nvSpPr>
        <p:spPr>
          <a:xfrm>
            <a:off x="9714088" y="1907822"/>
            <a:ext cx="3290713" cy="3290712"/>
          </a:xfrm>
          <a:prstGeom prst="rect">
            <a:avLst/>
          </a:prstGeom>
        </p:spPr>
        <p:txBody>
          <a:bodyPr lIns="91439" tIns="45719" rIns="91439" bIns="45719">
            <a:noAutofit/>
          </a:bodyPr>
          <a:lstStyle/>
          <a:p>
            <a:pPr/>
          </a:p>
        </p:txBody>
      </p:sp>
      <p:sp>
        <p:nvSpPr>
          <p:cNvPr id="103" name="View of beach and sea from a grassy sand dune"/>
          <p:cNvSpPr/>
          <p:nvPr>
            <p:ph type="pic" sz="half" idx="23"/>
          </p:nvPr>
        </p:nvSpPr>
        <p:spPr>
          <a:xfrm>
            <a:off x="2269066" y="2026355"/>
            <a:ext cx="7645401" cy="5096935"/>
          </a:xfrm>
          <a:prstGeom prst="rect">
            <a:avLst/>
          </a:prstGeom>
        </p:spPr>
        <p:txBody>
          <a:bodyPr lIns="91439" tIns="45719" rIns="91439" bIns="45719">
            <a:noAutofit/>
          </a:bodyPr>
          <a:lstStyle/>
          <a:p>
            <a:pPr/>
          </a:p>
        </p:txBody>
      </p:sp>
      <p:sp>
        <p:nvSpPr>
          <p:cNvPr id="1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1" name="–Johnny Appleseed"/>
          <p:cNvSpPr txBox="1"/>
          <p:nvPr>
            <p:ph type="body" sz="quarter" idx="21"/>
          </p:nvPr>
        </p:nvSpPr>
        <p:spPr>
          <a:xfrm>
            <a:off x="3770488" y="5503333"/>
            <a:ext cx="8720668" cy="342844"/>
          </a:xfrm>
          <a:prstGeom prst="rect">
            <a:avLst/>
          </a:prstGeom>
        </p:spPr>
        <p:txBody>
          <a:bodyPr>
            <a:spAutoFit/>
          </a:bodyPr>
          <a:lstStyle>
            <a:lvl1pPr>
              <a:defRPr i="1" sz="2000"/>
            </a:lvl1pPr>
          </a:lstStyle>
          <a:p>
            <a:pPr/>
            <a:r>
              <a:t>–Johnny Appleseed</a:t>
            </a:r>
          </a:p>
        </p:txBody>
      </p:sp>
      <p:sp>
        <p:nvSpPr>
          <p:cNvPr id="112" name="“Type a quote here.”"/>
          <p:cNvSpPr txBox="1"/>
          <p:nvPr>
            <p:ph type="body" sz="quarter" idx="22"/>
          </p:nvPr>
        </p:nvSpPr>
        <p:spPr>
          <a:xfrm>
            <a:off x="3770488" y="4143977"/>
            <a:ext cx="8720668" cy="528668"/>
          </a:xfrm>
          <a:prstGeom prst="rect">
            <a:avLst/>
          </a:prstGeom>
        </p:spPr>
        <p:txBody>
          <a:bodyPr anchor="ctr">
            <a:spAutoFit/>
          </a:bodyPr>
          <a:lstStyle>
            <a:lvl1pPr>
              <a:defRPr sz="3200">
                <a:latin typeface="+mn-lt"/>
                <a:ea typeface="+mn-ea"/>
                <a:cs typeface="+mn-cs"/>
                <a:sym typeface="Helvetica Neue Medium"/>
              </a:defRPr>
            </a:lvl1pPr>
          </a:lstStyle>
          <a:p>
            <a:pPr/>
            <a:r>
              <a:t>“Type a quote here.” </a:t>
            </a:r>
          </a:p>
        </p:txBody>
      </p:sp>
      <p:sp>
        <p:nvSpPr>
          <p:cNvPr id="1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20" name="View of beach and sea from a grassy sand dune"/>
          <p:cNvSpPr/>
          <p:nvPr>
            <p:ph type="pic" idx="21"/>
          </p:nvPr>
        </p:nvSpPr>
        <p:spPr>
          <a:xfrm>
            <a:off x="2686755" y="959555"/>
            <a:ext cx="10882490" cy="7254994"/>
          </a:xfrm>
          <a:prstGeom prst="rect">
            <a:avLst/>
          </a:prstGeom>
        </p:spPr>
        <p:txBody>
          <a:bodyPr lIns="91439" tIns="45719" rIns="91439" bIns="45719">
            <a:noAutofit/>
          </a:bodyPr>
          <a:lstStyle/>
          <a:p>
            <a:pP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3499555" y="2545644"/>
            <a:ext cx="9256890" cy="2065868"/>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b">
            <a:normAutofit fontScale="100000" lnSpcReduction="0"/>
          </a:bodyPr>
          <a:lstStyle/>
          <a:p>
            <a:pPr/>
            <a:r>
              <a:t>Title Text</a:t>
            </a:r>
          </a:p>
        </p:txBody>
      </p:sp>
      <p:sp>
        <p:nvSpPr>
          <p:cNvPr id="3" name="Body Level One…"/>
          <p:cNvSpPr txBox="1"/>
          <p:nvPr>
            <p:ph type="body" idx="1"/>
          </p:nvPr>
        </p:nvSpPr>
        <p:spPr>
          <a:xfrm>
            <a:off x="3499555" y="4667955"/>
            <a:ext cx="9256890" cy="705557"/>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983270" y="7337777"/>
            <a:ext cx="283815" cy="267863"/>
          </a:xfrm>
          <a:prstGeom prst="rect">
            <a:avLst/>
          </a:prstGeom>
          <a:ln w="3175">
            <a:miter lim="400000"/>
          </a:ln>
        </p:spPr>
        <p:txBody>
          <a:bodyPr wrap="none" lIns="22577" tIns="22577" rIns="22577" bIns="22577">
            <a:spAutoFit/>
          </a:bodyPr>
          <a:lstStyle>
            <a:lvl1pPr algn="ctr">
              <a:spcBef>
                <a:spcPts val="0"/>
              </a:spcBef>
              <a:defRPr sz="16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1pPr>
      <a:lvl2pPr marL="0" marR="0" indent="4572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2pPr>
      <a:lvl3pPr marL="0" marR="0" indent="9144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3pPr>
      <a:lvl4pPr marL="0" marR="0" indent="13716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4pPr>
      <a:lvl5pPr marL="0" marR="0" indent="18288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5pPr>
      <a:lvl6pPr marL="0" marR="0" indent="22860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6pPr>
      <a:lvl7pPr marL="0" marR="0" indent="27432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7pPr>
      <a:lvl8pPr marL="0" marR="0" indent="32004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8pPr>
      <a:lvl9pPr marL="0" marR="0" indent="3657600" algn="ctr" defTabSz="550333" rtl="0" latinLnBrk="0">
        <a:lnSpc>
          <a:spcPct val="100000"/>
        </a:lnSpc>
        <a:spcBef>
          <a:spcPts val="0"/>
        </a:spcBef>
        <a:spcAft>
          <a:spcPts val="0"/>
        </a:spcAft>
        <a:buClrTx/>
        <a:buSzTx/>
        <a:buFontTx/>
        <a:buNone/>
        <a:tabLst/>
        <a:defRPr b="0" baseline="0" cap="none" i="0" spc="0" strike="noStrike" sz="7400" u="none">
          <a:solidFill>
            <a:srgbClr val="000000"/>
          </a:solidFill>
          <a:uFillTx/>
          <a:latin typeface="+mn-lt"/>
          <a:ea typeface="+mn-ea"/>
          <a:cs typeface="+mn-cs"/>
          <a:sym typeface="Helvetica Neue Medium"/>
        </a:defRPr>
      </a:lvl9pPr>
    </p:titleStyle>
    <p:bodyStyle>
      <a:lvl1pPr marL="0" marR="0" indent="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1pPr>
      <a:lvl2pPr marL="0" marR="0" indent="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2pPr>
      <a:lvl3pPr marL="0" marR="0" indent="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3pPr>
      <a:lvl4pPr marL="0" marR="0" indent="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4pPr>
      <a:lvl5pPr marL="0" marR="0" indent="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5pPr>
      <a:lvl6pPr marL="0" marR="0" indent="35560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6pPr>
      <a:lvl7pPr marL="0" marR="0" indent="71120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7pPr>
      <a:lvl8pPr marL="0" marR="0" indent="106680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8pPr>
      <a:lvl9pPr marL="0" marR="0" indent="1422400" algn="ctr" defTabSz="550333" rtl="0" latinLnBrk="0">
        <a:lnSpc>
          <a:spcPct val="100000"/>
        </a:lnSpc>
        <a:spcBef>
          <a:spcPts val="0"/>
        </a:spcBef>
        <a:spcAft>
          <a:spcPts val="0"/>
        </a:spcAft>
        <a:buClrTx/>
        <a:buSzTx/>
        <a:buFontTx/>
        <a:buNone/>
        <a:tabLst/>
        <a:defRPr b="0" baseline="0" cap="none" i="0" spc="0" strike="noStrike" sz="3600" u="none">
          <a:solidFill>
            <a:srgbClr val="000000"/>
          </a:solidFill>
          <a:uFillTx/>
          <a:latin typeface="Helvetica Neue"/>
          <a:ea typeface="Helvetica Neue"/>
          <a:cs typeface="Helvetica Neue"/>
          <a:sym typeface="Helvetica Neue"/>
        </a:defRPr>
      </a:lvl9pPr>
    </p:bodyStyle>
    <p:otherStyle>
      <a:lvl1pPr marL="0" marR="0" indent="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1pPr>
      <a:lvl2pPr marL="0" marR="0" indent="4572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2pPr>
      <a:lvl3pPr marL="0" marR="0" indent="9144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3pPr>
      <a:lvl4pPr marL="0" marR="0" indent="13716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4pPr>
      <a:lvl5pPr marL="0" marR="0" indent="18288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5pPr>
      <a:lvl6pPr marL="0" marR="0" indent="22860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6pPr>
      <a:lvl7pPr marL="0" marR="0" indent="27432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7pPr>
      <a:lvl8pPr marL="0" marR="0" indent="32004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8pPr>
      <a:lvl9pPr marL="0" marR="0" indent="3657600" algn="ctr" defTabSz="550333" rtl="0" latinLnBrk="0">
        <a:lnSpc>
          <a:spcPct val="100000"/>
        </a:lnSpc>
        <a:spcBef>
          <a:spcPts val="0"/>
        </a:spcBef>
        <a:spcAft>
          <a:spcPts val="0"/>
        </a:spcAft>
        <a:buClrTx/>
        <a:buSzTx/>
        <a:buFontTx/>
        <a:buNone/>
        <a:tabLst/>
        <a:defRPr b="0" baseline="0" cap="none" i="0" spc="0" strike="noStrike" sz="16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HISTORICAL STOCK ANALYSIS"/>
          <p:cNvSpPr txBox="1"/>
          <p:nvPr/>
        </p:nvSpPr>
        <p:spPr>
          <a:xfrm>
            <a:off x="914400" y="885472"/>
            <a:ext cx="6604001" cy="286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4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HISTORICAL STOCK ANALYSIS</a:t>
            </a:r>
          </a:p>
        </p:txBody>
      </p:sp>
      <p:sp>
        <p:nvSpPr>
          <p:cNvPr id="138" name="Is diversification…"/>
          <p:cNvSpPr txBox="1"/>
          <p:nvPr/>
        </p:nvSpPr>
        <p:spPr>
          <a:xfrm>
            <a:off x="914400" y="1746955"/>
            <a:ext cx="11430000" cy="247509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5600">
                <a:latin typeface="Avenir Next Demi Bold"/>
                <a:ea typeface="Avenir Next Demi Bold"/>
                <a:cs typeface="Avenir Next Demi Bold"/>
                <a:sym typeface="Avenir Next Demi Bold"/>
              </a:defRPr>
            </a:pPr>
            <a:r>
              <a:rPr>
                <a:solidFill>
                  <a:srgbClr val="262D39"/>
                </a:solidFill>
              </a:rPr>
              <a:t>Is diversification</a:t>
            </a:r>
            <a:endParaRPr>
              <a:solidFill>
                <a:srgbClr val="262D39"/>
              </a:solidFill>
            </a:endParaRPr>
          </a:p>
          <a:p>
            <a:pPr>
              <a:defRPr sz="5600">
                <a:latin typeface="Avenir Next Demi Bold"/>
                <a:ea typeface="Avenir Next Demi Bold"/>
                <a:cs typeface="Avenir Next Demi Bold"/>
                <a:sym typeface="Avenir Next Demi Bold"/>
              </a:defRPr>
            </a:pPr>
            <a:r>
              <a:rPr>
                <a:solidFill>
                  <a:srgbClr val="262D39"/>
                </a:solidFill>
              </a:rPr>
              <a:t>thinner than it looks?</a:t>
            </a:r>
          </a:p>
        </p:txBody>
      </p:sp>
      <p:sp>
        <p:nvSpPr>
          <p:cNvPr id="139" name="Team 2  |  Project status presentation"/>
          <p:cNvSpPr txBox="1"/>
          <p:nvPr/>
        </p:nvSpPr>
        <p:spPr>
          <a:xfrm>
            <a:off x="914400" y="4568472"/>
            <a:ext cx="7620000" cy="388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828893"/>
                </a:solidFill>
                <a:latin typeface="Avenir Next Regular"/>
                <a:ea typeface="Avenir Next Regular"/>
                <a:cs typeface="Avenir Next Regular"/>
                <a:sym typeface="Avenir Next Regular"/>
              </a:defRPr>
            </a:lvl1pPr>
          </a:lstStyle>
          <a:p>
            <a:pPr>
              <a:defRPr>
                <a:solidFill>
                  <a:srgbClr val="000000"/>
                </a:solidFill>
              </a:defRPr>
            </a:pPr>
            <a:r>
              <a:rPr>
                <a:solidFill>
                  <a:srgbClr val="828893"/>
                </a:solidFill>
              </a:rPr>
              <a:t>Team 2  |  Project status presentation</a:t>
            </a:r>
          </a:p>
        </p:txBody>
      </p:sp>
      <p:sp>
        <p:nvSpPr>
          <p:cNvPr id="140" name="Karthikeyan M   Mirthula M   Lakshmi Mayuri Kavya N"/>
          <p:cNvSpPr txBox="1"/>
          <p:nvPr/>
        </p:nvSpPr>
        <p:spPr>
          <a:xfrm>
            <a:off x="914400" y="7286272"/>
            <a:ext cx="114300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ACB1BA"/>
                </a:solidFill>
                <a:latin typeface="Avenir Next Regular"/>
                <a:ea typeface="Avenir Next Regular"/>
                <a:cs typeface="Avenir Next Regular"/>
                <a:sym typeface="Avenir Next Regular"/>
              </a:defRPr>
            </a:lvl1pPr>
          </a:lstStyle>
          <a:p>
            <a:pPr>
              <a:defRPr>
                <a:solidFill>
                  <a:srgbClr val="000000"/>
                </a:solidFill>
              </a:defRPr>
            </a:pPr>
            <a:r>
              <a:rPr>
                <a:solidFill>
                  <a:srgbClr val="ACB1BA"/>
                </a:solidFill>
              </a:rPr>
              <a:t>Karthikeyan M   Mirthula M   Lakshmi Mayuri Kavya N</a:t>
            </a:r>
          </a:p>
        </p:txBody>
      </p:sp>
      <p:sp>
        <p:nvSpPr>
          <p:cNvPr id="141" name="49 global tickers  |  2006-2026"/>
          <p:cNvSpPr txBox="1"/>
          <p:nvPr/>
        </p:nvSpPr>
        <p:spPr>
          <a:xfrm>
            <a:off x="914400" y="7819672"/>
            <a:ext cx="6096000" cy="337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7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49 global tickers  |  2006-2026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HE QUESTION"/>
          <p:cNvSpPr txBox="1"/>
          <p:nvPr/>
        </p:nvSpPr>
        <p:spPr>
          <a:xfrm>
            <a:off x="914399" y="587022"/>
            <a:ext cx="2794001"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THE QUESTION</a:t>
            </a:r>
          </a:p>
        </p:txBody>
      </p:sp>
      <p:sp>
        <p:nvSpPr>
          <p:cNvPr id="146" name="Diversification looks broad until we test it"/>
          <p:cNvSpPr txBox="1"/>
          <p:nvPr/>
        </p:nvSpPr>
        <p:spPr>
          <a:xfrm>
            <a:off x="914400" y="10378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Diversification looks broad until we test it</a:t>
            </a:r>
          </a:p>
        </p:txBody>
      </p:sp>
      <p:sp>
        <p:nvSpPr>
          <p:cNvPr id="147" name="H1"/>
          <p:cNvSpPr txBox="1"/>
          <p:nvPr/>
        </p:nvSpPr>
        <p:spPr>
          <a:xfrm>
            <a:off x="965200" y="2523772"/>
            <a:ext cx="1016000" cy="515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H1</a:t>
            </a:r>
          </a:p>
        </p:txBody>
      </p:sp>
      <p:sp>
        <p:nvSpPr>
          <p:cNvPr id="148" name="Was the post-2023 tech rally broad - or concentrated in selected chip and AI names?"/>
          <p:cNvSpPr txBox="1"/>
          <p:nvPr/>
        </p:nvSpPr>
        <p:spPr>
          <a:xfrm>
            <a:off x="2032000" y="2663472"/>
            <a:ext cx="12446000" cy="464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400">
                <a:solidFill>
                  <a:srgbClr val="262D39"/>
                </a:solidFill>
                <a:latin typeface="Avenir Next Regular"/>
                <a:ea typeface="Avenir Next Regular"/>
                <a:cs typeface="Avenir Next Regular"/>
                <a:sym typeface="Avenir Next Regular"/>
              </a:defRPr>
            </a:lvl1pPr>
          </a:lstStyle>
          <a:p>
            <a:pPr>
              <a:defRPr>
                <a:solidFill>
                  <a:srgbClr val="000000"/>
                </a:solidFill>
              </a:defRPr>
            </a:pPr>
            <a:r>
              <a:rPr>
                <a:solidFill>
                  <a:srgbClr val="262D39"/>
                </a:solidFill>
              </a:rPr>
              <a:t>Was the post-2023 tech rally broad - or concentrated in selected chip and AI names?</a:t>
            </a:r>
          </a:p>
        </p:txBody>
      </p:sp>
      <p:sp>
        <p:nvSpPr>
          <p:cNvPr id="149" name="H2"/>
          <p:cNvSpPr txBox="1"/>
          <p:nvPr/>
        </p:nvSpPr>
        <p:spPr>
          <a:xfrm>
            <a:off x="965200" y="4098572"/>
            <a:ext cx="1016000" cy="515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EB8800"/>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EB8800"/>
                </a:solidFill>
              </a:rPr>
              <a:t>H2</a:t>
            </a:r>
          </a:p>
        </p:txBody>
      </p:sp>
      <p:sp>
        <p:nvSpPr>
          <p:cNvPr id="150" name="Do different regions move together when a sudden crisis arrives?"/>
          <p:cNvSpPr txBox="1"/>
          <p:nvPr/>
        </p:nvSpPr>
        <p:spPr>
          <a:xfrm>
            <a:off x="2032000" y="4200172"/>
            <a:ext cx="11811000" cy="464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400">
                <a:solidFill>
                  <a:srgbClr val="262D39"/>
                </a:solidFill>
                <a:latin typeface="Avenir Next Regular"/>
                <a:ea typeface="Avenir Next Regular"/>
                <a:cs typeface="Avenir Next Regular"/>
                <a:sym typeface="Avenir Next Regular"/>
              </a:defRPr>
            </a:lvl1pPr>
          </a:lstStyle>
          <a:p>
            <a:pPr>
              <a:defRPr>
                <a:solidFill>
                  <a:srgbClr val="000000"/>
                </a:solidFill>
              </a:defRPr>
            </a:pPr>
            <a:r>
              <a:rPr>
                <a:solidFill>
                  <a:srgbClr val="262D39"/>
                </a:solidFill>
              </a:rPr>
              <a:t>Do different regions move together when a sudden crisis arrives?</a:t>
            </a:r>
          </a:p>
        </p:txBody>
      </p:sp>
      <p:sp>
        <p:nvSpPr>
          <p:cNvPr id="151" name="H3"/>
          <p:cNvSpPr txBox="1"/>
          <p:nvPr/>
        </p:nvSpPr>
        <p:spPr>
          <a:xfrm>
            <a:off x="965200" y="5673372"/>
            <a:ext cx="1016000" cy="515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700">
                <a:solidFill>
                  <a:srgbClr val="E3574D"/>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E3574D"/>
                </a:solidFill>
              </a:rPr>
              <a:t>H3</a:t>
            </a:r>
          </a:p>
        </p:txBody>
      </p:sp>
      <p:sp>
        <p:nvSpPr>
          <p:cNvPr id="152" name="Do volatility and trading volume reveal the same panic pattern?"/>
          <p:cNvSpPr txBox="1"/>
          <p:nvPr/>
        </p:nvSpPr>
        <p:spPr>
          <a:xfrm>
            <a:off x="2032000" y="5774972"/>
            <a:ext cx="11811000" cy="464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400">
                <a:solidFill>
                  <a:srgbClr val="262D39"/>
                </a:solidFill>
                <a:latin typeface="Avenir Next Regular"/>
                <a:ea typeface="Avenir Next Regular"/>
                <a:cs typeface="Avenir Next Regular"/>
                <a:sym typeface="Avenir Next Regular"/>
              </a:defRPr>
            </a:lvl1pPr>
          </a:lstStyle>
          <a:p>
            <a:pPr>
              <a:defRPr>
                <a:solidFill>
                  <a:srgbClr val="000000"/>
                </a:solidFill>
              </a:defRPr>
            </a:pPr>
            <a:r>
              <a:rPr>
                <a:solidFill>
                  <a:srgbClr val="262D39"/>
                </a:solidFill>
              </a:rPr>
              <a:t>Do volatility and trading volume reveal the same panic pattern?</a:t>
            </a:r>
          </a:p>
        </p:txBody>
      </p:sp>
      <p:sp>
        <p:nvSpPr>
          <p:cNvPr id="153" name="One story: diversification weakens when attention and fear concentrate."/>
          <p:cNvSpPr txBox="1"/>
          <p:nvPr/>
        </p:nvSpPr>
        <p:spPr>
          <a:xfrm>
            <a:off x="914400" y="7768872"/>
            <a:ext cx="13716001" cy="413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100">
                <a:solidFill>
                  <a:srgbClr val="828893"/>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828893"/>
                </a:solidFill>
              </a:rPr>
              <a:t>One story: diversification weakens when attention and fear concentrate.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RELATED WORK"/>
          <p:cNvSpPr txBox="1"/>
          <p:nvPr/>
        </p:nvSpPr>
        <p:spPr>
          <a:xfrm>
            <a:off x="914399" y="587022"/>
            <a:ext cx="2794001"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RELATED WORK</a:t>
            </a:r>
          </a:p>
        </p:txBody>
      </p:sp>
      <p:sp>
        <p:nvSpPr>
          <p:cNvPr id="158" name="Prior work sharpened the question - it did not settle it"/>
          <p:cNvSpPr txBox="1"/>
          <p:nvPr/>
        </p:nvSpPr>
        <p:spPr>
          <a:xfrm>
            <a:off x="914400" y="10378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Prior work sharpened the question - it did not settle it</a:t>
            </a:r>
          </a:p>
        </p:txBody>
      </p:sp>
      <p:sp>
        <p:nvSpPr>
          <p:cNvPr id="159" name="72 years"/>
          <p:cNvSpPr txBox="1"/>
          <p:nvPr/>
        </p:nvSpPr>
        <p:spPr>
          <a:xfrm>
            <a:off x="939800" y="2542822"/>
            <a:ext cx="3556000" cy="629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4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72 years</a:t>
            </a:r>
          </a:p>
        </p:txBody>
      </p:sp>
      <p:sp>
        <p:nvSpPr>
          <p:cNvPr id="160" name="Stock correlations tend to rise under market stress."/>
          <p:cNvSpPr txBox="1"/>
          <p:nvPr/>
        </p:nvSpPr>
        <p:spPr>
          <a:xfrm>
            <a:off x="939800" y="3495322"/>
            <a:ext cx="3937000" cy="730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262D39"/>
                </a:solidFill>
                <a:latin typeface="Avenir Next Regular"/>
                <a:ea typeface="Avenir Next Regular"/>
                <a:cs typeface="Avenir Next Regular"/>
                <a:sym typeface="Avenir Next Regular"/>
              </a:defRPr>
            </a:lvl1pPr>
          </a:lstStyle>
          <a:p>
            <a:pPr>
              <a:defRPr>
                <a:solidFill>
                  <a:srgbClr val="000000"/>
                </a:solidFill>
              </a:defRPr>
            </a:pPr>
            <a:r>
              <a:rPr>
                <a:solidFill>
                  <a:srgbClr val="262D39"/>
                </a:solidFill>
              </a:rPr>
              <a:t>Stock correlations tend to rise under market stress.</a:t>
            </a:r>
          </a:p>
        </p:txBody>
      </p:sp>
      <p:sp>
        <p:nvSpPr>
          <p:cNvPr id="161" name="423.9%"/>
          <p:cNvSpPr txBox="1"/>
          <p:nvPr/>
        </p:nvSpPr>
        <p:spPr>
          <a:xfrm>
            <a:off x="6172200" y="2542822"/>
            <a:ext cx="3556000" cy="629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400">
                <a:solidFill>
                  <a:srgbClr val="EB8800"/>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EB8800"/>
                </a:solidFill>
              </a:rPr>
              <a:t>423.9%</a:t>
            </a:r>
          </a:p>
        </p:txBody>
      </p:sp>
      <p:sp>
        <p:nvSpPr>
          <p:cNvPr id="162" name="Semiconductors outpaced the broader US market in the AI boom."/>
          <p:cNvSpPr txBox="1"/>
          <p:nvPr/>
        </p:nvSpPr>
        <p:spPr>
          <a:xfrm>
            <a:off x="6172200" y="3323872"/>
            <a:ext cx="3937000" cy="1073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262D39"/>
                </a:solidFill>
                <a:latin typeface="Avenir Next Regular"/>
                <a:ea typeface="Avenir Next Regular"/>
                <a:cs typeface="Avenir Next Regular"/>
                <a:sym typeface="Avenir Next Regular"/>
              </a:defRPr>
            </a:lvl1pPr>
          </a:lstStyle>
          <a:p>
            <a:pPr>
              <a:defRPr>
                <a:solidFill>
                  <a:srgbClr val="000000"/>
                </a:solidFill>
              </a:defRPr>
            </a:pPr>
            <a:r>
              <a:rPr>
                <a:solidFill>
                  <a:srgbClr val="262D39"/>
                </a:solidFill>
              </a:rPr>
              <a:t>Semiconductors outpaced the broader US market in the AI boom.</a:t>
            </a:r>
          </a:p>
        </p:txBody>
      </p:sp>
      <p:sp>
        <p:nvSpPr>
          <p:cNvPr id="163" name="148 firms"/>
          <p:cNvSpPr txBox="1"/>
          <p:nvPr/>
        </p:nvSpPr>
        <p:spPr>
          <a:xfrm>
            <a:off x="11404600" y="2542822"/>
            <a:ext cx="3556000" cy="629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4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148 firms</a:t>
            </a:r>
          </a:p>
        </p:txBody>
      </p:sp>
      <p:sp>
        <p:nvSpPr>
          <p:cNvPr id="164" name="A wider AI ecosystem suggests the boundary matters."/>
          <p:cNvSpPr txBox="1"/>
          <p:nvPr/>
        </p:nvSpPr>
        <p:spPr>
          <a:xfrm>
            <a:off x="11404599" y="3495322"/>
            <a:ext cx="3810001" cy="730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262D39"/>
                </a:solidFill>
                <a:latin typeface="Avenir Next Regular"/>
                <a:ea typeface="Avenir Next Regular"/>
                <a:cs typeface="Avenir Next Regular"/>
                <a:sym typeface="Avenir Next Regular"/>
              </a:defRPr>
            </a:lvl1pPr>
          </a:lstStyle>
          <a:p>
            <a:pPr>
              <a:defRPr>
                <a:solidFill>
                  <a:srgbClr val="000000"/>
                </a:solidFill>
              </a:defRPr>
            </a:pPr>
            <a:r>
              <a:rPr>
                <a:solidFill>
                  <a:srgbClr val="262D39"/>
                </a:solidFill>
              </a:rPr>
              <a:t>A wider AI ecosystem suggests the boundary matters.</a:t>
            </a:r>
          </a:p>
        </p:txBody>
      </p:sp>
      <p:sp>
        <p:nvSpPr>
          <p:cNvPr id="165" name="Our contribution is narrower: test these ideas on the companies and periods actually present in our dataset."/>
          <p:cNvSpPr txBox="1"/>
          <p:nvPr/>
        </p:nvSpPr>
        <p:spPr>
          <a:xfrm>
            <a:off x="1841500" y="6416322"/>
            <a:ext cx="12573000" cy="8833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400">
                <a:solidFill>
                  <a:srgbClr val="828893"/>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828893"/>
                </a:solidFill>
              </a:rPr>
              <a:t>Our contribution is narrower: test these ideas on the companies and periods actually present in our dataset.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DATA + APPROACH"/>
          <p:cNvSpPr txBox="1"/>
          <p:nvPr/>
        </p:nvSpPr>
        <p:spPr>
          <a:xfrm>
            <a:off x="914399" y="587022"/>
            <a:ext cx="2794001"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DATA + APPROACH</a:t>
            </a:r>
          </a:p>
        </p:txBody>
      </p:sp>
      <p:sp>
        <p:nvSpPr>
          <p:cNvPr id="170" name="We analyzed the same dataset twice - in Python and R"/>
          <p:cNvSpPr txBox="1"/>
          <p:nvPr/>
        </p:nvSpPr>
        <p:spPr>
          <a:xfrm>
            <a:off x="914400" y="10378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We analyzed the same dataset twice - in Python and R</a:t>
            </a:r>
          </a:p>
        </p:txBody>
      </p:sp>
      <p:sp>
        <p:nvSpPr>
          <p:cNvPr id="171" name="230,111"/>
          <p:cNvSpPr txBox="1"/>
          <p:nvPr/>
        </p:nvSpPr>
        <p:spPr>
          <a:xfrm>
            <a:off x="939799" y="2631722"/>
            <a:ext cx="3810001" cy="7055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8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230,111</a:t>
            </a:r>
          </a:p>
        </p:txBody>
      </p:sp>
      <p:sp>
        <p:nvSpPr>
          <p:cNvPr id="172" name="ticker-days"/>
          <p:cNvSpPr txBox="1"/>
          <p:nvPr/>
        </p:nvSpPr>
        <p:spPr>
          <a:xfrm>
            <a:off x="939800" y="3438172"/>
            <a:ext cx="4191000" cy="413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100">
                <a:solidFill>
                  <a:srgbClr val="828893"/>
                </a:solidFill>
                <a:latin typeface="Avenir Next Regular"/>
                <a:ea typeface="Avenir Next Regular"/>
                <a:cs typeface="Avenir Next Regular"/>
                <a:sym typeface="Avenir Next Regular"/>
              </a:defRPr>
            </a:lvl1pPr>
          </a:lstStyle>
          <a:p>
            <a:pPr>
              <a:defRPr>
                <a:solidFill>
                  <a:srgbClr val="000000"/>
                </a:solidFill>
              </a:defRPr>
            </a:pPr>
            <a:r>
              <a:rPr>
                <a:solidFill>
                  <a:srgbClr val="828893"/>
                </a:solidFill>
              </a:rPr>
              <a:t>ticker-days</a:t>
            </a:r>
          </a:p>
        </p:txBody>
      </p:sp>
      <p:sp>
        <p:nvSpPr>
          <p:cNvPr id="173" name="49"/>
          <p:cNvSpPr txBox="1"/>
          <p:nvPr/>
        </p:nvSpPr>
        <p:spPr>
          <a:xfrm>
            <a:off x="6604000" y="2599972"/>
            <a:ext cx="2794000" cy="769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200">
                <a:solidFill>
                  <a:srgbClr val="EB8800"/>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EB8800"/>
                </a:solidFill>
              </a:rPr>
              <a:t>49</a:t>
            </a:r>
          </a:p>
        </p:txBody>
      </p:sp>
      <p:sp>
        <p:nvSpPr>
          <p:cNvPr id="174" name="global tickers"/>
          <p:cNvSpPr txBox="1"/>
          <p:nvPr/>
        </p:nvSpPr>
        <p:spPr>
          <a:xfrm>
            <a:off x="6604000" y="3438172"/>
            <a:ext cx="3302000" cy="413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100">
                <a:solidFill>
                  <a:srgbClr val="828893"/>
                </a:solidFill>
                <a:latin typeface="Avenir Next Regular"/>
                <a:ea typeface="Avenir Next Regular"/>
                <a:cs typeface="Avenir Next Regular"/>
                <a:sym typeface="Avenir Next Regular"/>
              </a:defRPr>
            </a:lvl1pPr>
          </a:lstStyle>
          <a:p>
            <a:pPr>
              <a:defRPr>
                <a:solidFill>
                  <a:srgbClr val="000000"/>
                </a:solidFill>
              </a:defRPr>
            </a:pPr>
            <a:r>
              <a:rPr>
                <a:solidFill>
                  <a:srgbClr val="828893"/>
                </a:solidFill>
              </a:rPr>
              <a:t>global tickers</a:t>
            </a:r>
          </a:p>
        </p:txBody>
      </p:sp>
      <p:sp>
        <p:nvSpPr>
          <p:cNvPr id="175" name="2006-2026"/>
          <p:cNvSpPr txBox="1"/>
          <p:nvPr/>
        </p:nvSpPr>
        <p:spPr>
          <a:xfrm>
            <a:off x="10795000" y="2599972"/>
            <a:ext cx="4445000" cy="769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42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2006-2026</a:t>
            </a:r>
          </a:p>
        </p:txBody>
      </p:sp>
      <p:sp>
        <p:nvSpPr>
          <p:cNvPr id="176" name="daily observations"/>
          <p:cNvSpPr txBox="1"/>
          <p:nvPr/>
        </p:nvSpPr>
        <p:spPr>
          <a:xfrm>
            <a:off x="10795000" y="3438172"/>
            <a:ext cx="4191000" cy="413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100">
                <a:solidFill>
                  <a:srgbClr val="828893"/>
                </a:solidFill>
                <a:latin typeface="Avenir Next Regular"/>
                <a:ea typeface="Avenir Next Regular"/>
                <a:cs typeface="Avenir Next Regular"/>
                <a:sym typeface="Avenir Next Regular"/>
              </a:defRPr>
            </a:lvl1pPr>
          </a:lstStyle>
          <a:p>
            <a:pPr>
              <a:defRPr>
                <a:solidFill>
                  <a:srgbClr val="000000"/>
                </a:solidFill>
              </a:defRPr>
            </a:pPr>
            <a:r>
              <a:rPr>
                <a:solidFill>
                  <a:srgbClr val="828893"/>
                </a:solidFill>
              </a:rPr>
              <a:t>daily observations</a:t>
            </a:r>
          </a:p>
        </p:txBody>
      </p:sp>
      <p:sp>
        <p:nvSpPr>
          <p:cNvPr id="177" name="Python"/>
          <p:cNvSpPr txBox="1"/>
          <p:nvPr/>
        </p:nvSpPr>
        <p:spPr>
          <a:xfrm>
            <a:off x="939799" y="5235222"/>
            <a:ext cx="2413001" cy="476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5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Python</a:t>
            </a:r>
          </a:p>
        </p:txBody>
      </p:sp>
      <p:sp>
        <p:nvSpPr>
          <p:cNvPr id="178" name="EDA, hypotheses, crisis comparisons, statistical checks"/>
          <p:cNvSpPr txBox="1"/>
          <p:nvPr/>
        </p:nvSpPr>
        <p:spPr>
          <a:xfrm>
            <a:off x="939800" y="6009922"/>
            <a:ext cx="5969000" cy="781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100">
                <a:solidFill>
                  <a:srgbClr val="262D39"/>
                </a:solidFill>
                <a:latin typeface="Avenir Next Regular"/>
                <a:ea typeface="Avenir Next Regular"/>
                <a:cs typeface="Avenir Next Regular"/>
                <a:sym typeface="Avenir Next Regular"/>
              </a:defRPr>
            </a:lvl1pPr>
          </a:lstStyle>
          <a:p>
            <a:pPr>
              <a:defRPr>
                <a:solidFill>
                  <a:srgbClr val="000000"/>
                </a:solidFill>
              </a:defRPr>
            </a:pPr>
            <a:r>
              <a:rPr>
                <a:solidFill>
                  <a:srgbClr val="262D39"/>
                </a:solidFill>
              </a:rPr>
              <a:t>EDA, hypotheses, crisis comparisons, statistical checks</a:t>
            </a:r>
          </a:p>
        </p:txBody>
      </p:sp>
      <p:sp>
        <p:nvSpPr>
          <p:cNvPr id="179" name="R"/>
          <p:cNvSpPr txBox="1"/>
          <p:nvPr/>
        </p:nvSpPr>
        <p:spPr>
          <a:xfrm>
            <a:off x="8763000" y="5235222"/>
            <a:ext cx="1270000" cy="476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500">
                <a:solidFill>
                  <a:srgbClr val="EB8800"/>
                </a:solidFill>
                <a:latin typeface="Avenir Next Demi Bold"/>
                <a:ea typeface="Avenir Next Demi Bold"/>
                <a:cs typeface="Avenir Next Demi Bold"/>
                <a:sym typeface="Avenir Next Demi Bold"/>
              </a:defRPr>
            </a:lvl1pPr>
          </a:lstStyle>
          <a:p>
            <a:pPr/>
            <a:r>
              <a:t>R</a:t>
            </a:r>
          </a:p>
        </p:txBody>
      </p:sp>
      <p:sp>
        <p:nvSpPr>
          <p:cNvPr id="180" name="Replication, reshaping, date parsing, monthly grouping"/>
          <p:cNvSpPr txBox="1"/>
          <p:nvPr/>
        </p:nvSpPr>
        <p:spPr>
          <a:xfrm>
            <a:off x="8763000" y="6009922"/>
            <a:ext cx="5969000" cy="781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100">
                <a:solidFill>
                  <a:srgbClr val="262D39"/>
                </a:solidFill>
                <a:latin typeface="Avenir Next Regular"/>
                <a:ea typeface="Avenir Next Regular"/>
                <a:cs typeface="Avenir Next Regular"/>
                <a:sym typeface="Avenir Next Regular"/>
              </a:defRPr>
            </a:lvl1pPr>
          </a:lstStyle>
          <a:p>
            <a:pPr>
              <a:defRPr>
                <a:solidFill>
                  <a:srgbClr val="000000"/>
                </a:solidFill>
              </a:defRPr>
            </a:pPr>
            <a:r>
              <a:rPr>
                <a:solidFill>
                  <a:srgbClr val="262D39"/>
                </a:solidFill>
              </a:rPr>
              <a:t>Replication, reshaping, date parsing, monthly grouping</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DATA QUALITY"/>
          <p:cNvSpPr txBox="1"/>
          <p:nvPr/>
        </p:nvSpPr>
        <p:spPr>
          <a:xfrm>
            <a:off x="914399" y="587022"/>
            <a:ext cx="2794001"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DATA QUALITY</a:t>
            </a:r>
          </a:p>
        </p:txBody>
      </p:sp>
      <p:sp>
        <p:nvSpPr>
          <p:cNvPr id="185" name="The honest comparison required four deliberate choices"/>
          <p:cNvSpPr txBox="1"/>
          <p:nvPr/>
        </p:nvSpPr>
        <p:spPr>
          <a:xfrm>
            <a:off x="914400" y="10378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The honest comparison required four deliberate choices</a:t>
            </a:r>
          </a:p>
        </p:txBody>
      </p:sp>
      <p:sp>
        <p:nvSpPr>
          <p:cNvPr id="186" name="01"/>
          <p:cNvSpPr txBox="1"/>
          <p:nvPr/>
        </p:nvSpPr>
        <p:spPr>
          <a:xfrm>
            <a:off x="965199" y="2441222"/>
            <a:ext cx="889001" cy="426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2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01</a:t>
            </a:r>
          </a:p>
        </p:txBody>
      </p:sp>
      <p:sp>
        <p:nvSpPr>
          <p:cNvPr id="187" name="Mixed currencies"/>
          <p:cNvSpPr txBox="1"/>
          <p:nvPr/>
        </p:nvSpPr>
        <p:spPr>
          <a:xfrm>
            <a:off x="1955800" y="2358672"/>
            <a:ext cx="4191000" cy="438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3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Mixed currencies</a:t>
            </a:r>
          </a:p>
        </p:txBody>
      </p:sp>
      <p:sp>
        <p:nvSpPr>
          <p:cNvPr id="188" name="Use returns or index every series to 100."/>
          <p:cNvSpPr txBox="1"/>
          <p:nvPr/>
        </p:nvSpPr>
        <p:spPr>
          <a:xfrm>
            <a:off x="1955799" y="2904772"/>
            <a:ext cx="10414002" cy="388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828893"/>
                </a:solidFill>
                <a:latin typeface="Avenir Next Regular"/>
                <a:ea typeface="Avenir Next Regular"/>
                <a:cs typeface="Avenir Next Regular"/>
                <a:sym typeface="Avenir Next Regular"/>
              </a:defRPr>
            </a:lvl1pPr>
          </a:lstStyle>
          <a:p>
            <a:pPr>
              <a:defRPr>
                <a:solidFill>
                  <a:srgbClr val="000000"/>
                </a:solidFill>
              </a:defRPr>
            </a:pPr>
            <a:r>
              <a:rPr>
                <a:solidFill>
                  <a:srgbClr val="828893"/>
                </a:solidFill>
              </a:rPr>
              <a:t>Use returns or index every series to 100.</a:t>
            </a:r>
          </a:p>
        </p:txBody>
      </p:sp>
      <p:sp>
        <p:nvSpPr>
          <p:cNvPr id="189" name="02"/>
          <p:cNvSpPr txBox="1"/>
          <p:nvPr/>
        </p:nvSpPr>
        <p:spPr>
          <a:xfrm>
            <a:off x="965199" y="3863622"/>
            <a:ext cx="889001" cy="426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2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02</a:t>
            </a:r>
          </a:p>
        </p:txBody>
      </p:sp>
      <p:sp>
        <p:nvSpPr>
          <p:cNvPr id="190" name="Different start dates"/>
          <p:cNvSpPr txBox="1"/>
          <p:nvPr/>
        </p:nvSpPr>
        <p:spPr>
          <a:xfrm>
            <a:off x="1955799" y="3781072"/>
            <a:ext cx="4826001" cy="438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3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Different start dates</a:t>
            </a:r>
          </a:p>
        </p:txBody>
      </p:sp>
      <p:sp>
        <p:nvSpPr>
          <p:cNvPr id="191" name="Rebase only when every plotted ticker exists."/>
          <p:cNvSpPr txBox="1"/>
          <p:nvPr/>
        </p:nvSpPr>
        <p:spPr>
          <a:xfrm>
            <a:off x="1955799" y="4327172"/>
            <a:ext cx="10414002" cy="388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828893"/>
                </a:solidFill>
                <a:latin typeface="Avenir Next Regular"/>
                <a:ea typeface="Avenir Next Regular"/>
                <a:cs typeface="Avenir Next Regular"/>
                <a:sym typeface="Avenir Next Regular"/>
              </a:defRPr>
            </a:lvl1pPr>
          </a:lstStyle>
          <a:p>
            <a:pPr>
              <a:defRPr>
                <a:solidFill>
                  <a:srgbClr val="000000"/>
                </a:solidFill>
              </a:defRPr>
            </a:pPr>
            <a:r>
              <a:rPr>
                <a:solidFill>
                  <a:srgbClr val="828893"/>
                </a:solidFill>
              </a:rPr>
              <a:t>Rebase only when every plotted ticker exists.</a:t>
            </a:r>
          </a:p>
        </p:txBody>
      </p:sp>
      <p:sp>
        <p:nvSpPr>
          <p:cNvPr id="192" name="03"/>
          <p:cNvSpPr txBox="1"/>
          <p:nvPr/>
        </p:nvSpPr>
        <p:spPr>
          <a:xfrm>
            <a:off x="965199" y="5286022"/>
            <a:ext cx="889001" cy="426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2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03</a:t>
            </a:r>
          </a:p>
        </p:txBody>
      </p:sp>
      <p:sp>
        <p:nvSpPr>
          <p:cNvPr id="193" name="Uneven regional coverage"/>
          <p:cNvSpPr txBox="1"/>
          <p:nvPr/>
        </p:nvSpPr>
        <p:spPr>
          <a:xfrm>
            <a:off x="1955800" y="5203472"/>
            <a:ext cx="5461000" cy="438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3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Uneven regional coverage</a:t>
            </a:r>
          </a:p>
        </p:txBody>
      </p:sp>
      <p:sp>
        <p:nvSpPr>
          <p:cNvPr id="194" name="Paris is one stock; some regional claims stay provisional."/>
          <p:cNvSpPr txBox="1"/>
          <p:nvPr/>
        </p:nvSpPr>
        <p:spPr>
          <a:xfrm>
            <a:off x="1955799" y="5749572"/>
            <a:ext cx="10795002" cy="388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828893"/>
                </a:solidFill>
                <a:latin typeface="Avenir Next Regular"/>
                <a:ea typeface="Avenir Next Regular"/>
                <a:cs typeface="Avenir Next Regular"/>
                <a:sym typeface="Avenir Next Regular"/>
              </a:defRPr>
            </a:lvl1pPr>
          </a:lstStyle>
          <a:p>
            <a:pPr>
              <a:defRPr>
                <a:solidFill>
                  <a:srgbClr val="000000"/>
                </a:solidFill>
              </a:defRPr>
            </a:pPr>
            <a:r>
              <a:rPr>
                <a:solidFill>
                  <a:srgbClr val="828893"/>
                </a:solidFill>
              </a:rPr>
              <a:t>Paris is one stock; some regional claims stay provisional.</a:t>
            </a:r>
          </a:p>
        </p:txBody>
      </p:sp>
      <p:sp>
        <p:nvSpPr>
          <p:cNvPr id="195" name="04"/>
          <p:cNvSpPr txBox="1"/>
          <p:nvPr/>
        </p:nvSpPr>
        <p:spPr>
          <a:xfrm>
            <a:off x="965199" y="6708422"/>
            <a:ext cx="889001" cy="426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2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04</a:t>
            </a:r>
          </a:p>
        </p:txBody>
      </p:sp>
      <p:sp>
        <p:nvSpPr>
          <p:cNvPr id="196" name="1,706 zero-volume rows"/>
          <p:cNvSpPr txBox="1"/>
          <p:nvPr/>
        </p:nvSpPr>
        <p:spPr>
          <a:xfrm>
            <a:off x="1955800" y="6625872"/>
            <a:ext cx="5461000" cy="4388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3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1,706 zero-volume rows</a:t>
            </a:r>
          </a:p>
        </p:txBody>
      </p:sp>
      <p:sp>
        <p:nvSpPr>
          <p:cNvPr id="197" name="R surfaced a quality issue that the first Python chart did not."/>
          <p:cNvSpPr txBox="1"/>
          <p:nvPr/>
        </p:nvSpPr>
        <p:spPr>
          <a:xfrm>
            <a:off x="1955799" y="7171972"/>
            <a:ext cx="10795002" cy="388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828893"/>
                </a:solidFill>
                <a:latin typeface="Avenir Next Regular"/>
                <a:ea typeface="Avenir Next Regular"/>
                <a:cs typeface="Avenir Next Regular"/>
                <a:sym typeface="Avenir Next Regular"/>
              </a:defRPr>
            </a:lvl1pPr>
          </a:lstStyle>
          <a:p>
            <a:pPr>
              <a:defRPr>
                <a:solidFill>
                  <a:srgbClr val="000000"/>
                </a:solidFill>
              </a:defRPr>
            </a:pPr>
            <a:r>
              <a:rPr>
                <a:solidFill>
                  <a:srgbClr val="828893"/>
                </a:solidFill>
              </a:rPr>
              <a:t>R surfaced a quality issue that the first Python chart did not.</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FINDING 1"/>
          <p:cNvSpPr txBox="1"/>
          <p:nvPr/>
        </p:nvSpPr>
        <p:spPr>
          <a:xfrm>
            <a:off x="914399" y="587022"/>
            <a:ext cx="2794001"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FINDING 1</a:t>
            </a:r>
          </a:p>
        </p:txBody>
      </p:sp>
      <p:sp>
        <p:nvSpPr>
          <p:cNvPr id="202" name="Chip and AI names pulled away"/>
          <p:cNvSpPr txBox="1"/>
          <p:nvPr/>
        </p:nvSpPr>
        <p:spPr>
          <a:xfrm>
            <a:off x="914400" y="10378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Chip and AI names pulled away</a:t>
            </a:r>
          </a:p>
        </p:txBody>
      </p:sp>
      <p:pic>
        <p:nvPicPr>
          <p:cNvPr id="203" name="figure_a_ai_rally.png" descr="figure_a_ai_rally.png"/>
          <p:cNvPicPr>
            <a:picLocks noChangeAspect="1"/>
          </p:cNvPicPr>
          <p:nvPr/>
        </p:nvPicPr>
        <p:blipFill>
          <a:blip r:embed="rId3">
            <a:extLst/>
          </a:blip>
          <a:stretch>
            <a:fillRect/>
          </a:stretch>
        </p:blipFill>
        <p:spPr>
          <a:xfrm>
            <a:off x="1079500" y="2159000"/>
            <a:ext cx="10905067" cy="6426201"/>
          </a:xfrm>
          <a:prstGeom prst="rect">
            <a:avLst/>
          </a:prstGeom>
          <a:ln w="3175">
            <a:miter lim="400000"/>
          </a:ln>
        </p:spPr>
      </p:pic>
      <p:sp>
        <p:nvSpPr>
          <p:cNvPr id="204" name="+549%"/>
          <p:cNvSpPr txBox="1"/>
          <p:nvPr/>
        </p:nvSpPr>
        <p:spPr>
          <a:xfrm>
            <a:off x="13017500" y="3622322"/>
            <a:ext cx="2413000" cy="527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8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+549%</a:t>
            </a:r>
          </a:p>
        </p:txBody>
      </p:sp>
      <p:sp>
        <p:nvSpPr>
          <p:cNvPr id="205" name="vs +168%"/>
          <p:cNvSpPr txBox="1"/>
          <p:nvPr/>
        </p:nvSpPr>
        <p:spPr>
          <a:xfrm>
            <a:off x="13017500" y="4225572"/>
            <a:ext cx="24130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EB8800"/>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EB8800"/>
                </a:solidFill>
              </a:rPr>
              <a:t>vs +168%</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FINDING 2"/>
          <p:cNvSpPr txBox="1"/>
          <p:nvPr/>
        </p:nvSpPr>
        <p:spPr>
          <a:xfrm>
            <a:off x="914399" y="587022"/>
            <a:ext cx="2794001"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FINDING 2</a:t>
            </a:r>
          </a:p>
        </p:txBody>
      </p:sp>
      <p:sp>
        <p:nvSpPr>
          <p:cNvPr id="210" name="Regional correlation rose most sharply in 2020"/>
          <p:cNvSpPr txBox="1"/>
          <p:nvPr/>
        </p:nvSpPr>
        <p:spPr>
          <a:xfrm>
            <a:off x="914400" y="10378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Regional correlation rose most sharply in 2020</a:t>
            </a:r>
          </a:p>
        </p:txBody>
      </p:sp>
      <p:pic>
        <p:nvPicPr>
          <p:cNvPr id="211" name="ec1_f_widened_basket.png" descr="ec1_f_widened_basket.png"/>
          <p:cNvPicPr>
            <a:picLocks noChangeAspect="1"/>
          </p:cNvPicPr>
          <p:nvPr/>
        </p:nvPicPr>
        <p:blipFill>
          <a:blip r:embed="rId3">
            <a:extLst/>
          </a:blip>
          <a:stretch>
            <a:fillRect/>
          </a:stretch>
        </p:blipFill>
        <p:spPr>
          <a:xfrm>
            <a:off x="863600" y="2158999"/>
            <a:ext cx="14536168" cy="5334001"/>
          </a:xfrm>
          <a:prstGeom prst="rect">
            <a:avLst/>
          </a:prstGeom>
          <a:ln w="3175">
            <a:miter lim="400000"/>
          </a:ln>
        </p:spPr>
      </p:pic>
      <p:sp>
        <p:nvSpPr>
          <p:cNvPr id="212" name="CALM 0.282"/>
          <p:cNvSpPr txBox="1"/>
          <p:nvPr/>
        </p:nvSpPr>
        <p:spPr>
          <a:xfrm>
            <a:off x="1524000" y="7794272"/>
            <a:ext cx="27940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828893"/>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828893"/>
                </a:solidFill>
              </a:rPr>
              <a:t>CALM 0.282</a:t>
            </a:r>
          </a:p>
        </p:txBody>
      </p:sp>
      <p:sp>
        <p:nvSpPr>
          <p:cNvPr id="213" name="2008 0.326"/>
          <p:cNvSpPr txBox="1"/>
          <p:nvPr/>
        </p:nvSpPr>
        <p:spPr>
          <a:xfrm>
            <a:off x="5080000" y="7794272"/>
            <a:ext cx="27940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EB8800"/>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EB8800"/>
                </a:solidFill>
              </a:rPr>
              <a:t>2008 0.326</a:t>
            </a:r>
          </a:p>
        </p:txBody>
      </p:sp>
      <p:sp>
        <p:nvSpPr>
          <p:cNvPr id="214" name="2020 0.539"/>
          <p:cNvSpPr txBox="1"/>
          <p:nvPr/>
        </p:nvSpPr>
        <p:spPr>
          <a:xfrm>
            <a:off x="8635999" y="7794272"/>
            <a:ext cx="2794001"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2020 0.539</a:t>
            </a:r>
          </a:p>
        </p:txBody>
      </p:sp>
      <p:sp>
        <p:nvSpPr>
          <p:cNvPr id="215" name="2022 0.196"/>
          <p:cNvSpPr txBox="1"/>
          <p:nvPr/>
        </p:nvSpPr>
        <p:spPr>
          <a:xfrm>
            <a:off x="12192000" y="7794272"/>
            <a:ext cx="27940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828893"/>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828893"/>
                </a:solidFill>
              </a:rPr>
              <a:t>2022 0.196</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FINDING 3"/>
          <p:cNvSpPr txBox="1"/>
          <p:nvPr/>
        </p:nvSpPr>
        <p:spPr>
          <a:xfrm>
            <a:off x="914399" y="587022"/>
            <a:ext cx="2794001"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FINDING 3</a:t>
            </a:r>
          </a:p>
        </p:txBody>
      </p:sp>
      <p:sp>
        <p:nvSpPr>
          <p:cNvPr id="220" name="Volatility peaked in 2008 and 2020"/>
          <p:cNvSpPr txBox="1"/>
          <p:nvPr/>
        </p:nvSpPr>
        <p:spPr>
          <a:xfrm>
            <a:off x="914400" y="10378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Volatility peaked in 2008 and 2020</a:t>
            </a:r>
          </a:p>
        </p:txBody>
      </p:sp>
      <p:pic>
        <p:nvPicPr>
          <p:cNvPr id="221" name="b2_monthly_absolute_return.png" descr="b2_monthly_absolute_return.png"/>
          <p:cNvPicPr>
            <a:picLocks noChangeAspect="1"/>
          </p:cNvPicPr>
          <p:nvPr/>
        </p:nvPicPr>
        <p:blipFill>
          <a:blip r:embed="rId3">
            <a:extLst/>
          </a:blip>
          <a:stretch>
            <a:fillRect/>
          </a:stretch>
        </p:blipFill>
        <p:spPr>
          <a:xfrm>
            <a:off x="2349500" y="2095500"/>
            <a:ext cx="11270500" cy="6464300"/>
          </a:xfrm>
          <a:prstGeom prst="rect">
            <a:avLst/>
          </a:prstGeom>
          <a:ln w="3175">
            <a:miter lim="400000"/>
          </a:ln>
        </p:spPr>
      </p:pic>
      <p:sp>
        <p:nvSpPr>
          <p:cNvPr id="222" name="OCT 2008  4.82%        MAR 2020  4.67%"/>
          <p:cNvSpPr txBox="1"/>
          <p:nvPr/>
        </p:nvSpPr>
        <p:spPr>
          <a:xfrm>
            <a:off x="4635500" y="8670572"/>
            <a:ext cx="82550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OCT 2008  4.82%        MAR 2020  4.67%</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DESIGN EVOLUTION"/>
          <p:cNvSpPr txBox="1"/>
          <p:nvPr/>
        </p:nvSpPr>
        <p:spPr>
          <a:xfrm>
            <a:off x="914399" y="587022"/>
            <a:ext cx="2794001"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DESIGN EVOLUTION</a:t>
            </a:r>
          </a:p>
        </p:txBody>
      </p:sp>
      <p:sp>
        <p:nvSpPr>
          <p:cNvPr id="227" name="A log scale recovered the stories hidden at the bottom"/>
          <p:cNvSpPr txBox="1"/>
          <p:nvPr/>
        </p:nvSpPr>
        <p:spPr>
          <a:xfrm>
            <a:off x="914400" y="1037872"/>
            <a:ext cx="14427200" cy="667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36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A log scale recovered the stories hidden at the bottom</a:t>
            </a:r>
          </a:p>
        </p:txBody>
      </p:sp>
      <p:sp>
        <p:nvSpPr>
          <p:cNvPr id="228" name="BEFORE"/>
          <p:cNvSpPr txBox="1"/>
          <p:nvPr/>
        </p:nvSpPr>
        <p:spPr>
          <a:xfrm>
            <a:off x="1015999" y="2028472"/>
            <a:ext cx="1905001" cy="286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400">
                <a:solidFill>
                  <a:srgbClr val="ACB1BA"/>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ACB1BA"/>
                </a:solidFill>
              </a:rPr>
              <a:t>BEFORE</a:t>
            </a:r>
          </a:p>
        </p:txBody>
      </p:sp>
      <p:sp>
        <p:nvSpPr>
          <p:cNvPr id="229" name="AFTER"/>
          <p:cNvSpPr txBox="1"/>
          <p:nvPr/>
        </p:nvSpPr>
        <p:spPr>
          <a:xfrm>
            <a:off x="8382000" y="2028472"/>
            <a:ext cx="1905000" cy="286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4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AFTER</a:t>
            </a:r>
          </a:p>
        </p:txBody>
      </p:sp>
      <p:pic>
        <p:nvPicPr>
          <p:cNvPr id="230" name="ec1_a_before.png" descr="ec1_a_before.png"/>
          <p:cNvPicPr>
            <a:picLocks noChangeAspect="1"/>
          </p:cNvPicPr>
          <p:nvPr/>
        </p:nvPicPr>
        <p:blipFill>
          <a:blip r:embed="rId3">
            <a:extLst/>
          </a:blip>
          <a:stretch>
            <a:fillRect/>
          </a:stretch>
        </p:blipFill>
        <p:spPr>
          <a:xfrm>
            <a:off x="914400" y="2438399"/>
            <a:ext cx="6708316" cy="4025901"/>
          </a:xfrm>
          <a:prstGeom prst="rect">
            <a:avLst/>
          </a:prstGeom>
          <a:ln w="3175">
            <a:miter lim="400000"/>
          </a:ln>
        </p:spPr>
      </p:pic>
      <p:pic>
        <p:nvPicPr>
          <p:cNvPr id="231" name="ec1_a_after.png" descr="ec1_a_after.png"/>
          <p:cNvPicPr>
            <a:picLocks noChangeAspect="1"/>
          </p:cNvPicPr>
          <p:nvPr/>
        </p:nvPicPr>
        <p:blipFill>
          <a:blip r:embed="rId4">
            <a:extLst/>
          </a:blip>
          <a:stretch>
            <a:fillRect/>
          </a:stretch>
        </p:blipFill>
        <p:spPr>
          <a:xfrm>
            <a:off x="8381999" y="2438400"/>
            <a:ext cx="6712871" cy="4025900"/>
          </a:xfrm>
          <a:prstGeom prst="rect">
            <a:avLst/>
          </a:prstGeom>
          <a:ln w="3175">
            <a:miter lim="400000"/>
          </a:ln>
        </p:spPr>
      </p:pic>
      <p:sp>
        <p:nvSpPr>
          <p:cNvPr id="232" name="Linear scale"/>
          <p:cNvSpPr txBox="1"/>
          <p:nvPr/>
        </p:nvSpPr>
        <p:spPr>
          <a:xfrm>
            <a:off x="914400" y="6816372"/>
            <a:ext cx="2921001" cy="413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100">
                <a:solidFill>
                  <a:srgbClr val="262D39"/>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262D39"/>
                </a:solidFill>
              </a:rPr>
              <a:t>Linear scale</a:t>
            </a:r>
          </a:p>
        </p:txBody>
      </p:sp>
      <p:sp>
        <p:nvSpPr>
          <p:cNvPr id="233" name="Four lines flatten near zero; end labels collide."/>
          <p:cNvSpPr txBox="1"/>
          <p:nvPr/>
        </p:nvSpPr>
        <p:spPr>
          <a:xfrm>
            <a:off x="914400" y="7489472"/>
            <a:ext cx="6223000" cy="3626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828893"/>
                </a:solidFill>
                <a:latin typeface="Avenir Next Regular"/>
                <a:ea typeface="Avenir Next Regular"/>
                <a:cs typeface="Avenir Next Regular"/>
                <a:sym typeface="Avenir Next Regular"/>
              </a:defRPr>
            </a:lvl1pPr>
          </a:lstStyle>
          <a:p>
            <a:pPr>
              <a:defRPr>
                <a:solidFill>
                  <a:srgbClr val="000000"/>
                </a:solidFill>
              </a:defRPr>
            </a:pPr>
            <a:r>
              <a:rPr>
                <a:solidFill>
                  <a:srgbClr val="828893"/>
                </a:solidFill>
              </a:rPr>
              <a:t>Four lines flatten near zero; end labels collide.</a:t>
            </a:r>
          </a:p>
        </p:txBody>
      </p:sp>
      <p:sp>
        <p:nvSpPr>
          <p:cNvPr id="234" name="Log scale"/>
          <p:cNvSpPr txBox="1"/>
          <p:nvPr/>
        </p:nvSpPr>
        <p:spPr>
          <a:xfrm>
            <a:off x="8382000" y="6816372"/>
            <a:ext cx="2921000" cy="4134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1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Log scale</a:t>
            </a:r>
          </a:p>
        </p:txBody>
      </p:sp>
      <p:sp>
        <p:nvSpPr>
          <p:cNvPr id="235" name="Equal distance means equal proportional change; every line remains legible."/>
          <p:cNvSpPr txBox="1"/>
          <p:nvPr/>
        </p:nvSpPr>
        <p:spPr>
          <a:xfrm>
            <a:off x="8382000" y="7330722"/>
            <a:ext cx="6477000" cy="6801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800">
                <a:solidFill>
                  <a:srgbClr val="828893"/>
                </a:solidFill>
                <a:latin typeface="Avenir Next Regular"/>
                <a:ea typeface="Avenir Next Regular"/>
                <a:cs typeface="Avenir Next Regular"/>
                <a:sym typeface="Avenir Next Regular"/>
              </a:defRPr>
            </a:lvl1pPr>
          </a:lstStyle>
          <a:p>
            <a:pPr>
              <a:defRPr>
                <a:solidFill>
                  <a:srgbClr val="000000"/>
                </a:solidFill>
              </a:defRPr>
            </a:pPr>
            <a:r>
              <a:rPr>
                <a:solidFill>
                  <a:srgbClr val="828893"/>
                </a:solidFill>
              </a:rPr>
              <a:t>Equal distance means equal proportional change; every line remains legible.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WHAT'S NEXT"/>
          <p:cNvSpPr txBox="1"/>
          <p:nvPr/>
        </p:nvSpPr>
        <p:spPr>
          <a:xfrm>
            <a:off x="914399" y="726722"/>
            <a:ext cx="2794001" cy="2737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13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WHAT'S NEXT</a:t>
            </a:r>
          </a:p>
        </p:txBody>
      </p:sp>
      <p:sp>
        <p:nvSpPr>
          <p:cNvPr id="240" name="Let the audience test…"/>
          <p:cNvSpPr txBox="1"/>
          <p:nvPr/>
        </p:nvSpPr>
        <p:spPr>
          <a:xfrm>
            <a:off x="914400" y="1251655"/>
            <a:ext cx="10795001" cy="2221090"/>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p>
            <a:pPr>
              <a:defRPr sz="4800">
                <a:latin typeface="Avenir Next Demi Bold"/>
                <a:ea typeface="Avenir Next Demi Bold"/>
                <a:cs typeface="Avenir Next Demi Bold"/>
                <a:sym typeface="Avenir Next Demi Bold"/>
              </a:defRPr>
            </a:pPr>
            <a:r>
              <a:rPr>
                <a:solidFill>
                  <a:srgbClr val="262D39"/>
                </a:solidFill>
              </a:rPr>
              <a:t>Let the audience test</a:t>
            </a:r>
            <a:endParaRPr>
              <a:solidFill>
                <a:srgbClr val="262D39"/>
              </a:solidFill>
            </a:endParaRPr>
          </a:p>
          <a:p>
            <a:pPr>
              <a:defRPr sz="4800">
                <a:latin typeface="Avenir Next Demi Bold"/>
                <a:ea typeface="Avenir Next Demi Bold"/>
                <a:cs typeface="Avenir Next Demi Bold"/>
                <a:sym typeface="Avenir Next Demi Bold"/>
              </a:defRPr>
            </a:pPr>
            <a:r>
              <a:rPr>
                <a:solidFill>
                  <a:srgbClr val="262D39"/>
                </a:solidFill>
              </a:rPr>
              <a:t>the story for themselves.</a:t>
            </a:r>
          </a:p>
        </p:txBody>
      </p:sp>
      <p:sp>
        <p:nvSpPr>
          <p:cNvPr id="241" name="Power BI / Tableau"/>
          <p:cNvSpPr txBox="1"/>
          <p:nvPr/>
        </p:nvSpPr>
        <p:spPr>
          <a:xfrm>
            <a:off x="939799" y="4212872"/>
            <a:ext cx="3810001" cy="464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400">
                <a:solidFill>
                  <a:srgbClr val="0084CE"/>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0084CE"/>
                </a:solidFill>
              </a:rPr>
              <a:t>Power BI / Tableau</a:t>
            </a:r>
          </a:p>
        </p:txBody>
      </p:sp>
      <p:sp>
        <p:nvSpPr>
          <p:cNvPr id="242" name="Filter by ticker group, region, and crisis period."/>
          <p:cNvSpPr txBox="1"/>
          <p:nvPr/>
        </p:nvSpPr>
        <p:spPr>
          <a:xfrm>
            <a:off x="939800" y="4924072"/>
            <a:ext cx="6350000" cy="3880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262D39"/>
                </a:solidFill>
                <a:latin typeface="Avenir Next Regular"/>
                <a:ea typeface="Avenir Next Regular"/>
                <a:cs typeface="Avenir Next Regular"/>
                <a:sym typeface="Avenir Next Regular"/>
              </a:defRPr>
            </a:lvl1pPr>
          </a:lstStyle>
          <a:p>
            <a:pPr>
              <a:defRPr>
                <a:solidFill>
                  <a:srgbClr val="000000"/>
                </a:solidFill>
              </a:defRPr>
            </a:pPr>
            <a:r>
              <a:rPr>
                <a:solidFill>
                  <a:srgbClr val="262D39"/>
                </a:solidFill>
              </a:rPr>
              <a:t>Filter by ticker group, region, and crisis period.</a:t>
            </a:r>
          </a:p>
        </p:txBody>
      </p:sp>
      <p:sp>
        <p:nvSpPr>
          <p:cNvPr id="243" name="R wrangling"/>
          <p:cNvSpPr txBox="1"/>
          <p:nvPr/>
        </p:nvSpPr>
        <p:spPr>
          <a:xfrm>
            <a:off x="8445500" y="4212872"/>
            <a:ext cx="3302000" cy="464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400">
                <a:solidFill>
                  <a:srgbClr val="EB8800"/>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EB8800"/>
                </a:solidFill>
              </a:rPr>
              <a:t>R wrangling</a:t>
            </a:r>
          </a:p>
        </p:txBody>
      </p:sp>
      <p:sp>
        <p:nvSpPr>
          <p:cNvPr id="244" name="Keep long-form data and month-binned dates ready for interaction."/>
          <p:cNvSpPr txBox="1"/>
          <p:nvPr/>
        </p:nvSpPr>
        <p:spPr>
          <a:xfrm>
            <a:off x="8445499" y="4866922"/>
            <a:ext cx="6350001" cy="7309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000">
                <a:solidFill>
                  <a:srgbClr val="262D39"/>
                </a:solidFill>
                <a:latin typeface="Avenir Next Regular"/>
                <a:ea typeface="Avenir Next Regular"/>
                <a:cs typeface="Avenir Next Regular"/>
                <a:sym typeface="Avenir Next Regular"/>
              </a:defRPr>
            </a:lvl1pPr>
          </a:lstStyle>
          <a:p>
            <a:pPr>
              <a:defRPr>
                <a:solidFill>
                  <a:srgbClr val="000000"/>
                </a:solidFill>
              </a:defRPr>
            </a:pPr>
            <a:r>
              <a:rPr>
                <a:solidFill>
                  <a:srgbClr val="262D39"/>
                </a:solidFill>
              </a:rPr>
              <a:t>Keep long-form data and month-binned dates ready for interaction.</a:t>
            </a:r>
          </a:p>
        </p:txBody>
      </p:sp>
      <p:sp>
        <p:nvSpPr>
          <p:cNvPr id="245" name="The goal is an interactive explanation - not a prediction model."/>
          <p:cNvSpPr txBox="1"/>
          <p:nvPr/>
        </p:nvSpPr>
        <p:spPr>
          <a:xfrm>
            <a:off x="914400" y="7425972"/>
            <a:ext cx="13716001" cy="464256"/>
          </a:xfrm>
          <a:prstGeom prst="rect">
            <a:avLst/>
          </a:prstGeom>
          <a:ln w="3175">
            <a:miter lim="400000"/>
          </a:ln>
          <a:extLst>
            <a:ext uri="{C572A759-6A51-4108-AA02-DFA0A04FC94B}">
              <ma14:wrappingTextBoxFlag xmlns:ma14="http://schemas.microsoft.com/office/mac/drawingml/2011/main" val="1"/>
            </a:ext>
          </a:extLst>
        </p:spPr>
        <p:txBody>
          <a:bodyPr lIns="22577" tIns="22577" rIns="22577" bIns="22577" anchor="ctr">
            <a:spAutoFit/>
          </a:bodyPr>
          <a:lstStyle>
            <a:lvl1pPr>
              <a:defRPr sz="2400">
                <a:solidFill>
                  <a:srgbClr val="828893"/>
                </a:solidFill>
                <a:latin typeface="Avenir Next Demi Bold"/>
                <a:ea typeface="Avenir Next Demi Bold"/>
                <a:cs typeface="Avenir Next Demi Bold"/>
                <a:sym typeface="Avenir Next Demi Bold"/>
              </a:defRPr>
            </a:lvl1pPr>
          </a:lstStyle>
          <a:p>
            <a:pPr>
              <a:defRPr>
                <a:solidFill>
                  <a:srgbClr val="000000"/>
                </a:solidFill>
              </a:defRPr>
            </a:pPr>
            <a:r>
              <a:rPr>
                <a:solidFill>
                  <a:srgbClr val="828893"/>
                </a:solidFill>
              </a:rPr>
              <a:t>The goal is an interactive explanation - not a prediction model.</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550333"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3175" cap="flat">
          <a:noFill/>
          <a:miter lim="400000"/>
        </a:ln>
        <a:effectLst/>
        <a:sp3d/>
      </a:spPr>
      <a:bodyPr rot="0" spcFirstLastPara="1" vertOverflow="overflow" horzOverflow="overflow" vert="horz" wrap="square" lIns="22577" tIns="22577" rIns="22577" bIns="22577" numCol="1" spcCol="38100" rtlCol="0" anchor="ctr" upright="0">
        <a:spAutoFit/>
      </a:bodyPr>
      <a:lstStyle>
        <a:defPPr marL="0" marR="0" indent="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550333" rtl="0" fontAlgn="auto" latinLnBrk="0" hangingPunct="0">
          <a:lnSpc>
            <a:spcPct val="100000"/>
          </a:lnSpc>
          <a:spcBef>
            <a:spcPts val="0"/>
          </a:spcBef>
          <a:spcAft>
            <a:spcPts val="0"/>
          </a:spcAft>
          <a:buClrTx/>
          <a:buSzTx/>
          <a:buFontTx/>
          <a:buNone/>
          <a:tabLst/>
          <a:defRPr b="0" baseline="0" cap="none" i="0" spc="0" strike="noStrike" sz="20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3175"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3175" cap="flat">
          <a:noFill/>
          <a:miter lim="400000"/>
        </a:ln>
        <a:effectLst/>
        <a:sp3d/>
      </a:spPr>
      <a:bodyPr rot="0" spcFirstLastPara="1" vertOverflow="overflow" horzOverflow="overflow" vert="horz" wrap="square" lIns="22577" tIns="22577" rIns="22577" bIns="22577" numCol="1" spcCol="38100" rtlCol="0" anchor="ctr" upright="0">
        <a:spAutoFit/>
      </a:bodyPr>
      <a:lstStyle>
        <a:defPPr marL="0" marR="0" indent="0" algn="l" defTabSz="550333" rtl="0" fontAlgn="auto" latinLnBrk="0" hangingPunct="0">
          <a:lnSpc>
            <a:spcPct val="100000"/>
          </a:lnSpc>
          <a:spcBef>
            <a:spcPts val="3900"/>
          </a:spcBef>
          <a:spcAft>
            <a:spcPts val="0"/>
          </a:spcAft>
          <a:buClrTx/>
          <a:buSzTx/>
          <a:buFontTx/>
          <a:buNone/>
          <a:tabLst/>
          <a:defRPr b="0" baseline="0" cap="none" i="0" spc="0" strike="noStrike" sz="32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