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6256000" cy="9144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550332" rtl="0" fontAlgn="auto" latinLnBrk="0" hangingPunct="0">
      <a:lnSpc>
        <a:spcPct val="100000"/>
      </a:lnSpc>
      <a:spcBef>
        <a:spcPts val="3900"/>
      </a:spcBef>
      <a:spcAft>
        <a:spcPts val="0"/>
      </a:spcAft>
      <a:buClrTx/>
      <a:buSzTx/>
      <a:buFontTx/>
      <a:buNone/>
      <a:tabLst/>
      <a:defRPr b="0" baseline="0" cap="none" i="0" spc="0" strike="noStrike" sz="3200" u="none" kumimoji="0" normalizeH="0">
        <a:ln>
          <a:noFill/>
        </a:ln>
        <a:solidFill>
          <a:srgbClr val="000000"/>
        </a:solidFill>
        <a:effectLst/>
        <a:uFillTx/>
        <a:latin typeface="Helvetica Neue Medium"/>
        <a:ea typeface="Helvetica Neue Medium"/>
        <a:cs typeface="Helvetica Neue Medium"/>
        <a:sym typeface="Helvetica Neue Medium"/>
      </a:defRPr>
    </a:lvl1pPr>
    <a:lvl2pPr marL="0" marR="0" indent="0" algn="l" defTabSz="550332" rtl="0" fontAlgn="auto" latinLnBrk="0" hangingPunct="0">
      <a:lnSpc>
        <a:spcPct val="100000"/>
      </a:lnSpc>
      <a:spcBef>
        <a:spcPts val="3900"/>
      </a:spcBef>
      <a:spcAft>
        <a:spcPts val="0"/>
      </a:spcAft>
      <a:buClrTx/>
      <a:buSzTx/>
      <a:buFontTx/>
      <a:buNone/>
      <a:tabLst/>
      <a:defRPr b="0" baseline="0" cap="none" i="0" spc="0" strike="noStrike" sz="3200" u="none" kumimoji="0" normalizeH="0">
        <a:ln>
          <a:noFill/>
        </a:ln>
        <a:solidFill>
          <a:srgbClr val="000000"/>
        </a:solidFill>
        <a:effectLst/>
        <a:uFillTx/>
        <a:latin typeface="Helvetica Neue Medium"/>
        <a:ea typeface="Helvetica Neue Medium"/>
        <a:cs typeface="Helvetica Neue Medium"/>
        <a:sym typeface="Helvetica Neue Medium"/>
      </a:defRPr>
    </a:lvl2pPr>
    <a:lvl3pPr marL="0" marR="0" indent="0" algn="l" defTabSz="550332" rtl="0" fontAlgn="auto" latinLnBrk="0" hangingPunct="0">
      <a:lnSpc>
        <a:spcPct val="100000"/>
      </a:lnSpc>
      <a:spcBef>
        <a:spcPts val="3900"/>
      </a:spcBef>
      <a:spcAft>
        <a:spcPts val="0"/>
      </a:spcAft>
      <a:buClrTx/>
      <a:buSzTx/>
      <a:buFontTx/>
      <a:buNone/>
      <a:tabLst/>
      <a:defRPr b="0" baseline="0" cap="none" i="0" spc="0" strike="noStrike" sz="3200" u="none" kumimoji="0" normalizeH="0">
        <a:ln>
          <a:noFill/>
        </a:ln>
        <a:solidFill>
          <a:srgbClr val="000000"/>
        </a:solidFill>
        <a:effectLst/>
        <a:uFillTx/>
        <a:latin typeface="Helvetica Neue Medium"/>
        <a:ea typeface="Helvetica Neue Medium"/>
        <a:cs typeface="Helvetica Neue Medium"/>
        <a:sym typeface="Helvetica Neue Medium"/>
      </a:defRPr>
    </a:lvl3pPr>
    <a:lvl4pPr marL="0" marR="0" indent="0" algn="l" defTabSz="550332" rtl="0" fontAlgn="auto" latinLnBrk="0" hangingPunct="0">
      <a:lnSpc>
        <a:spcPct val="100000"/>
      </a:lnSpc>
      <a:spcBef>
        <a:spcPts val="3900"/>
      </a:spcBef>
      <a:spcAft>
        <a:spcPts val="0"/>
      </a:spcAft>
      <a:buClrTx/>
      <a:buSzTx/>
      <a:buFontTx/>
      <a:buNone/>
      <a:tabLst/>
      <a:defRPr b="0" baseline="0" cap="none" i="0" spc="0" strike="noStrike" sz="3200" u="none" kumimoji="0" normalizeH="0">
        <a:ln>
          <a:noFill/>
        </a:ln>
        <a:solidFill>
          <a:srgbClr val="000000"/>
        </a:solidFill>
        <a:effectLst/>
        <a:uFillTx/>
        <a:latin typeface="Helvetica Neue Medium"/>
        <a:ea typeface="Helvetica Neue Medium"/>
        <a:cs typeface="Helvetica Neue Medium"/>
        <a:sym typeface="Helvetica Neue Medium"/>
      </a:defRPr>
    </a:lvl4pPr>
    <a:lvl5pPr marL="0" marR="0" indent="0" algn="l" defTabSz="550332" rtl="0" fontAlgn="auto" latinLnBrk="0" hangingPunct="0">
      <a:lnSpc>
        <a:spcPct val="100000"/>
      </a:lnSpc>
      <a:spcBef>
        <a:spcPts val="3900"/>
      </a:spcBef>
      <a:spcAft>
        <a:spcPts val="0"/>
      </a:spcAft>
      <a:buClrTx/>
      <a:buSzTx/>
      <a:buFontTx/>
      <a:buNone/>
      <a:tabLst/>
      <a:defRPr b="0" baseline="0" cap="none" i="0" spc="0" strike="noStrike" sz="3200" u="none" kumimoji="0" normalizeH="0">
        <a:ln>
          <a:noFill/>
        </a:ln>
        <a:solidFill>
          <a:srgbClr val="000000"/>
        </a:solidFill>
        <a:effectLst/>
        <a:uFillTx/>
        <a:latin typeface="Helvetica Neue Medium"/>
        <a:ea typeface="Helvetica Neue Medium"/>
        <a:cs typeface="Helvetica Neue Medium"/>
        <a:sym typeface="Helvetica Neue Medium"/>
      </a:defRPr>
    </a:lvl5pPr>
    <a:lvl6pPr marL="0" marR="0" indent="0" algn="l" defTabSz="550332" rtl="0" fontAlgn="auto" latinLnBrk="0" hangingPunct="0">
      <a:lnSpc>
        <a:spcPct val="100000"/>
      </a:lnSpc>
      <a:spcBef>
        <a:spcPts val="3900"/>
      </a:spcBef>
      <a:spcAft>
        <a:spcPts val="0"/>
      </a:spcAft>
      <a:buClrTx/>
      <a:buSzTx/>
      <a:buFontTx/>
      <a:buNone/>
      <a:tabLst/>
      <a:defRPr b="0" baseline="0" cap="none" i="0" spc="0" strike="noStrike" sz="3200" u="none" kumimoji="0" normalizeH="0">
        <a:ln>
          <a:noFill/>
        </a:ln>
        <a:solidFill>
          <a:srgbClr val="000000"/>
        </a:solidFill>
        <a:effectLst/>
        <a:uFillTx/>
        <a:latin typeface="Helvetica Neue Medium"/>
        <a:ea typeface="Helvetica Neue Medium"/>
        <a:cs typeface="Helvetica Neue Medium"/>
        <a:sym typeface="Helvetica Neue Medium"/>
      </a:defRPr>
    </a:lvl6pPr>
    <a:lvl7pPr marL="0" marR="0" indent="0" algn="l" defTabSz="550332" rtl="0" fontAlgn="auto" latinLnBrk="0" hangingPunct="0">
      <a:lnSpc>
        <a:spcPct val="100000"/>
      </a:lnSpc>
      <a:spcBef>
        <a:spcPts val="3900"/>
      </a:spcBef>
      <a:spcAft>
        <a:spcPts val="0"/>
      </a:spcAft>
      <a:buClrTx/>
      <a:buSzTx/>
      <a:buFontTx/>
      <a:buNone/>
      <a:tabLst/>
      <a:defRPr b="0" baseline="0" cap="none" i="0" spc="0" strike="noStrike" sz="3200" u="none" kumimoji="0" normalizeH="0">
        <a:ln>
          <a:noFill/>
        </a:ln>
        <a:solidFill>
          <a:srgbClr val="000000"/>
        </a:solidFill>
        <a:effectLst/>
        <a:uFillTx/>
        <a:latin typeface="Helvetica Neue Medium"/>
        <a:ea typeface="Helvetica Neue Medium"/>
        <a:cs typeface="Helvetica Neue Medium"/>
        <a:sym typeface="Helvetica Neue Medium"/>
      </a:defRPr>
    </a:lvl7pPr>
    <a:lvl8pPr marL="0" marR="0" indent="0" algn="l" defTabSz="550332" rtl="0" fontAlgn="auto" latinLnBrk="0" hangingPunct="0">
      <a:lnSpc>
        <a:spcPct val="100000"/>
      </a:lnSpc>
      <a:spcBef>
        <a:spcPts val="3900"/>
      </a:spcBef>
      <a:spcAft>
        <a:spcPts val="0"/>
      </a:spcAft>
      <a:buClrTx/>
      <a:buSzTx/>
      <a:buFontTx/>
      <a:buNone/>
      <a:tabLst/>
      <a:defRPr b="0" baseline="0" cap="none" i="0" spc="0" strike="noStrike" sz="3200" u="none" kumimoji="0" normalizeH="0">
        <a:ln>
          <a:noFill/>
        </a:ln>
        <a:solidFill>
          <a:srgbClr val="000000"/>
        </a:solidFill>
        <a:effectLst/>
        <a:uFillTx/>
        <a:latin typeface="Helvetica Neue Medium"/>
        <a:ea typeface="Helvetica Neue Medium"/>
        <a:cs typeface="Helvetica Neue Medium"/>
        <a:sym typeface="Helvetica Neue Medium"/>
      </a:defRPr>
    </a:lvl8pPr>
    <a:lvl9pPr marL="0" marR="0" indent="0" algn="l" defTabSz="550332" rtl="0" fontAlgn="auto" latinLnBrk="0" hangingPunct="0">
      <a:lnSpc>
        <a:spcPct val="100000"/>
      </a:lnSpc>
      <a:spcBef>
        <a:spcPts val="3900"/>
      </a:spcBef>
      <a:spcAft>
        <a:spcPts val="0"/>
      </a:spcAft>
      <a:buClrTx/>
      <a:buSzTx/>
      <a:buFontTx/>
      <a:buNone/>
      <a:tabLst/>
      <a:defRPr b="0" baseline="0" cap="none" i="0" spc="0" strike="noStrike" sz="3200" u="none" kumimoji="0" normalizeH="0">
        <a:ln>
          <a:noFill/>
        </a:ln>
        <a:solidFill>
          <a:srgbClr val="000000"/>
        </a:solidFill>
        <a:effectLst/>
        <a:uFillTx/>
        <a:latin typeface="Helvetica Neue Medium"/>
        <a:ea typeface="Helvetica Neue Medium"/>
        <a:cs typeface="Helvetica Neue Medium"/>
        <a:sym typeface="Helvetica Neue Medium"/>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Helvetica Neue Medium"/>
          <a:ea typeface="Helvetica Neue Medium"/>
          <a:cs typeface="Helvetica Neue Medium"/>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b="def" i="def"/>
      <a:tcStyle>
        <a:tcBdr/>
        <a:fill>
          <a:solidFill>
            <a:srgbClr val="E3E5E8"/>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076BA"/>
          </a:solidFill>
        </a:fill>
      </a:tcStyle>
    </a:firstCol>
    <a:lastRow>
      <a:tcTxStyle b="off" i="off">
        <a:font>
          <a:latin typeface="Helvetica Neue Medium"/>
          <a:ea typeface="Helvetica Neue Medium"/>
          <a:cs typeface="Helvetica Neue Medium"/>
        </a:font>
        <a:srgbClr val="000000"/>
      </a:tcTxStyle>
      <a:tcStyle>
        <a:tcBdr>
          <a:left>
            <a:ln w="12700" cap="flat">
              <a:noFill/>
              <a:miter lim="400000"/>
            </a:ln>
          </a:left>
          <a:right>
            <a:ln w="12700" cap="flat">
              <a:noFill/>
              <a:miter lim="400000"/>
            </a:ln>
          </a:right>
          <a:top>
            <a:ln w="3175"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04D80"/>
          </a:solidFill>
        </a:fill>
      </a:tcStyle>
    </a:firstRow>
  </a:tblStyle>
  <a:tblStyle styleId="{C7B018BB-80A7-4F77-B60F-C8B233D01FF8}" styleName="">
    <a:tblBg/>
    <a:wholeTbl>
      <a:tcTxStyle b="off" i="off">
        <a:font>
          <a:latin typeface="Helvetica Neue Medium"/>
          <a:ea typeface="Helvetica Neue Medium"/>
          <a:cs typeface="Helvetica Neue Medium"/>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FFF"/>
          </a:solidFill>
        </a:fill>
      </a:tcStyle>
    </a:wholeTbl>
    <a:band2H>
      <a:tcTxStyle b="def" i="def"/>
      <a:tcStyle>
        <a:tcBdr/>
        <a:fill>
          <a:solidFill>
            <a:srgbClr val="E6F0FF"/>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
          <a:latin typeface="Helvetica Neue Medium"/>
          <a:ea typeface="Helvetica Neue Medium"/>
          <a:cs typeface="Helvetica Neue Medium"/>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1F0CC"/>
          </a:solidFill>
        </a:fill>
      </a:tcStyle>
    </a:wholeTbl>
    <a:band2H>
      <a:tcTxStyle b="def" i="def"/>
      <a:tcStyle>
        <a:tcBdr/>
        <a:fill>
          <a:solidFill>
            <a:srgbClr val="EAF8E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
          <a:latin typeface="Helvetica Neue Medium"/>
          <a:ea typeface="Helvetica Neue Medium"/>
          <a:cs typeface="Helvetica Neue Medium"/>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9D1E1"/>
          </a:solidFill>
        </a:fill>
      </a:tcStyle>
    </a:wholeTbl>
    <a:band2H>
      <a:tcTxStyle b="def" i="def"/>
      <a:tcStyle>
        <a:tcBdr/>
        <a:fill>
          <a:solidFill>
            <a:srgbClr val="FCE9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
          <a:latin typeface="Helvetica Neue Medium"/>
          <a:ea typeface="Helvetica Neue Medium"/>
          <a:cs typeface="Helvetica Neue Medium"/>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
          <a:latin typeface="Helvetica Neue Medium"/>
          <a:ea typeface="Helvetica Neue Medium"/>
          <a:cs typeface="Helvetica Neue Medium"/>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34" name="Shape 134"/>
          <p:cNvSpPr/>
          <p:nvPr>
            <p:ph type="sldImg"/>
          </p:nvPr>
        </p:nvSpPr>
        <p:spPr>
          <a:xfrm>
            <a:off x="1143000" y="685800"/>
            <a:ext cx="4572000" cy="3429000"/>
          </a:xfrm>
          <a:prstGeom prst="rect">
            <a:avLst/>
          </a:prstGeom>
        </p:spPr>
        <p:txBody>
          <a:bodyPr/>
          <a:lstStyle/>
          <a:p>
            <a:pPr/>
          </a:p>
        </p:txBody>
      </p:sp>
      <p:sp>
        <p:nvSpPr>
          <p:cNvPr id="135" name="Shape 135"/>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2" name="Shape 152"/>
          <p:cNvSpPr/>
          <p:nvPr>
            <p:ph type="sldImg"/>
          </p:nvPr>
        </p:nvSpPr>
        <p:spPr>
          <a:prstGeom prst="rect">
            <a:avLst/>
          </a:prstGeom>
        </p:spPr>
        <p:txBody>
          <a:bodyPr/>
          <a:lstStyle/>
          <a:p>
            <a:pPr/>
          </a:p>
        </p:txBody>
      </p:sp>
      <p:sp>
        <p:nvSpPr>
          <p:cNvPr id="153" name="Shape 153"/>
          <p:cNvSpPr/>
          <p:nvPr>
            <p:ph type="body" sz="quarter" idx="1"/>
          </p:nvPr>
        </p:nvSpPr>
        <p:spPr>
          <a:prstGeom prst="rect">
            <a:avLst/>
          </a:prstGeom>
        </p:spPr>
        <p:txBody>
          <a:bodyPr/>
          <a:lstStyle/>
          <a:p>
            <a:pPr/>
            <a:r>
              <a:t>Open with the umbrella question. Explain that the project is not forecasting prices; it tests whether apparent diversification remains meaningful across technology groups and crisis periods.</a:t>
            </a:r>
          </a:p>
          <a:p>
            <a:pPr/>
          </a:p>
          <a:p>
            <a:pPr/>
            <a:r>
              <a:t>[Sources]</a:t>
            </a:r>
          </a:p>
          <a:p>
            <a:pPr/>
            <a:r>
              <a:t>Local dataset: data/stock_data.csv. Assignment brief: half-way-presentation/docs/assignment/Project_Status_Presentation.pdf</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7" name="Shape 167"/>
          <p:cNvSpPr/>
          <p:nvPr>
            <p:ph type="sldImg"/>
          </p:nvPr>
        </p:nvSpPr>
        <p:spPr>
          <a:prstGeom prst="rect">
            <a:avLst/>
          </a:prstGeom>
        </p:spPr>
        <p:txBody>
          <a:bodyPr/>
          <a:lstStyle/>
          <a:p>
            <a:pPr/>
          </a:p>
        </p:txBody>
      </p:sp>
      <p:sp>
        <p:nvSpPr>
          <p:cNvPr id="168" name="Shape 168"/>
          <p:cNvSpPr/>
          <p:nvPr>
            <p:ph type="body" sz="quarter" idx="1"/>
          </p:nvPr>
        </p:nvSpPr>
        <p:spPr>
          <a:prstGeom prst="rect">
            <a:avLst/>
          </a:prstGeom>
        </p:spPr>
        <p:txBody>
          <a:bodyPr/>
          <a:lstStyle/>
          <a:p>
            <a:pPr/>
            <a:r>
              <a:t>Walk through one row: date, company identifier, a daily opening value, adjusted closing value, and number of shares traded. Point out the Samsung row to show why raw levels across currencies are not comparable.</a:t>
            </a:r>
          </a:p>
          <a:p>
            <a:pPr/>
          </a:p>
          <a:p>
            <a:pPr/>
            <a:r>
              <a:t>[Sources]</a:t>
            </a:r>
          </a:p>
          <a:p>
            <a:pPr/>
            <a:r>
              <a:t>Local dataset: data/stock_data.csv. Shape, date range, missing-value count, and example rows verified directly from the CSV on 2026-08-25.</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7" name="Shape 177"/>
          <p:cNvSpPr/>
          <p:nvPr>
            <p:ph type="sldImg"/>
          </p:nvPr>
        </p:nvSpPr>
        <p:spPr>
          <a:prstGeom prst="rect">
            <a:avLst/>
          </a:prstGeom>
        </p:spPr>
        <p:txBody>
          <a:bodyPr/>
          <a:lstStyle/>
          <a:p>
            <a:pPr/>
          </a:p>
        </p:txBody>
      </p:sp>
      <p:sp>
        <p:nvSpPr>
          <p:cNvPr id="178" name="Shape 178"/>
          <p:cNvSpPr/>
          <p:nvPr>
            <p:ph type="body" sz="quarter" idx="1"/>
          </p:nvPr>
        </p:nvSpPr>
        <p:spPr>
          <a:prstGeom prst="rect">
            <a:avLst/>
          </a:prstGeom>
        </p:spPr>
        <p:txBody>
          <a:bodyPr/>
          <a:lstStyle/>
          <a:p>
            <a:pPr/>
            <a:r>
              <a:t>Keep this fast. Emphasize only three ideas: ticker identifies the company and exchange, adjusted close is used for return calculations, and volume measures activity rather than value.</a:t>
            </a:r>
          </a:p>
          <a:p>
            <a:pPr/>
          </a:p>
          <a:p>
            <a:pPr/>
            <a:r>
              <a:t>[Sources]</a:t>
            </a:r>
          </a:p>
          <a:p>
            <a:pPr/>
            <a:r>
              <a:t>Column definitions are documented in assignment_2/analysis.ipynb and verified against data/stock_data.csv.</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5" name="Shape 195"/>
          <p:cNvSpPr/>
          <p:nvPr>
            <p:ph type="sldImg"/>
          </p:nvPr>
        </p:nvSpPr>
        <p:spPr>
          <a:prstGeom prst="rect">
            <a:avLst/>
          </a:prstGeom>
        </p:spPr>
        <p:txBody>
          <a:bodyPr/>
          <a:lstStyle/>
          <a:p>
            <a:pPr/>
          </a:p>
        </p:txBody>
      </p:sp>
      <p:sp>
        <p:nvSpPr>
          <p:cNvPr id="196" name="Shape 196"/>
          <p:cNvSpPr/>
          <p:nvPr>
            <p:ph type="body" sz="quarter" idx="1"/>
          </p:nvPr>
        </p:nvSpPr>
        <p:spPr>
          <a:prstGeom prst="rect">
            <a:avLst/>
          </a:prstGeom>
        </p:spPr>
        <p:txBody>
          <a:bodyPr/>
          <a:lstStyle/>
          <a:p>
            <a:pPr/>
            <a:r>
              <a:t>Explain why a complete file can still be biased. The United States dominates the row count. Some exchanges have different holidays and some companies list later. We therefore use returns or rebased values, not raw cross-currency prices.</a:t>
            </a:r>
          </a:p>
          <a:p>
            <a:pPr/>
          </a:p>
          <a:p>
            <a:pPr/>
            <a:r>
              <a:t>[Sources]</a:t>
            </a:r>
          </a:p>
          <a:p>
            <a:pPr/>
            <a:r>
              <a:t>Market-count chart: assignment_4/figures/fig2_market_counts.png. Data audit from data/stock_data.csv: 0 missing values, 0 duplicate Date–Ticker pairs, and 1,706 zero-volume rows.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0" name="Shape 220"/>
          <p:cNvSpPr/>
          <p:nvPr>
            <p:ph type="sldImg"/>
          </p:nvPr>
        </p:nvSpPr>
        <p:spPr>
          <a:prstGeom prst="rect">
            <a:avLst/>
          </a:prstGeom>
        </p:spPr>
        <p:txBody>
          <a:bodyPr/>
          <a:lstStyle/>
          <a:p>
            <a:pPr/>
          </a:p>
        </p:txBody>
      </p:sp>
      <p:sp>
        <p:nvSpPr>
          <p:cNvPr id="221" name="Shape 221"/>
          <p:cNvSpPr/>
          <p:nvPr>
            <p:ph type="body" sz="quarter" idx="1"/>
          </p:nvPr>
        </p:nvSpPr>
        <p:spPr>
          <a:prstGeom prst="rect">
            <a:avLst/>
          </a:prstGeom>
        </p:spPr>
        <p:txBody>
          <a:bodyPr/>
          <a:lstStyle/>
          <a:p>
            <a:pPr/>
            <a:r>
              <a:t>Introduce the definitions before the hypotheses. The technology test compares two selected groups. The crisis test compares a calm baseline with three different market episodes: the 2008 global financial crisis, the rapid COVID-19 crash, and the slower 2022 drawdown. Correlation closer to one means regional returns moved together more strongly.</a:t>
            </a:r>
          </a:p>
          <a:p>
            <a:pPr/>
          </a:p>
          <a:p>
            <a:pPr/>
            <a:r>
              <a:t>[Sources]</a:t>
            </a:r>
          </a:p>
          <a:p>
            <a:pPr/>
            <a:r>
              <a:t>Group and period definitions: assignment_3/analysis.ipynb and extra_credit_1/analysis.ipynb.</a:t>
            </a:r>
          </a:p>
          <a:p>
            <a:pPr/>
            <a:r>
              <a:t>Dataset: data/stock_data.csv.</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9" name="Shape 239"/>
          <p:cNvSpPr/>
          <p:nvPr>
            <p:ph type="sldImg"/>
          </p:nvPr>
        </p:nvSpPr>
        <p:spPr>
          <a:prstGeom prst="rect">
            <a:avLst/>
          </a:prstGeom>
        </p:spPr>
        <p:txBody>
          <a:bodyPr/>
          <a:lstStyle/>
          <a:p>
            <a:pPr/>
          </a:p>
        </p:txBody>
      </p:sp>
      <p:sp>
        <p:nvSpPr>
          <p:cNvPr id="240" name="Shape 240"/>
          <p:cNvSpPr/>
          <p:nvPr>
            <p:ph type="body" sz="quarter" idx="1"/>
          </p:nvPr>
        </p:nvSpPr>
        <p:spPr>
          <a:prstGeom prst="rect">
            <a:avLst/>
          </a:prstGeom>
        </p:spPr>
        <p:txBody>
          <a:bodyPr/>
          <a:lstStyle/>
          <a:p>
            <a:pPr/>
            <a:r>
              <a:t>Present H1 to H3 as a chain, not three unrelated questions. Preis et al. motivates the crisis-correlation test. Morningstar motivates examining semiconductor leadership. J.P. Morgan prevents us from overgeneralizing the seven-stock AI group to the entire AI economy.</a:t>
            </a:r>
          </a:p>
          <a:p>
            <a:pPr/>
          </a:p>
          <a:p>
            <a:pPr/>
            <a:r>
              <a:t>[Sources]</a:t>
            </a:r>
          </a:p>
          <a:p>
            <a:pPr/>
            <a:r>
              <a:t>Preis et al. (2012): https://www.nature.com/articles/srep00752</a:t>
            </a:r>
          </a:p>
          <a:p>
            <a:pPr/>
            <a:r>
              <a:t>Morningstar (2026): https://www.morningstar.com/stocks/three-years-ai-stock-market-boom-charts</a:t>
            </a:r>
          </a:p>
          <a:p>
            <a:pPr/>
            <a:r>
              <a:t>J.P. Morgan (2026): https://www.jpmorgan.com/insights/markets-and-economy/top-market-takeaways/tmt-is-it-all-one-big-ai-trade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4" name="Shape 264"/>
          <p:cNvSpPr/>
          <p:nvPr>
            <p:ph type="sldImg"/>
          </p:nvPr>
        </p:nvSpPr>
        <p:spPr>
          <a:prstGeom prst="rect">
            <a:avLst/>
          </a:prstGeom>
        </p:spPr>
        <p:txBody>
          <a:bodyPr/>
          <a:lstStyle/>
          <a:p>
            <a:pPr/>
          </a:p>
        </p:txBody>
      </p:sp>
      <p:sp>
        <p:nvSpPr>
          <p:cNvPr id="265" name="Shape 265"/>
          <p:cNvSpPr/>
          <p:nvPr>
            <p:ph type="body" sz="quarter" idx="1"/>
          </p:nvPr>
        </p:nvSpPr>
        <p:spPr>
          <a:prstGeom prst="rect">
            <a:avLst/>
          </a:prstGeom>
        </p:spPr>
        <p:txBody>
          <a:bodyPr/>
          <a:lstStyle/>
          <a:p>
            <a:pPr/>
            <a:r>
              <a:t>Explain the pipeline in order. The important analytical choice is to compute returns or indexed performance before comparing tickers. R then produces the long-form and monthly tables needed for the dashboard.</a:t>
            </a:r>
          </a:p>
          <a:p>
            <a:pPr/>
          </a:p>
          <a:p>
            <a:pPr/>
            <a:r>
              <a:t>[Sources]</a:t>
            </a:r>
          </a:p>
          <a:p>
            <a:pPr/>
            <a:r>
              <a:t>Python workflow: assignment_2/analysis.ipynb, assignment_3/analysis.ipynb, extra_credit_1/analysis.ipynb. R workflow: assignment_4/analysis.R and assignment_5/part_2/analysis.R.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2" name="Shape 282"/>
          <p:cNvSpPr/>
          <p:nvPr>
            <p:ph type="sldImg"/>
          </p:nvPr>
        </p:nvSpPr>
        <p:spPr>
          <a:prstGeom prst="rect">
            <a:avLst/>
          </a:prstGeom>
        </p:spPr>
        <p:txBody>
          <a:bodyPr/>
          <a:lstStyle/>
          <a:p>
            <a:pPr/>
          </a:p>
        </p:txBody>
      </p:sp>
      <p:sp>
        <p:nvSpPr>
          <p:cNvPr id="283" name="Shape 283"/>
          <p:cNvSpPr/>
          <p:nvPr>
            <p:ph type="body" sz="quarter" idx="1"/>
          </p:nvPr>
        </p:nvSpPr>
        <p:spPr>
          <a:prstGeom prst="rect">
            <a:avLst/>
          </a:prstGeom>
        </p:spPr>
        <p:txBody>
          <a:bodyPr/>
          <a:lstStyle/>
          <a:p>
            <a:pPr/>
            <a:r>
              <a:t>Lead with the visual gap, then the group-level returns and statistical check. State the boundary carefully: the selected seven chip/AI stocks outperformed the selected eight broader-tech stocks. This does not prove the whole AI economy is narrow.</a:t>
            </a:r>
          </a:p>
          <a:p>
            <a:pPr/>
          </a:p>
          <a:p>
            <a:pPr/>
            <a:r>
              <a:t>[Sources]</a:t>
            </a:r>
          </a:p>
          <a:p>
            <a:pPr/>
            <a:r>
              <a:t>Chart: assignment_3/figures/figure_a_ai_rally.png. Statistical check: extra_credit_1 output. Local dataset: data/stock_data.csv.</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0" name="Shape 300"/>
          <p:cNvSpPr/>
          <p:nvPr>
            <p:ph type="sldImg"/>
          </p:nvPr>
        </p:nvSpPr>
        <p:spPr>
          <a:prstGeom prst="rect">
            <a:avLst/>
          </a:prstGeom>
        </p:spPr>
        <p:txBody>
          <a:bodyPr/>
          <a:lstStyle/>
          <a:p>
            <a:pPr/>
          </a:p>
        </p:txBody>
      </p:sp>
      <p:sp>
        <p:nvSpPr>
          <p:cNvPr id="301" name="Shape 301"/>
          <p:cNvSpPr/>
          <p:nvPr>
            <p:ph type="body" sz="quarter" idx="1"/>
          </p:nvPr>
        </p:nvSpPr>
        <p:spPr>
          <a:prstGeom prst="rect">
            <a:avLst/>
          </a:prstGeom>
        </p:spPr>
        <p:txBody>
          <a:bodyPr/>
          <a:lstStyle/>
          <a:p>
            <a:pPr/>
            <a:r>
              <a:t>Explain correlation in one sentence: values closer to one mean regions move more together. The widened basket lifts 2008 from about 0.25 to 0.326 and leaves 2020 as the clearest diversification failure. Keep the regional-coverage limitation visible.</a:t>
            </a:r>
          </a:p>
          <a:p>
            <a:pPr/>
          </a:p>
          <a:p>
            <a:pPr/>
            <a:r>
              <a:t>[Sources]</a:t>
            </a:r>
          </a:p>
          <a:p>
            <a:pPr/>
            <a:r>
              <a:t>Chart: extra_credit_1/figures/ec1_f_widened_basket.png. Calculations use data/stock_data.csv and the widened-basket method documented in extra_credit_1.</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5" name="Shape 315"/>
          <p:cNvSpPr/>
          <p:nvPr>
            <p:ph type="sldImg"/>
          </p:nvPr>
        </p:nvSpPr>
        <p:spPr>
          <a:prstGeom prst="rect">
            <a:avLst/>
          </a:prstGeom>
        </p:spPr>
        <p:txBody>
          <a:bodyPr/>
          <a:lstStyle/>
          <a:p>
            <a:pPr/>
          </a:p>
        </p:txBody>
      </p:sp>
      <p:sp>
        <p:nvSpPr>
          <p:cNvPr id="316" name="Shape 316"/>
          <p:cNvSpPr/>
          <p:nvPr>
            <p:ph type="body" sz="quarter" idx="1"/>
          </p:nvPr>
        </p:nvSpPr>
        <p:spPr>
          <a:prstGeom prst="rect">
            <a:avLst/>
          </a:prstGeom>
        </p:spPr>
        <p:txBody>
          <a:bodyPr/>
          <a:lstStyle/>
          <a:p>
            <a:pPr/>
            <a:r>
              <a:t>The chart is a separate R-based check. October 2008 and March 2020 are the two largest monthly volatility spikes. This supports the panic-period story without relying on the regional-correlation basket.</a:t>
            </a:r>
          </a:p>
          <a:p>
            <a:pPr/>
          </a:p>
          <a:p>
            <a:pPr/>
            <a:r>
              <a:t>[Sources]</a:t>
            </a:r>
          </a:p>
          <a:p>
            <a:pPr/>
            <a:r>
              <a:t>Chart: assignment_5/part_2/figures/b2_monthly_absolute_return.png. Monthly bins created in R with lubridate::floor_date(); source data/stock_data.csv.</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1" name="Shape 331"/>
          <p:cNvSpPr/>
          <p:nvPr>
            <p:ph type="sldImg"/>
          </p:nvPr>
        </p:nvSpPr>
        <p:spPr>
          <a:prstGeom prst="rect">
            <a:avLst/>
          </a:prstGeom>
        </p:spPr>
        <p:txBody>
          <a:bodyPr/>
          <a:lstStyle/>
          <a:p>
            <a:pPr/>
          </a:p>
        </p:txBody>
      </p:sp>
      <p:sp>
        <p:nvSpPr>
          <p:cNvPr id="332" name="Shape 332"/>
          <p:cNvSpPr/>
          <p:nvPr>
            <p:ph type="body" sz="quarter" idx="1"/>
          </p:nvPr>
        </p:nvSpPr>
        <p:spPr>
          <a:prstGeom prst="rect">
            <a:avLst/>
          </a:prstGeom>
        </p:spPr>
        <p:txBody>
          <a:bodyPr/>
          <a:lstStyle/>
          <a:p>
            <a:pPr/>
            <a:r>
              <a:t>This slide is explicitly about design principles, not decoration. On a linear axis, extreme absolute growth compresses the other lines. A log axis makes proportional changes comparable. Direct labels and fewer spines reduce search effort and non-data ink.</a:t>
            </a:r>
          </a:p>
          <a:p>
            <a:pPr/>
          </a:p>
          <a:p>
            <a:pPr/>
            <a:r>
              <a:t>[Sources]</a:t>
            </a:r>
          </a:p>
          <a:p>
            <a:pPr/>
            <a:r>
              <a:t>Before/after charts: extra_credit_1/figures/ec1_a_before.png and extra_credit_1/figures/ec1_a_after.png. Both use data/stock_data.csv.</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0" name="Shape 350"/>
          <p:cNvSpPr/>
          <p:nvPr>
            <p:ph type="sldImg"/>
          </p:nvPr>
        </p:nvSpPr>
        <p:spPr>
          <a:prstGeom prst="rect">
            <a:avLst/>
          </a:prstGeom>
        </p:spPr>
        <p:txBody>
          <a:bodyPr/>
          <a:lstStyle/>
          <a:p>
            <a:pPr/>
          </a:p>
        </p:txBody>
      </p:sp>
      <p:sp>
        <p:nvSpPr>
          <p:cNvPr id="351" name="Shape 351"/>
          <p:cNvSpPr/>
          <p:nvPr>
            <p:ph type="body" sz="quarter" idx="1"/>
          </p:nvPr>
        </p:nvSpPr>
        <p:spPr>
          <a:prstGeom prst="rect">
            <a:avLst/>
          </a:prstGeom>
        </p:spPr>
        <p:txBody>
          <a:bodyPr/>
          <a:lstStyle/>
          <a:p>
            <a:pPr/>
            <a:r>
              <a:t>Resolve the opening question directly. The dataset shows diversification, but technology gains and crisis co-movement make it thinner than the surface suggests. Finish with the boundary: this is descriptive evidence, not causal proof or a forecast.</a:t>
            </a:r>
          </a:p>
          <a:p>
            <a:pPr/>
          </a:p>
          <a:p>
            <a:pPr/>
            <a:r>
              <a:t>[Sources]</a:t>
            </a:r>
          </a:p>
          <a:p>
            <a:pPr/>
            <a:r>
              <a:t>Synthesis of slides 7–9 using data/stock_data.csv and the cited project outputs.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8" name="Shape 368"/>
          <p:cNvSpPr/>
          <p:nvPr>
            <p:ph type="sldImg"/>
          </p:nvPr>
        </p:nvSpPr>
        <p:spPr>
          <a:prstGeom prst="rect">
            <a:avLst/>
          </a:prstGeom>
        </p:spPr>
        <p:txBody>
          <a:bodyPr/>
          <a:lstStyle/>
          <a:p>
            <a:pPr/>
          </a:p>
        </p:txBody>
      </p:sp>
      <p:sp>
        <p:nvSpPr>
          <p:cNvPr id="369" name="Shape 369"/>
          <p:cNvSpPr/>
          <p:nvPr>
            <p:ph type="body" sz="quarter" idx="1"/>
          </p:nvPr>
        </p:nvSpPr>
        <p:spPr>
          <a:prstGeom prst="rect">
            <a:avLst/>
          </a:prstGeom>
        </p:spPr>
        <p:txBody>
          <a:bodyPr/>
          <a:lstStyle/>
          <a:p>
            <a:pPr/>
            <a:r>
              <a:t>Describe the dashboard as the next analytical interface, not just a prettier report. The filters should let users change the group and period while retaining the same return, correlation, and volatility definitions.</a:t>
            </a:r>
          </a:p>
          <a:p>
            <a:pPr/>
          </a:p>
          <a:p>
            <a:pPr/>
            <a:r>
              <a:t>[Sources]</a:t>
            </a:r>
          </a:p>
          <a:p>
            <a:pPr/>
            <a:r>
              <a:t>Dashboard plan derived from assignment_5/part_2 long-form outputs and the Assignment 6 brief. Kaggle source caveat documented in AGENTS.md.</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Title Text"/>
          <p:cNvSpPr txBox="1"/>
          <p:nvPr>
            <p:ph type="title"/>
          </p:nvPr>
        </p:nvSpPr>
        <p:spPr>
          <a:xfrm>
            <a:off x="3499554" y="2545644"/>
            <a:ext cx="9256892" cy="2065869"/>
          </a:xfrm>
          <a:prstGeom prst="rect">
            <a:avLst/>
          </a:prstGeom>
        </p:spPr>
        <p:txBody>
          <a:bodyPr anchor="b"/>
          <a:lstStyle/>
          <a:p>
            <a:pPr/>
            <a:r>
              <a:t>Title Text</a:t>
            </a:r>
          </a:p>
        </p:txBody>
      </p:sp>
      <p:sp>
        <p:nvSpPr>
          <p:cNvPr id="12" name="Body Level One…"/>
          <p:cNvSpPr txBox="1"/>
          <p:nvPr>
            <p:ph type="body" sz="quarter" idx="1"/>
          </p:nvPr>
        </p:nvSpPr>
        <p:spPr>
          <a:xfrm>
            <a:off x="3499554" y="4667954"/>
            <a:ext cx="9256892" cy="705558"/>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Horizontal">
    <p:spTree>
      <p:nvGrpSpPr>
        <p:cNvPr id="1" name=""/>
        <p:cNvGrpSpPr/>
        <p:nvPr/>
      </p:nvGrpSpPr>
      <p:grpSpPr>
        <a:xfrm>
          <a:off x="0" y="0"/>
          <a:ext cx="0" cy="0"/>
          <a:chOff x="0" y="0"/>
          <a:chExt cx="0" cy="0"/>
        </a:xfrm>
      </p:grpSpPr>
      <p:sp>
        <p:nvSpPr>
          <p:cNvPr id="20" name="View of beach and sea from a grassy sand dune"/>
          <p:cNvSpPr/>
          <p:nvPr>
            <p:ph type="pic" sz="half" idx="21"/>
          </p:nvPr>
        </p:nvSpPr>
        <p:spPr>
          <a:xfrm>
            <a:off x="4098652" y="1349022"/>
            <a:ext cx="8060268" cy="5373512"/>
          </a:xfrm>
          <a:prstGeom prst="rect">
            <a:avLst/>
          </a:prstGeom>
        </p:spPr>
        <p:txBody>
          <a:bodyPr lIns="91439" tIns="45719" rIns="91439" bIns="45719">
            <a:noAutofit/>
          </a:bodyPr>
          <a:lstStyle/>
          <a:p>
            <a:pPr/>
          </a:p>
        </p:txBody>
      </p:sp>
      <p:sp>
        <p:nvSpPr>
          <p:cNvPr id="21" name="Title Text"/>
          <p:cNvSpPr txBox="1"/>
          <p:nvPr>
            <p:ph type="title"/>
          </p:nvPr>
        </p:nvSpPr>
        <p:spPr>
          <a:xfrm>
            <a:off x="2991554" y="5751688"/>
            <a:ext cx="10272892" cy="891825"/>
          </a:xfrm>
          <a:prstGeom prst="rect">
            <a:avLst/>
          </a:prstGeom>
        </p:spPr>
        <p:txBody>
          <a:bodyPr anchor="b"/>
          <a:lstStyle/>
          <a:p>
            <a:pPr/>
            <a:r>
              <a:t>Title Text</a:t>
            </a:r>
          </a:p>
        </p:txBody>
      </p:sp>
      <p:sp>
        <p:nvSpPr>
          <p:cNvPr id="22" name="Body Level One…"/>
          <p:cNvSpPr txBox="1"/>
          <p:nvPr>
            <p:ph type="body" sz="quarter" idx="1"/>
          </p:nvPr>
        </p:nvSpPr>
        <p:spPr>
          <a:xfrm>
            <a:off x="2991554" y="6609643"/>
            <a:ext cx="10272892" cy="705558"/>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 Centre">
    <p:spTree>
      <p:nvGrpSpPr>
        <p:cNvPr id="1" name=""/>
        <p:cNvGrpSpPr/>
        <p:nvPr/>
      </p:nvGrpSpPr>
      <p:grpSpPr>
        <a:xfrm>
          <a:off x="0" y="0"/>
          <a:ext cx="0" cy="0"/>
          <a:chOff x="0" y="0"/>
          <a:chExt cx="0" cy="0"/>
        </a:xfrm>
      </p:grpSpPr>
      <p:sp>
        <p:nvSpPr>
          <p:cNvPr id="30" name="Title Text"/>
          <p:cNvSpPr txBox="1"/>
          <p:nvPr>
            <p:ph type="title"/>
          </p:nvPr>
        </p:nvSpPr>
        <p:spPr>
          <a:xfrm>
            <a:off x="3499554" y="3539066"/>
            <a:ext cx="9256892" cy="2065869"/>
          </a:xfrm>
          <a:prstGeom prst="rect">
            <a:avLst/>
          </a:prstGeom>
        </p:spPr>
        <p:txBody>
          <a:bodyPr/>
          <a:lstStyle/>
          <a:p>
            <a:pPr/>
            <a:r>
              <a:t>Title Text</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Vertical">
    <p:spTree>
      <p:nvGrpSpPr>
        <p:cNvPr id="1" name=""/>
        <p:cNvGrpSpPr/>
        <p:nvPr/>
      </p:nvGrpSpPr>
      <p:grpSpPr>
        <a:xfrm>
          <a:off x="0" y="0"/>
          <a:ext cx="0" cy="0"/>
          <a:chOff x="0" y="0"/>
          <a:chExt cx="0" cy="0"/>
        </a:xfrm>
      </p:grpSpPr>
      <p:sp>
        <p:nvSpPr>
          <p:cNvPr id="38" name="Heron flying low over a beach with a short fence in the foreground"/>
          <p:cNvSpPr/>
          <p:nvPr>
            <p:ph type="pic" sz="quarter" idx="21"/>
          </p:nvPr>
        </p:nvSpPr>
        <p:spPr>
          <a:xfrm>
            <a:off x="8410222" y="1947333"/>
            <a:ext cx="5096935" cy="5096934"/>
          </a:xfrm>
          <a:prstGeom prst="rect">
            <a:avLst/>
          </a:prstGeom>
        </p:spPr>
        <p:txBody>
          <a:bodyPr lIns="91439" tIns="45719" rIns="91439" bIns="45719">
            <a:noAutofit/>
          </a:bodyPr>
          <a:lstStyle/>
          <a:p>
            <a:pPr/>
          </a:p>
        </p:txBody>
      </p:sp>
      <p:sp>
        <p:nvSpPr>
          <p:cNvPr id="39" name="Title Text"/>
          <p:cNvSpPr txBox="1"/>
          <p:nvPr>
            <p:ph type="title"/>
          </p:nvPr>
        </p:nvSpPr>
        <p:spPr>
          <a:xfrm>
            <a:off x="3443109" y="1947333"/>
            <a:ext cx="4543780" cy="2466624"/>
          </a:xfrm>
          <a:prstGeom prst="rect">
            <a:avLst/>
          </a:prstGeom>
        </p:spPr>
        <p:txBody>
          <a:bodyPr anchor="b"/>
          <a:lstStyle>
            <a:lvl1pPr>
              <a:defRPr sz="5600"/>
            </a:lvl1pPr>
          </a:lstStyle>
          <a:p>
            <a:pPr/>
            <a:r>
              <a:t>Title Text</a:t>
            </a:r>
          </a:p>
        </p:txBody>
      </p:sp>
      <p:sp>
        <p:nvSpPr>
          <p:cNvPr id="40" name="Body Level One…"/>
          <p:cNvSpPr txBox="1"/>
          <p:nvPr>
            <p:ph type="body" sz="quarter" idx="1"/>
          </p:nvPr>
        </p:nvSpPr>
        <p:spPr>
          <a:xfrm>
            <a:off x="3443109" y="4425243"/>
            <a:ext cx="4543780" cy="2545647"/>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4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 Top">
    <p:spTree>
      <p:nvGrpSpPr>
        <p:cNvPr id="1" name=""/>
        <p:cNvGrpSpPr/>
        <p:nvPr/>
      </p:nvGrpSpPr>
      <p:grpSpPr>
        <a:xfrm>
          <a:off x="0" y="0"/>
          <a:ext cx="0" cy="0"/>
          <a:chOff x="0" y="0"/>
          <a:chExt cx="0" cy="0"/>
        </a:xfrm>
      </p:grpSpPr>
      <p:sp>
        <p:nvSpPr>
          <p:cNvPr id="48" name="Title Text"/>
          <p:cNvSpPr txBox="1"/>
          <p:nvPr>
            <p:ph type="title"/>
          </p:nvPr>
        </p:nvSpPr>
        <p:spPr>
          <a:prstGeom prst="rect">
            <a:avLst/>
          </a:prstGeom>
        </p:spPr>
        <p:txBody>
          <a:bodyPr/>
          <a:lstStyle/>
          <a:p>
            <a:pPr/>
            <a:r>
              <a:t>Title Text</a:t>
            </a:r>
          </a:p>
        </p:txBody>
      </p:sp>
      <p:sp>
        <p:nvSpPr>
          <p:cNvPr id="4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56" name="Title Text"/>
          <p:cNvSpPr txBox="1"/>
          <p:nvPr>
            <p:ph type="title"/>
          </p:nvPr>
        </p:nvSpPr>
        <p:spPr>
          <a:prstGeom prst="rect">
            <a:avLst/>
          </a:prstGeom>
        </p:spPr>
        <p:txBody>
          <a:bodyPr/>
          <a:lstStyle/>
          <a:p>
            <a:pPr/>
            <a:r>
              <a:t>Title Text</a:t>
            </a:r>
          </a:p>
        </p:txBody>
      </p:sp>
      <p:sp>
        <p:nvSpPr>
          <p:cNvPr id="57" name="Body Level One…"/>
          <p:cNvSpPr txBox="1"/>
          <p:nvPr>
            <p:ph type="body" sz="half" idx="1"/>
          </p:nvPr>
        </p:nvSpPr>
        <p:spPr>
          <a:xfrm>
            <a:off x="3460043" y="2923821"/>
            <a:ext cx="9335914" cy="4131735"/>
          </a:xfrm>
          <a:prstGeom prst="rect">
            <a:avLst/>
          </a:prstGeom>
        </p:spPr>
        <p:txBody>
          <a:bodyPr anchor="ctr"/>
          <a:lstStyle>
            <a:lvl1pPr marL="423332" indent="-423332" algn="l">
              <a:spcBef>
                <a:spcPts val="3900"/>
              </a:spcBef>
              <a:buSzPct val="125000"/>
              <a:buChar char="•"/>
              <a:defRPr sz="3200"/>
            </a:lvl1pPr>
            <a:lvl2pPr marL="1058332" indent="-423332" algn="l">
              <a:spcBef>
                <a:spcPts val="3900"/>
              </a:spcBef>
              <a:buSzPct val="125000"/>
              <a:buChar char="•"/>
              <a:defRPr sz="3200"/>
            </a:lvl2pPr>
            <a:lvl3pPr marL="1693333" indent="-423332" algn="l">
              <a:spcBef>
                <a:spcPts val="3900"/>
              </a:spcBef>
              <a:buSzPct val="125000"/>
              <a:buChar char="•"/>
              <a:defRPr sz="3200"/>
            </a:lvl3pPr>
            <a:lvl4pPr marL="2328333" indent="-423333" algn="l">
              <a:spcBef>
                <a:spcPts val="3900"/>
              </a:spcBef>
              <a:buSzPct val="125000"/>
              <a:buChar char="•"/>
              <a:defRPr sz="3200"/>
            </a:lvl4pPr>
            <a:lvl5pPr marL="2963333" indent="-423333" algn="l">
              <a:spcBef>
                <a:spcPts val="3900"/>
              </a:spcBef>
              <a:buSzPct val="125000"/>
              <a:buChar char="•"/>
              <a:defRPr sz="3200"/>
            </a:lvl5pPr>
          </a:lstStyle>
          <a:p>
            <a:pPr/>
            <a:r>
              <a:t>Body Level One</a:t>
            </a:r>
          </a:p>
          <a:p>
            <a:pPr lvl="1"/>
            <a:r>
              <a:t>Body Level Two</a:t>
            </a:r>
          </a:p>
          <a:p>
            <a:pPr lvl="2"/>
            <a:r>
              <a:t>Body Level Three</a:t>
            </a:r>
          </a:p>
          <a:p>
            <a:pPr lvl="3"/>
            <a:r>
              <a:t>Body Level Four</a:t>
            </a:r>
          </a:p>
          <a:p>
            <a:pPr lvl="4"/>
            <a:r>
              <a:t>Body Level Five</a:t>
            </a:r>
          </a:p>
        </p:txBody>
      </p:sp>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5" name="Sandy path between two hills leading to the ocean"/>
          <p:cNvSpPr/>
          <p:nvPr>
            <p:ph type="pic" sz="quarter" idx="21"/>
          </p:nvPr>
        </p:nvSpPr>
        <p:spPr>
          <a:xfrm>
            <a:off x="7580487" y="2923821"/>
            <a:ext cx="6197603" cy="4131735"/>
          </a:xfrm>
          <a:prstGeom prst="rect">
            <a:avLst/>
          </a:prstGeom>
        </p:spPr>
        <p:txBody>
          <a:bodyPr lIns="91439" tIns="45719" rIns="91439" bIns="45719">
            <a:noAutofit/>
          </a:bodyPr>
          <a:lstStyle/>
          <a:p>
            <a:pPr/>
          </a:p>
        </p:txBody>
      </p:sp>
      <p:sp>
        <p:nvSpPr>
          <p:cNvPr id="66" name="Title Text"/>
          <p:cNvSpPr txBox="1"/>
          <p:nvPr>
            <p:ph type="title"/>
          </p:nvPr>
        </p:nvSpPr>
        <p:spPr>
          <a:prstGeom prst="rect">
            <a:avLst/>
          </a:prstGeom>
        </p:spPr>
        <p:txBody>
          <a:bodyPr/>
          <a:lstStyle/>
          <a:p>
            <a:pPr/>
            <a:r>
              <a:t>Title Text</a:t>
            </a:r>
          </a:p>
        </p:txBody>
      </p:sp>
      <p:sp>
        <p:nvSpPr>
          <p:cNvPr id="67" name="Body Level One…"/>
          <p:cNvSpPr txBox="1"/>
          <p:nvPr>
            <p:ph type="body" sz="quarter" idx="1"/>
          </p:nvPr>
        </p:nvSpPr>
        <p:spPr>
          <a:xfrm>
            <a:off x="3460043" y="2923821"/>
            <a:ext cx="4543780" cy="4131735"/>
          </a:xfrm>
          <a:prstGeom prst="rect">
            <a:avLst/>
          </a:prstGeom>
        </p:spPr>
        <p:txBody>
          <a:bodyPr anchor="ctr"/>
          <a:lstStyle>
            <a:lvl1pPr marL="352926" indent="-352926" algn="l">
              <a:spcBef>
                <a:spcPts val="3000"/>
              </a:spcBef>
              <a:buSzPct val="125000"/>
              <a:buChar char="•"/>
              <a:defRPr sz="2400"/>
            </a:lvl1pPr>
            <a:lvl2pPr marL="911726" indent="-352926" algn="l">
              <a:spcBef>
                <a:spcPts val="3000"/>
              </a:spcBef>
              <a:buSzPct val="125000"/>
              <a:buChar char="•"/>
              <a:defRPr sz="2400"/>
            </a:lvl2pPr>
            <a:lvl3pPr marL="1470526" indent="-352926" algn="l">
              <a:spcBef>
                <a:spcPts val="3000"/>
              </a:spcBef>
              <a:buSzPct val="125000"/>
              <a:buChar char="•"/>
              <a:defRPr sz="2400"/>
            </a:lvl3pPr>
            <a:lvl4pPr marL="2029325" indent="-352925" algn="l">
              <a:spcBef>
                <a:spcPts val="3000"/>
              </a:spcBef>
              <a:buSzPct val="125000"/>
              <a:buChar char="•"/>
              <a:defRPr sz="2400"/>
            </a:lvl4pPr>
            <a:lvl5pPr marL="2588125" indent="-352925" algn="l">
              <a:spcBef>
                <a:spcPts val="3000"/>
              </a:spcBef>
              <a:buSzPct val="125000"/>
              <a:buChar char="•"/>
              <a:defRPr sz="2400"/>
            </a:lvl5pPr>
          </a:lstStyle>
          <a:p>
            <a:pPr/>
            <a:r>
              <a:t>Body Level One</a:t>
            </a:r>
          </a:p>
          <a:p>
            <a:pPr lvl="1"/>
            <a:r>
              <a:t>Body Level Two</a:t>
            </a:r>
          </a:p>
          <a:p>
            <a:pPr lvl="2"/>
            <a:r>
              <a:t>Body Level Three</a:t>
            </a:r>
          </a:p>
          <a:p>
            <a:pPr lvl="3"/>
            <a:r>
              <a:t>Body Level Four</a:t>
            </a:r>
          </a:p>
          <a:p>
            <a:pPr lvl="4"/>
            <a:r>
              <a:t>Body Level Five</a:t>
            </a:r>
          </a:p>
        </p:txBody>
      </p:sp>
      <p:sp>
        <p:nvSpPr>
          <p:cNvPr id="6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Small">
    <p:spTree>
      <p:nvGrpSpPr>
        <p:cNvPr id="1" name=""/>
        <p:cNvGrpSpPr/>
        <p:nvPr/>
      </p:nvGrpSpPr>
      <p:grpSpPr>
        <a:xfrm>
          <a:off x="0" y="0"/>
          <a:ext cx="0" cy="0"/>
          <a:chOff x="0" y="0"/>
          <a:chExt cx="0" cy="0"/>
        </a:xfrm>
      </p:grpSpPr>
      <p:sp>
        <p:nvSpPr>
          <p:cNvPr id="75" name="Title Text"/>
          <p:cNvSpPr txBox="1"/>
          <p:nvPr>
            <p:ph type="title"/>
          </p:nvPr>
        </p:nvSpPr>
        <p:spPr>
          <a:prstGeom prst="rect">
            <a:avLst/>
          </a:prstGeom>
        </p:spPr>
        <p:txBody>
          <a:bodyPr/>
          <a:lstStyle/>
          <a:p>
            <a:pPr/>
            <a:r>
              <a:t>Title Text</a:t>
            </a:r>
          </a:p>
        </p:txBody>
      </p:sp>
      <p:sp>
        <p:nvSpPr>
          <p:cNvPr id="76" name="Body Level One…"/>
          <p:cNvSpPr txBox="1"/>
          <p:nvPr>
            <p:ph type="body" sz="quarter" idx="1"/>
          </p:nvPr>
        </p:nvSpPr>
        <p:spPr>
          <a:xfrm>
            <a:off x="3460043" y="2923821"/>
            <a:ext cx="4543780" cy="4131735"/>
          </a:xfrm>
          <a:prstGeom prst="rect">
            <a:avLst/>
          </a:prstGeom>
        </p:spPr>
        <p:txBody>
          <a:bodyPr anchor="ctr"/>
          <a:lstStyle>
            <a:lvl1pPr marL="352926" indent="-352926" algn="l">
              <a:spcBef>
                <a:spcPts val="3000"/>
              </a:spcBef>
              <a:buSzPct val="125000"/>
              <a:buChar char="•"/>
              <a:defRPr sz="2400"/>
            </a:lvl1pPr>
            <a:lvl2pPr marL="911726" indent="-352926" algn="l">
              <a:spcBef>
                <a:spcPts val="3000"/>
              </a:spcBef>
              <a:buSzPct val="125000"/>
              <a:buChar char="•"/>
              <a:defRPr sz="2400"/>
            </a:lvl2pPr>
            <a:lvl3pPr marL="1470526" indent="-352926" algn="l">
              <a:spcBef>
                <a:spcPts val="3000"/>
              </a:spcBef>
              <a:buSzPct val="125000"/>
              <a:buChar char="•"/>
              <a:defRPr sz="2400"/>
            </a:lvl3pPr>
            <a:lvl4pPr marL="2029325" indent="-352925" algn="l">
              <a:spcBef>
                <a:spcPts val="3000"/>
              </a:spcBef>
              <a:buSzPct val="125000"/>
              <a:buChar char="•"/>
              <a:defRPr sz="2400"/>
            </a:lvl4pPr>
            <a:lvl5pPr marL="2588125" indent="-352925" algn="l">
              <a:spcBef>
                <a:spcPts val="3000"/>
              </a:spcBef>
              <a:buSzPct val="125000"/>
              <a:buChar char="•"/>
              <a:defRPr sz="2400"/>
            </a:lvl5pPr>
          </a:lstStyle>
          <a:p>
            <a:pPr/>
            <a:r>
              <a:t>Body Level One</a:t>
            </a:r>
          </a:p>
          <a:p>
            <a:pPr lvl="1"/>
            <a:r>
              <a:t>Body Level Two</a:t>
            </a:r>
          </a:p>
          <a:p>
            <a:pPr lvl="2"/>
            <a:r>
              <a:t>Body Level Three</a:t>
            </a:r>
          </a:p>
          <a:p>
            <a:pPr lvl="3"/>
            <a:r>
              <a:t>Body Level Four</a:t>
            </a:r>
          </a:p>
          <a:p>
            <a:pPr lvl="4"/>
            <a:r>
              <a:t>Body Level Five</a:t>
            </a:r>
          </a:p>
        </p:txBody>
      </p:sp>
      <p:sp>
        <p:nvSpPr>
          <p:cNvPr id="7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Large">
    <p:spTree>
      <p:nvGrpSpPr>
        <p:cNvPr id="1" name=""/>
        <p:cNvGrpSpPr/>
        <p:nvPr/>
      </p:nvGrpSpPr>
      <p:grpSpPr>
        <a:xfrm>
          <a:off x="0" y="0"/>
          <a:ext cx="0" cy="0"/>
          <a:chOff x="0" y="0"/>
          <a:chExt cx="0" cy="0"/>
        </a:xfrm>
      </p:grpSpPr>
      <p:sp>
        <p:nvSpPr>
          <p:cNvPr id="84" name="Title Text"/>
          <p:cNvSpPr txBox="1"/>
          <p:nvPr>
            <p:ph type="title"/>
          </p:nvPr>
        </p:nvSpPr>
        <p:spPr>
          <a:prstGeom prst="rect">
            <a:avLst/>
          </a:prstGeom>
        </p:spPr>
        <p:txBody>
          <a:bodyPr/>
          <a:lstStyle/>
          <a:p>
            <a:pPr/>
            <a:r>
              <a:t>Title Text</a:t>
            </a:r>
          </a:p>
        </p:txBody>
      </p:sp>
      <p:sp>
        <p:nvSpPr>
          <p:cNvPr id="85" name="Body Level One…"/>
          <p:cNvSpPr txBox="1"/>
          <p:nvPr>
            <p:ph type="body" sz="quarter" idx="1"/>
          </p:nvPr>
        </p:nvSpPr>
        <p:spPr>
          <a:xfrm>
            <a:off x="3460043" y="2923821"/>
            <a:ext cx="4543780" cy="4131735"/>
          </a:xfrm>
          <a:prstGeom prst="rect">
            <a:avLst/>
          </a:prstGeom>
        </p:spPr>
        <p:txBody>
          <a:bodyPr anchor="ctr"/>
          <a:lstStyle>
            <a:lvl1pPr marL="352926" indent="-352926" algn="l">
              <a:spcBef>
                <a:spcPts val="3000"/>
              </a:spcBef>
              <a:buSzPct val="125000"/>
              <a:buChar char="•"/>
              <a:defRPr sz="2400"/>
            </a:lvl1pPr>
            <a:lvl2pPr marL="911726" indent="-352926" algn="l">
              <a:spcBef>
                <a:spcPts val="3000"/>
              </a:spcBef>
              <a:buSzPct val="125000"/>
              <a:buChar char="•"/>
              <a:defRPr sz="2400"/>
            </a:lvl2pPr>
            <a:lvl3pPr marL="1470526" indent="-352926" algn="l">
              <a:spcBef>
                <a:spcPts val="3000"/>
              </a:spcBef>
              <a:buSzPct val="125000"/>
              <a:buChar char="•"/>
              <a:defRPr sz="2400"/>
            </a:lvl3pPr>
            <a:lvl4pPr marL="2029325" indent="-352925" algn="l">
              <a:spcBef>
                <a:spcPts val="3000"/>
              </a:spcBef>
              <a:buSzPct val="125000"/>
              <a:buChar char="•"/>
              <a:defRPr sz="2400"/>
            </a:lvl4pPr>
            <a:lvl5pPr marL="2588125" indent="-352925" algn="l">
              <a:spcBef>
                <a:spcPts val="3000"/>
              </a:spcBef>
              <a:buSzPct val="125000"/>
              <a:buChar char="•"/>
              <a:defRPr sz="2400"/>
            </a:lvl5pPr>
          </a:lstStyle>
          <a:p>
            <a:pPr/>
            <a:r>
              <a:t>Body Level One</a:t>
            </a:r>
          </a:p>
          <a:p>
            <a:pPr lvl="1"/>
            <a:r>
              <a:t>Body Level Two</a:t>
            </a:r>
          </a:p>
          <a:p>
            <a:pPr lvl="2"/>
            <a:r>
              <a:t>Body Level Three</a:t>
            </a:r>
          </a:p>
          <a:p>
            <a:pPr lvl="3"/>
            <a:r>
              <a:t>Body Level Four</a:t>
            </a:r>
          </a:p>
          <a:p>
            <a:pPr lvl="4"/>
            <a:r>
              <a:t>Body Level Five</a:t>
            </a:r>
          </a:p>
        </p:txBody>
      </p:sp>
      <p:sp>
        <p:nvSpPr>
          <p:cNvPr id="8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93" name="Body Level One…"/>
          <p:cNvSpPr txBox="1"/>
          <p:nvPr>
            <p:ph type="body" sz="half" idx="1"/>
          </p:nvPr>
        </p:nvSpPr>
        <p:spPr>
          <a:xfrm>
            <a:off x="3460043" y="2314221"/>
            <a:ext cx="9335914" cy="4515558"/>
          </a:xfrm>
          <a:prstGeom prst="rect">
            <a:avLst/>
          </a:prstGeom>
        </p:spPr>
        <p:txBody>
          <a:bodyPr anchor="ctr"/>
          <a:lstStyle>
            <a:lvl1pPr marL="423332" indent="-423332" algn="l">
              <a:spcBef>
                <a:spcPts val="3900"/>
              </a:spcBef>
              <a:buSzPct val="125000"/>
              <a:buChar char="•"/>
              <a:defRPr sz="3200"/>
            </a:lvl1pPr>
            <a:lvl2pPr marL="1058332" indent="-423332" algn="l">
              <a:spcBef>
                <a:spcPts val="3900"/>
              </a:spcBef>
              <a:buSzPct val="125000"/>
              <a:buChar char="•"/>
              <a:defRPr sz="3200"/>
            </a:lvl2pPr>
            <a:lvl3pPr marL="1693333" indent="-423332" algn="l">
              <a:spcBef>
                <a:spcPts val="3900"/>
              </a:spcBef>
              <a:buSzPct val="125000"/>
              <a:buChar char="•"/>
              <a:defRPr sz="3200"/>
            </a:lvl3pPr>
            <a:lvl4pPr marL="2328333" indent="-423333" algn="l">
              <a:spcBef>
                <a:spcPts val="3900"/>
              </a:spcBef>
              <a:buSzPct val="125000"/>
              <a:buChar char="•"/>
              <a:defRPr sz="3200"/>
            </a:lvl4pPr>
            <a:lvl5pPr marL="2963333" indent="-423333" algn="l">
              <a:spcBef>
                <a:spcPts val="3900"/>
              </a:spcBef>
              <a:buSzPct val="125000"/>
              <a:buChar char="•"/>
              <a:defRPr sz="3200"/>
            </a:lvl5pPr>
          </a:lstStyle>
          <a:p>
            <a:pPr/>
            <a:r>
              <a:t>Body Level One</a:t>
            </a:r>
          </a:p>
          <a:p>
            <a:pPr lvl="1"/>
            <a:r>
              <a:t>Body Level Two</a:t>
            </a:r>
          </a:p>
          <a:p>
            <a:pPr lvl="2"/>
            <a:r>
              <a:t>Body Level Three</a:t>
            </a:r>
          </a:p>
          <a:p>
            <a:pPr lvl="3"/>
            <a:r>
              <a:t>Body Level Four</a:t>
            </a:r>
          </a:p>
          <a:p>
            <a:pPr lvl="4"/>
            <a:r>
              <a:t>Body Level Five</a:t>
            </a:r>
          </a:p>
        </p:txBody>
      </p:sp>
      <p:sp>
        <p:nvSpPr>
          <p:cNvPr id="9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01" name="Sandy path between two hills leading to the ocean"/>
          <p:cNvSpPr/>
          <p:nvPr>
            <p:ph type="pic" sz="quarter" idx="21"/>
          </p:nvPr>
        </p:nvSpPr>
        <p:spPr>
          <a:xfrm>
            <a:off x="9509476" y="4656666"/>
            <a:ext cx="3699936" cy="2466625"/>
          </a:xfrm>
          <a:prstGeom prst="rect">
            <a:avLst/>
          </a:prstGeom>
        </p:spPr>
        <p:txBody>
          <a:bodyPr lIns="91439" tIns="45719" rIns="91439" bIns="45719">
            <a:noAutofit/>
          </a:bodyPr>
          <a:lstStyle/>
          <a:p>
            <a:pPr/>
          </a:p>
        </p:txBody>
      </p:sp>
      <p:sp>
        <p:nvSpPr>
          <p:cNvPr id="102" name="Heron flying low over a beach with a short fence in the foreground"/>
          <p:cNvSpPr/>
          <p:nvPr>
            <p:ph type="pic" sz="quarter" idx="22"/>
          </p:nvPr>
        </p:nvSpPr>
        <p:spPr>
          <a:xfrm>
            <a:off x="9714087" y="1907821"/>
            <a:ext cx="3290714" cy="3290713"/>
          </a:xfrm>
          <a:prstGeom prst="rect">
            <a:avLst/>
          </a:prstGeom>
        </p:spPr>
        <p:txBody>
          <a:bodyPr lIns="91439" tIns="45719" rIns="91439" bIns="45719">
            <a:noAutofit/>
          </a:bodyPr>
          <a:lstStyle/>
          <a:p>
            <a:pPr/>
          </a:p>
        </p:txBody>
      </p:sp>
      <p:sp>
        <p:nvSpPr>
          <p:cNvPr id="103" name="View of beach and sea from a grassy sand dune"/>
          <p:cNvSpPr/>
          <p:nvPr>
            <p:ph type="pic" sz="half" idx="23"/>
          </p:nvPr>
        </p:nvSpPr>
        <p:spPr>
          <a:xfrm>
            <a:off x="2269065" y="2026354"/>
            <a:ext cx="7645402" cy="5096937"/>
          </a:xfrm>
          <a:prstGeom prst="rect">
            <a:avLst/>
          </a:prstGeom>
        </p:spPr>
        <p:txBody>
          <a:bodyPr lIns="91439" tIns="45719" rIns="91439" bIns="45719">
            <a:noAutofit/>
          </a:bodyPr>
          <a:lstStyle/>
          <a:p>
            <a:pPr/>
          </a:p>
        </p:txBody>
      </p:sp>
      <p:sp>
        <p:nvSpPr>
          <p:cNvPr id="10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11" name="Body Level One…"/>
          <p:cNvSpPr txBox="1"/>
          <p:nvPr>
            <p:ph type="body" sz="quarter" idx="1"/>
          </p:nvPr>
        </p:nvSpPr>
        <p:spPr>
          <a:xfrm>
            <a:off x="3770488" y="5503333"/>
            <a:ext cx="8720668" cy="342845"/>
          </a:xfrm>
          <a:prstGeom prst="rect">
            <a:avLst/>
          </a:prstGeom>
        </p:spPr>
        <p:txBody>
          <a:bodyPr/>
          <a:lstStyle>
            <a:lvl1pPr>
              <a:defRPr i="1" sz="2000"/>
            </a:lvl1pPr>
            <a:lvl2pPr>
              <a:defRPr i="1" sz="2000"/>
            </a:lvl2pPr>
            <a:lvl3pPr>
              <a:defRPr i="1" sz="2000"/>
            </a:lvl3pPr>
            <a:lvl4pPr>
              <a:defRPr i="1" sz="2000"/>
            </a:lvl4pPr>
            <a:lvl5pPr>
              <a:defRPr i="1" sz="2000"/>
            </a:lvl5pPr>
          </a:lstStyle>
          <a:p>
            <a:pPr/>
            <a:r>
              <a:t>Body Level One</a:t>
            </a:r>
          </a:p>
          <a:p>
            <a:pPr lvl="1"/>
            <a:r>
              <a:t>Body Level Two</a:t>
            </a:r>
          </a:p>
          <a:p>
            <a:pPr lvl="2"/>
            <a:r>
              <a:t>Body Level Three</a:t>
            </a:r>
          </a:p>
          <a:p>
            <a:pPr lvl="3"/>
            <a:r>
              <a:t>Body Level Four</a:t>
            </a:r>
          </a:p>
          <a:p>
            <a:pPr lvl="4"/>
            <a:r>
              <a:t>Body Level Five</a:t>
            </a:r>
          </a:p>
        </p:txBody>
      </p:sp>
      <p:sp>
        <p:nvSpPr>
          <p:cNvPr id="112" name="“Type a quote here.”"/>
          <p:cNvSpPr txBox="1"/>
          <p:nvPr>
            <p:ph type="body" sz="quarter" idx="21"/>
          </p:nvPr>
        </p:nvSpPr>
        <p:spPr>
          <a:xfrm>
            <a:off x="3770488" y="4143976"/>
            <a:ext cx="8720668" cy="528669"/>
          </a:xfrm>
          <a:prstGeom prst="rect">
            <a:avLst/>
          </a:prstGeom>
        </p:spPr>
        <p:txBody>
          <a:bodyPr anchor="ctr"/>
          <a:lstStyle/>
          <a:p>
            <a:pPr>
              <a:defRPr sz="3200">
                <a:latin typeface="Helvetica Neue Medium"/>
                <a:ea typeface="Helvetica Neue Medium"/>
                <a:cs typeface="Helvetica Neue Medium"/>
                <a:sym typeface="Helvetica Neue Medium"/>
              </a:defRPr>
            </a:pPr>
          </a:p>
        </p:txBody>
      </p:sp>
      <p:sp>
        <p:nvSpPr>
          <p:cNvPr id="1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20" name="View of beach and sea from a grassy sand dune"/>
          <p:cNvSpPr/>
          <p:nvPr>
            <p:ph type="pic" idx="21"/>
          </p:nvPr>
        </p:nvSpPr>
        <p:spPr>
          <a:xfrm>
            <a:off x="2686754" y="959554"/>
            <a:ext cx="10882492" cy="7254996"/>
          </a:xfrm>
          <a:prstGeom prst="rect">
            <a:avLst/>
          </a:prstGeom>
        </p:spPr>
        <p:txBody>
          <a:bodyPr lIns="91439" tIns="45719" rIns="91439" bIns="45719">
            <a:noAutofit/>
          </a:bodyPr>
          <a:lstStyle/>
          <a:p>
            <a:pPr/>
          </a:p>
        </p:txBody>
      </p:sp>
      <p:sp>
        <p:nvSpPr>
          <p:cNvPr id="12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2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3460043" y="1682044"/>
            <a:ext cx="9335914" cy="1016002"/>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normAutofit fontScale="100000" lnSpcReduction="0"/>
          </a:bodyPr>
          <a:lstStyle/>
          <a:p>
            <a:pPr/>
            <a:r>
              <a:t>Title Text</a:t>
            </a:r>
          </a:p>
        </p:txBody>
      </p:sp>
      <p:sp>
        <p:nvSpPr>
          <p:cNvPr id="3" name="Body Level One…"/>
          <p:cNvSpPr txBox="1"/>
          <p:nvPr>
            <p:ph type="body" idx="1"/>
          </p:nvPr>
        </p:nvSpPr>
        <p:spPr>
          <a:xfrm>
            <a:off x="9073444" y="3251200"/>
            <a:ext cx="6366934" cy="5892800"/>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7983271" y="7337776"/>
            <a:ext cx="283813" cy="267861"/>
          </a:xfrm>
          <a:prstGeom prst="rect">
            <a:avLst/>
          </a:prstGeom>
          <a:ln w="12700">
            <a:miter lim="400000"/>
          </a:ln>
        </p:spPr>
        <p:txBody>
          <a:bodyPr wrap="none" lIns="22576" tIns="22576" rIns="22576" bIns="22576">
            <a:spAutoFit/>
          </a:bodyPr>
          <a:lstStyle>
            <a:lvl1pPr algn="ctr">
              <a:spcBef>
                <a:spcPts val="0"/>
              </a:spcBef>
              <a:defRPr sz="1600">
                <a:latin typeface="Helvetica Neue Light"/>
                <a:ea typeface="Helvetica Neue Light"/>
                <a:cs typeface="Helvetica Neue Light"/>
                <a:sym typeface="Helvetica Neue Light"/>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transition xmlns:p14="http://schemas.microsoft.com/office/powerpoint/2010/main" spd="med" advClick="1"/>
  <p:txStyles>
    <p:titleStyle>
      <a:lvl1pPr marL="0" marR="0" indent="0" algn="ctr" defTabSz="550332" rtl="0" latinLnBrk="0">
        <a:lnSpc>
          <a:spcPct val="100000"/>
        </a:lnSpc>
        <a:spcBef>
          <a:spcPts val="0"/>
        </a:spcBef>
        <a:spcAft>
          <a:spcPts val="0"/>
        </a:spcAft>
        <a:buClrTx/>
        <a:buSzTx/>
        <a:buFontTx/>
        <a:buNone/>
        <a:tabLst/>
        <a:defRPr b="0" baseline="0" cap="none" i="0" spc="0" strike="noStrike" sz="7400" u="none">
          <a:solidFill>
            <a:srgbClr val="000000"/>
          </a:solidFill>
          <a:uFillTx/>
          <a:latin typeface="Helvetica Neue Medium"/>
          <a:ea typeface="Helvetica Neue Medium"/>
          <a:cs typeface="Helvetica Neue Medium"/>
          <a:sym typeface="Helvetica Neue Medium"/>
        </a:defRPr>
      </a:lvl1pPr>
      <a:lvl2pPr marL="0" marR="0" indent="0" algn="ctr" defTabSz="550332" rtl="0" latinLnBrk="0">
        <a:lnSpc>
          <a:spcPct val="100000"/>
        </a:lnSpc>
        <a:spcBef>
          <a:spcPts val="0"/>
        </a:spcBef>
        <a:spcAft>
          <a:spcPts val="0"/>
        </a:spcAft>
        <a:buClrTx/>
        <a:buSzTx/>
        <a:buFontTx/>
        <a:buNone/>
        <a:tabLst/>
        <a:defRPr b="0" baseline="0" cap="none" i="0" spc="0" strike="noStrike" sz="7400" u="none">
          <a:solidFill>
            <a:srgbClr val="000000"/>
          </a:solidFill>
          <a:uFillTx/>
          <a:latin typeface="Helvetica Neue Medium"/>
          <a:ea typeface="Helvetica Neue Medium"/>
          <a:cs typeface="Helvetica Neue Medium"/>
          <a:sym typeface="Helvetica Neue Medium"/>
        </a:defRPr>
      </a:lvl2pPr>
      <a:lvl3pPr marL="0" marR="0" indent="0" algn="ctr" defTabSz="550332" rtl="0" latinLnBrk="0">
        <a:lnSpc>
          <a:spcPct val="100000"/>
        </a:lnSpc>
        <a:spcBef>
          <a:spcPts val="0"/>
        </a:spcBef>
        <a:spcAft>
          <a:spcPts val="0"/>
        </a:spcAft>
        <a:buClrTx/>
        <a:buSzTx/>
        <a:buFontTx/>
        <a:buNone/>
        <a:tabLst/>
        <a:defRPr b="0" baseline="0" cap="none" i="0" spc="0" strike="noStrike" sz="7400" u="none">
          <a:solidFill>
            <a:srgbClr val="000000"/>
          </a:solidFill>
          <a:uFillTx/>
          <a:latin typeface="Helvetica Neue Medium"/>
          <a:ea typeface="Helvetica Neue Medium"/>
          <a:cs typeface="Helvetica Neue Medium"/>
          <a:sym typeface="Helvetica Neue Medium"/>
        </a:defRPr>
      </a:lvl3pPr>
      <a:lvl4pPr marL="0" marR="0" indent="0" algn="ctr" defTabSz="550332" rtl="0" latinLnBrk="0">
        <a:lnSpc>
          <a:spcPct val="100000"/>
        </a:lnSpc>
        <a:spcBef>
          <a:spcPts val="0"/>
        </a:spcBef>
        <a:spcAft>
          <a:spcPts val="0"/>
        </a:spcAft>
        <a:buClrTx/>
        <a:buSzTx/>
        <a:buFontTx/>
        <a:buNone/>
        <a:tabLst/>
        <a:defRPr b="0" baseline="0" cap="none" i="0" spc="0" strike="noStrike" sz="7400" u="none">
          <a:solidFill>
            <a:srgbClr val="000000"/>
          </a:solidFill>
          <a:uFillTx/>
          <a:latin typeface="Helvetica Neue Medium"/>
          <a:ea typeface="Helvetica Neue Medium"/>
          <a:cs typeface="Helvetica Neue Medium"/>
          <a:sym typeface="Helvetica Neue Medium"/>
        </a:defRPr>
      </a:lvl4pPr>
      <a:lvl5pPr marL="0" marR="0" indent="0" algn="ctr" defTabSz="550332" rtl="0" latinLnBrk="0">
        <a:lnSpc>
          <a:spcPct val="100000"/>
        </a:lnSpc>
        <a:spcBef>
          <a:spcPts val="0"/>
        </a:spcBef>
        <a:spcAft>
          <a:spcPts val="0"/>
        </a:spcAft>
        <a:buClrTx/>
        <a:buSzTx/>
        <a:buFontTx/>
        <a:buNone/>
        <a:tabLst/>
        <a:defRPr b="0" baseline="0" cap="none" i="0" spc="0" strike="noStrike" sz="7400" u="none">
          <a:solidFill>
            <a:srgbClr val="000000"/>
          </a:solidFill>
          <a:uFillTx/>
          <a:latin typeface="Helvetica Neue Medium"/>
          <a:ea typeface="Helvetica Neue Medium"/>
          <a:cs typeface="Helvetica Neue Medium"/>
          <a:sym typeface="Helvetica Neue Medium"/>
        </a:defRPr>
      </a:lvl5pPr>
      <a:lvl6pPr marL="0" marR="0" indent="0" algn="ctr" defTabSz="550332" rtl="0" latinLnBrk="0">
        <a:lnSpc>
          <a:spcPct val="100000"/>
        </a:lnSpc>
        <a:spcBef>
          <a:spcPts val="0"/>
        </a:spcBef>
        <a:spcAft>
          <a:spcPts val="0"/>
        </a:spcAft>
        <a:buClrTx/>
        <a:buSzTx/>
        <a:buFontTx/>
        <a:buNone/>
        <a:tabLst/>
        <a:defRPr b="0" baseline="0" cap="none" i="0" spc="0" strike="noStrike" sz="7400" u="none">
          <a:solidFill>
            <a:srgbClr val="000000"/>
          </a:solidFill>
          <a:uFillTx/>
          <a:latin typeface="Helvetica Neue Medium"/>
          <a:ea typeface="Helvetica Neue Medium"/>
          <a:cs typeface="Helvetica Neue Medium"/>
          <a:sym typeface="Helvetica Neue Medium"/>
        </a:defRPr>
      </a:lvl6pPr>
      <a:lvl7pPr marL="0" marR="0" indent="0" algn="ctr" defTabSz="550332" rtl="0" latinLnBrk="0">
        <a:lnSpc>
          <a:spcPct val="100000"/>
        </a:lnSpc>
        <a:spcBef>
          <a:spcPts val="0"/>
        </a:spcBef>
        <a:spcAft>
          <a:spcPts val="0"/>
        </a:spcAft>
        <a:buClrTx/>
        <a:buSzTx/>
        <a:buFontTx/>
        <a:buNone/>
        <a:tabLst/>
        <a:defRPr b="0" baseline="0" cap="none" i="0" spc="0" strike="noStrike" sz="7400" u="none">
          <a:solidFill>
            <a:srgbClr val="000000"/>
          </a:solidFill>
          <a:uFillTx/>
          <a:latin typeface="Helvetica Neue Medium"/>
          <a:ea typeface="Helvetica Neue Medium"/>
          <a:cs typeface="Helvetica Neue Medium"/>
          <a:sym typeface="Helvetica Neue Medium"/>
        </a:defRPr>
      </a:lvl7pPr>
      <a:lvl8pPr marL="0" marR="0" indent="0" algn="ctr" defTabSz="550332" rtl="0" latinLnBrk="0">
        <a:lnSpc>
          <a:spcPct val="100000"/>
        </a:lnSpc>
        <a:spcBef>
          <a:spcPts val="0"/>
        </a:spcBef>
        <a:spcAft>
          <a:spcPts val="0"/>
        </a:spcAft>
        <a:buClrTx/>
        <a:buSzTx/>
        <a:buFontTx/>
        <a:buNone/>
        <a:tabLst/>
        <a:defRPr b="0" baseline="0" cap="none" i="0" spc="0" strike="noStrike" sz="7400" u="none">
          <a:solidFill>
            <a:srgbClr val="000000"/>
          </a:solidFill>
          <a:uFillTx/>
          <a:latin typeface="Helvetica Neue Medium"/>
          <a:ea typeface="Helvetica Neue Medium"/>
          <a:cs typeface="Helvetica Neue Medium"/>
          <a:sym typeface="Helvetica Neue Medium"/>
        </a:defRPr>
      </a:lvl8pPr>
      <a:lvl9pPr marL="0" marR="0" indent="0" algn="ctr" defTabSz="550332" rtl="0" latinLnBrk="0">
        <a:lnSpc>
          <a:spcPct val="100000"/>
        </a:lnSpc>
        <a:spcBef>
          <a:spcPts val="0"/>
        </a:spcBef>
        <a:spcAft>
          <a:spcPts val="0"/>
        </a:spcAft>
        <a:buClrTx/>
        <a:buSzTx/>
        <a:buFontTx/>
        <a:buNone/>
        <a:tabLst/>
        <a:defRPr b="0" baseline="0" cap="none" i="0" spc="0" strike="noStrike" sz="7400" u="none">
          <a:solidFill>
            <a:srgbClr val="000000"/>
          </a:solidFill>
          <a:uFillTx/>
          <a:latin typeface="Helvetica Neue Medium"/>
          <a:ea typeface="Helvetica Neue Medium"/>
          <a:cs typeface="Helvetica Neue Medium"/>
          <a:sym typeface="Helvetica Neue Medium"/>
        </a:defRPr>
      </a:lvl9pPr>
    </p:titleStyle>
    <p:bodyStyle>
      <a:lvl1pPr marL="0" marR="0" indent="0" algn="ctr" defTabSz="550332" rtl="0" latinLnBrk="0">
        <a:lnSpc>
          <a:spcPct val="100000"/>
        </a:lnSpc>
        <a:spcBef>
          <a:spcPts val="0"/>
        </a:spcBef>
        <a:spcAft>
          <a:spcPts val="0"/>
        </a:spcAft>
        <a:buClrTx/>
        <a:buSzTx/>
        <a:buFontTx/>
        <a:buNone/>
        <a:tabLst/>
        <a:defRPr b="0" baseline="0" cap="none" i="0" spc="0" strike="noStrike" sz="3600" u="none">
          <a:solidFill>
            <a:srgbClr val="000000"/>
          </a:solidFill>
          <a:uFillTx/>
          <a:latin typeface="+mn-lt"/>
          <a:ea typeface="+mn-ea"/>
          <a:cs typeface="+mn-cs"/>
          <a:sym typeface="Helvetica Neue"/>
        </a:defRPr>
      </a:lvl1pPr>
      <a:lvl2pPr marL="0" marR="0" indent="0" algn="ctr" defTabSz="550332" rtl="0" latinLnBrk="0">
        <a:lnSpc>
          <a:spcPct val="100000"/>
        </a:lnSpc>
        <a:spcBef>
          <a:spcPts val="0"/>
        </a:spcBef>
        <a:spcAft>
          <a:spcPts val="0"/>
        </a:spcAft>
        <a:buClrTx/>
        <a:buSzTx/>
        <a:buFontTx/>
        <a:buNone/>
        <a:tabLst/>
        <a:defRPr b="0" baseline="0" cap="none" i="0" spc="0" strike="noStrike" sz="3600" u="none">
          <a:solidFill>
            <a:srgbClr val="000000"/>
          </a:solidFill>
          <a:uFillTx/>
          <a:latin typeface="+mn-lt"/>
          <a:ea typeface="+mn-ea"/>
          <a:cs typeface="+mn-cs"/>
          <a:sym typeface="Helvetica Neue"/>
        </a:defRPr>
      </a:lvl2pPr>
      <a:lvl3pPr marL="0" marR="0" indent="0" algn="ctr" defTabSz="550332" rtl="0" latinLnBrk="0">
        <a:lnSpc>
          <a:spcPct val="100000"/>
        </a:lnSpc>
        <a:spcBef>
          <a:spcPts val="0"/>
        </a:spcBef>
        <a:spcAft>
          <a:spcPts val="0"/>
        </a:spcAft>
        <a:buClrTx/>
        <a:buSzTx/>
        <a:buFontTx/>
        <a:buNone/>
        <a:tabLst/>
        <a:defRPr b="0" baseline="0" cap="none" i="0" spc="0" strike="noStrike" sz="3600" u="none">
          <a:solidFill>
            <a:srgbClr val="000000"/>
          </a:solidFill>
          <a:uFillTx/>
          <a:latin typeface="+mn-lt"/>
          <a:ea typeface="+mn-ea"/>
          <a:cs typeface="+mn-cs"/>
          <a:sym typeface="Helvetica Neue"/>
        </a:defRPr>
      </a:lvl3pPr>
      <a:lvl4pPr marL="0" marR="0" indent="0" algn="ctr" defTabSz="550332" rtl="0" latinLnBrk="0">
        <a:lnSpc>
          <a:spcPct val="100000"/>
        </a:lnSpc>
        <a:spcBef>
          <a:spcPts val="0"/>
        </a:spcBef>
        <a:spcAft>
          <a:spcPts val="0"/>
        </a:spcAft>
        <a:buClrTx/>
        <a:buSzTx/>
        <a:buFontTx/>
        <a:buNone/>
        <a:tabLst/>
        <a:defRPr b="0" baseline="0" cap="none" i="0" spc="0" strike="noStrike" sz="3600" u="none">
          <a:solidFill>
            <a:srgbClr val="000000"/>
          </a:solidFill>
          <a:uFillTx/>
          <a:latin typeface="+mn-lt"/>
          <a:ea typeface="+mn-ea"/>
          <a:cs typeface="+mn-cs"/>
          <a:sym typeface="Helvetica Neue"/>
        </a:defRPr>
      </a:lvl4pPr>
      <a:lvl5pPr marL="0" marR="0" indent="0" algn="ctr" defTabSz="550332" rtl="0" latinLnBrk="0">
        <a:lnSpc>
          <a:spcPct val="100000"/>
        </a:lnSpc>
        <a:spcBef>
          <a:spcPts val="0"/>
        </a:spcBef>
        <a:spcAft>
          <a:spcPts val="0"/>
        </a:spcAft>
        <a:buClrTx/>
        <a:buSzTx/>
        <a:buFontTx/>
        <a:buNone/>
        <a:tabLst/>
        <a:defRPr b="0" baseline="0" cap="none" i="0" spc="0" strike="noStrike" sz="3600" u="none">
          <a:solidFill>
            <a:srgbClr val="000000"/>
          </a:solidFill>
          <a:uFillTx/>
          <a:latin typeface="+mn-lt"/>
          <a:ea typeface="+mn-ea"/>
          <a:cs typeface="+mn-cs"/>
          <a:sym typeface="Helvetica Neue"/>
        </a:defRPr>
      </a:lvl5pPr>
      <a:lvl6pPr marL="0" marR="0" indent="0" algn="ctr" defTabSz="550332" rtl="0" latinLnBrk="0">
        <a:lnSpc>
          <a:spcPct val="100000"/>
        </a:lnSpc>
        <a:spcBef>
          <a:spcPts val="0"/>
        </a:spcBef>
        <a:spcAft>
          <a:spcPts val="0"/>
        </a:spcAft>
        <a:buClrTx/>
        <a:buSzTx/>
        <a:buFontTx/>
        <a:buNone/>
        <a:tabLst/>
        <a:defRPr b="0" baseline="0" cap="none" i="0" spc="0" strike="noStrike" sz="3600" u="none">
          <a:solidFill>
            <a:srgbClr val="000000"/>
          </a:solidFill>
          <a:uFillTx/>
          <a:latin typeface="+mn-lt"/>
          <a:ea typeface="+mn-ea"/>
          <a:cs typeface="+mn-cs"/>
          <a:sym typeface="Helvetica Neue"/>
        </a:defRPr>
      </a:lvl6pPr>
      <a:lvl7pPr marL="0" marR="0" indent="0" algn="ctr" defTabSz="550332" rtl="0" latinLnBrk="0">
        <a:lnSpc>
          <a:spcPct val="100000"/>
        </a:lnSpc>
        <a:spcBef>
          <a:spcPts val="0"/>
        </a:spcBef>
        <a:spcAft>
          <a:spcPts val="0"/>
        </a:spcAft>
        <a:buClrTx/>
        <a:buSzTx/>
        <a:buFontTx/>
        <a:buNone/>
        <a:tabLst/>
        <a:defRPr b="0" baseline="0" cap="none" i="0" spc="0" strike="noStrike" sz="3600" u="none">
          <a:solidFill>
            <a:srgbClr val="000000"/>
          </a:solidFill>
          <a:uFillTx/>
          <a:latin typeface="+mn-lt"/>
          <a:ea typeface="+mn-ea"/>
          <a:cs typeface="+mn-cs"/>
          <a:sym typeface="Helvetica Neue"/>
        </a:defRPr>
      </a:lvl7pPr>
      <a:lvl8pPr marL="0" marR="0" indent="0" algn="ctr" defTabSz="550332" rtl="0" latinLnBrk="0">
        <a:lnSpc>
          <a:spcPct val="100000"/>
        </a:lnSpc>
        <a:spcBef>
          <a:spcPts val="0"/>
        </a:spcBef>
        <a:spcAft>
          <a:spcPts val="0"/>
        </a:spcAft>
        <a:buClrTx/>
        <a:buSzTx/>
        <a:buFontTx/>
        <a:buNone/>
        <a:tabLst/>
        <a:defRPr b="0" baseline="0" cap="none" i="0" spc="0" strike="noStrike" sz="3600" u="none">
          <a:solidFill>
            <a:srgbClr val="000000"/>
          </a:solidFill>
          <a:uFillTx/>
          <a:latin typeface="+mn-lt"/>
          <a:ea typeface="+mn-ea"/>
          <a:cs typeface="+mn-cs"/>
          <a:sym typeface="Helvetica Neue"/>
        </a:defRPr>
      </a:lvl8pPr>
      <a:lvl9pPr marL="0" marR="0" indent="0" algn="ctr" defTabSz="550332" rtl="0" latinLnBrk="0">
        <a:lnSpc>
          <a:spcPct val="100000"/>
        </a:lnSpc>
        <a:spcBef>
          <a:spcPts val="0"/>
        </a:spcBef>
        <a:spcAft>
          <a:spcPts val="0"/>
        </a:spcAft>
        <a:buClrTx/>
        <a:buSzTx/>
        <a:buFontTx/>
        <a:buNone/>
        <a:tabLst/>
        <a:defRPr b="0" baseline="0" cap="none" i="0" spc="0" strike="noStrike" sz="3600" u="none">
          <a:solidFill>
            <a:srgbClr val="000000"/>
          </a:solidFill>
          <a:uFillTx/>
          <a:latin typeface="+mn-lt"/>
          <a:ea typeface="+mn-ea"/>
          <a:cs typeface="+mn-cs"/>
          <a:sym typeface="Helvetica Neue"/>
        </a:defRPr>
      </a:lvl9pPr>
    </p:bodyStyle>
    <p:otherStyle>
      <a:lvl1pPr marL="0" marR="0" indent="0" algn="ctr" defTabSz="550332"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1pPr>
      <a:lvl2pPr marL="0" marR="0" indent="0" algn="ctr" defTabSz="550332"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2pPr>
      <a:lvl3pPr marL="0" marR="0" indent="0" algn="ctr" defTabSz="550332"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3pPr>
      <a:lvl4pPr marL="0" marR="0" indent="0" algn="ctr" defTabSz="550332"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4pPr>
      <a:lvl5pPr marL="0" marR="0" indent="0" algn="ctr" defTabSz="550332"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5pPr>
      <a:lvl6pPr marL="0" marR="0" indent="0" algn="ctr" defTabSz="550332"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6pPr>
      <a:lvl7pPr marL="0" marR="0" indent="0" algn="ctr" defTabSz="550332"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7pPr>
      <a:lvl8pPr marL="0" marR="0" indent="0" algn="ctr" defTabSz="550332"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8pPr>
      <a:lvl9pPr marL="0" marR="0" indent="0" algn="ctr" defTabSz="550332"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6.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7" name="PROJECT STATUS  /  TEAM 2"/>
          <p:cNvSpPr txBox="1"/>
          <p:nvPr/>
        </p:nvSpPr>
        <p:spPr>
          <a:xfrm>
            <a:off x="914400" y="606072"/>
            <a:ext cx="6350000" cy="2864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400">
                <a:solidFill>
                  <a:srgbClr val="1973B7"/>
                </a:solidFill>
                <a:latin typeface="Avenir Next Demi Bold"/>
                <a:ea typeface="Avenir Next Demi Bold"/>
                <a:cs typeface="Avenir Next Demi Bold"/>
                <a:sym typeface="Avenir Next Demi Bold"/>
              </a:defRPr>
            </a:lvl1pPr>
          </a:lstStyle>
          <a:p>
            <a:pPr/>
            <a:r>
              <a:t>PROJECT STATUS  /  TEAM 2</a:t>
            </a:r>
          </a:p>
        </p:txBody>
      </p:sp>
      <p:sp>
        <p:nvSpPr>
          <p:cNvPr id="138" name="Historical Stock Analysis"/>
          <p:cNvSpPr txBox="1"/>
          <p:nvPr/>
        </p:nvSpPr>
        <p:spPr>
          <a:xfrm>
            <a:off x="914400" y="1501422"/>
            <a:ext cx="12065000" cy="9849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5400">
                <a:solidFill>
                  <a:srgbClr val="182E48"/>
                </a:solidFill>
                <a:latin typeface="Avenir Next Demi Bold"/>
                <a:ea typeface="Avenir Next Demi Bold"/>
                <a:cs typeface="Avenir Next Demi Bold"/>
                <a:sym typeface="Avenir Next Demi Bold"/>
              </a:defRPr>
            </a:lvl1pPr>
          </a:lstStyle>
          <a:p>
            <a:pPr/>
            <a:r>
              <a:t>Historical Stock Analysis</a:t>
            </a:r>
          </a:p>
        </p:txBody>
      </p:sp>
      <p:sp>
        <p:nvSpPr>
          <p:cNvPr id="139" name="Does diversification survive a closer look?"/>
          <p:cNvSpPr txBox="1"/>
          <p:nvPr/>
        </p:nvSpPr>
        <p:spPr>
          <a:xfrm>
            <a:off x="914399" y="2688871"/>
            <a:ext cx="11684003" cy="5658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000">
                <a:solidFill>
                  <a:srgbClr val="58657C"/>
                </a:solidFill>
                <a:latin typeface="Avenir Next Medium"/>
                <a:ea typeface="Avenir Next Medium"/>
                <a:cs typeface="Avenir Next Medium"/>
                <a:sym typeface="Avenir Next Medium"/>
              </a:defRPr>
            </a:lvl1pPr>
          </a:lstStyle>
          <a:p>
            <a:pPr/>
            <a:r>
              <a:t>Does diversification survive a closer look?</a:t>
            </a:r>
          </a:p>
        </p:txBody>
      </p:sp>
      <p:sp>
        <p:nvSpPr>
          <p:cNvPr id="140" name="230,111"/>
          <p:cNvSpPr txBox="1"/>
          <p:nvPr/>
        </p:nvSpPr>
        <p:spPr>
          <a:xfrm>
            <a:off x="914399" y="4358921"/>
            <a:ext cx="3302003" cy="8833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4800">
                <a:solidFill>
                  <a:srgbClr val="1973B7"/>
                </a:solidFill>
                <a:latin typeface="Avenir Next Demi Bold"/>
                <a:ea typeface="Avenir Next Demi Bold"/>
                <a:cs typeface="Avenir Next Demi Bold"/>
                <a:sym typeface="Avenir Next Demi Bold"/>
              </a:defRPr>
            </a:lvl1pPr>
          </a:lstStyle>
          <a:p>
            <a:pPr/>
            <a:r>
              <a:t>230,111</a:t>
            </a:r>
          </a:p>
        </p:txBody>
      </p:sp>
      <p:sp>
        <p:nvSpPr>
          <p:cNvPr id="141" name="ticker-days"/>
          <p:cNvSpPr txBox="1"/>
          <p:nvPr/>
        </p:nvSpPr>
        <p:spPr>
          <a:xfrm>
            <a:off x="965200" y="5190771"/>
            <a:ext cx="2794000" cy="3372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700">
                <a:solidFill>
                  <a:srgbClr val="58657C"/>
                </a:solidFill>
                <a:latin typeface="Avenir Next Medium"/>
                <a:ea typeface="Avenir Next Medium"/>
                <a:cs typeface="Avenir Next Medium"/>
                <a:sym typeface="Avenir Next Medium"/>
              </a:defRPr>
            </a:lvl1pPr>
          </a:lstStyle>
          <a:p>
            <a:pPr/>
            <a:r>
              <a:t>ticker-days</a:t>
            </a:r>
          </a:p>
        </p:txBody>
      </p:sp>
      <p:sp>
        <p:nvSpPr>
          <p:cNvPr id="142" name="49"/>
          <p:cNvSpPr txBox="1"/>
          <p:nvPr/>
        </p:nvSpPr>
        <p:spPr>
          <a:xfrm>
            <a:off x="4775200" y="4358921"/>
            <a:ext cx="1524000" cy="8833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4800">
                <a:solidFill>
                  <a:srgbClr val="D06F21"/>
                </a:solidFill>
                <a:latin typeface="Avenir Next Demi Bold"/>
                <a:ea typeface="Avenir Next Demi Bold"/>
                <a:cs typeface="Avenir Next Demi Bold"/>
                <a:sym typeface="Avenir Next Demi Bold"/>
              </a:defRPr>
            </a:lvl1pPr>
          </a:lstStyle>
          <a:p>
            <a:pPr/>
            <a:r>
              <a:t>49</a:t>
            </a:r>
          </a:p>
        </p:txBody>
      </p:sp>
      <p:sp>
        <p:nvSpPr>
          <p:cNvPr id="143" name="global tickers"/>
          <p:cNvSpPr txBox="1"/>
          <p:nvPr/>
        </p:nvSpPr>
        <p:spPr>
          <a:xfrm>
            <a:off x="4826000" y="5190771"/>
            <a:ext cx="2794000" cy="3372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700">
                <a:solidFill>
                  <a:srgbClr val="58657C"/>
                </a:solidFill>
                <a:latin typeface="Avenir Next Medium"/>
                <a:ea typeface="Avenir Next Medium"/>
                <a:cs typeface="Avenir Next Medium"/>
                <a:sym typeface="Avenir Next Medium"/>
              </a:defRPr>
            </a:lvl1pPr>
          </a:lstStyle>
          <a:p>
            <a:pPr/>
            <a:r>
              <a:t>global tickers</a:t>
            </a:r>
          </a:p>
        </p:txBody>
      </p:sp>
      <p:sp>
        <p:nvSpPr>
          <p:cNvPr id="144" name="20 years"/>
          <p:cNvSpPr txBox="1"/>
          <p:nvPr/>
        </p:nvSpPr>
        <p:spPr>
          <a:xfrm>
            <a:off x="8712200" y="4358921"/>
            <a:ext cx="2794000" cy="8833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4800">
                <a:solidFill>
                  <a:srgbClr val="0B856E"/>
                </a:solidFill>
                <a:latin typeface="Avenir Next Demi Bold"/>
                <a:ea typeface="Avenir Next Demi Bold"/>
                <a:cs typeface="Avenir Next Demi Bold"/>
                <a:sym typeface="Avenir Next Demi Bold"/>
              </a:defRPr>
            </a:lvl1pPr>
          </a:lstStyle>
          <a:p>
            <a:pPr/>
            <a:r>
              <a:t>20 years</a:t>
            </a:r>
          </a:p>
        </p:txBody>
      </p:sp>
      <p:sp>
        <p:nvSpPr>
          <p:cNvPr id="145" name="2006–2026"/>
          <p:cNvSpPr txBox="1"/>
          <p:nvPr/>
        </p:nvSpPr>
        <p:spPr>
          <a:xfrm>
            <a:off x="8762999" y="5190771"/>
            <a:ext cx="2794002" cy="3372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700">
                <a:solidFill>
                  <a:srgbClr val="58657C"/>
                </a:solidFill>
                <a:latin typeface="Avenir Next Medium"/>
                <a:ea typeface="Avenir Next Medium"/>
                <a:cs typeface="Avenir Next Medium"/>
                <a:sym typeface="Avenir Next Medium"/>
              </a:defRPr>
            </a:lvl1pPr>
          </a:lstStyle>
          <a:p>
            <a:pPr/>
            <a:r>
              <a:t>2006–2026</a:t>
            </a:r>
          </a:p>
        </p:txBody>
      </p:sp>
      <p:sp>
        <p:nvSpPr>
          <p:cNvPr id="146" name="Karthikeyan M  ·  Mirthula M  ·  Lakshmi Mayuri Kavya N"/>
          <p:cNvSpPr txBox="1"/>
          <p:nvPr/>
        </p:nvSpPr>
        <p:spPr>
          <a:xfrm>
            <a:off x="914400" y="7330722"/>
            <a:ext cx="11811000" cy="3880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000">
                <a:solidFill>
                  <a:srgbClr val="182E48"/>
                </a:solidFill>
                <a:latin typeface="Avenir Next Medium"/>
                <a:ea typeface="Avenir Next Medium"/>
                <a:cs typeface="Avenir Next Medium"/>
                <a:sym typeface="Avenir Next Medium"/>
              </a:defRPr>
            </a:lvl1pPr>
          </a:lstStyle>
          <a:p>
            <a:pPr/>
            <a:r>
              <a:t>Karthikeyan M  ·  Mirthula M  ·  Lakshmi Mayuri Kavya N</a:t>
            </a:r>
          </a:p>
        </p:txBody>
      </p:sp>
      <p:sp>
        <p:nvSpPr>
          <p:cNvPr id="147" name="●"/>
          <p:cNvSpPr txBox="1"/>
          <p:nvPr/>
        </p:nvSpPr>
        <p:spPr>
          <a:xfrm>
            <a:off x="14478000" y="1501422"/>
            <a:ext cx="508000" cy="6293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800">
                <a:solidFill>
                  <a:srgbClr val="1973B7"/>
                </a:solidFill>
                <a:latin typeface="Avenir Next Demi Bold"/>
                <a:ea typeface="Avenir Next Demi Bold"/>
                <a:cs typeface="Avenir Next Demi Bold"/>
                <a:sym typeface="Avenir Next Demi Bold"/>
              </a:defRPr>
            </a:lvl1pPr>
          </a:lstStyle>
          <a:p>
            <a:pPr/>
            <a:r>
              <a:t>●</a:t>
            </a:r>
          </a:p>
        </p:txBody>
      </p:sp>
      <p:sp>
        <p:nvSpPr>
          <p:cNvPr id="148" name="●"/>
          <p:cNvSpPr txBox="1"/>
          <p:nvPr/>
        </p:nvSpPr>
        <p:spPr>
          <a:xfrm>
            <a:off x="14909800" y="2009421"/>
            <a:ext cx="508000" cy="6293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800">
                <a:solidFill>
                  <a:srgbClr val="D06F21"/>
                </a:solidFill>
                <a:latin typeface="Avenir Next Demi Bold"/>
                <a:ea typeface="Avenir Next Demi Bold"/>
                <a:cs typeface="Avenir Next Demi Bold"/>
                <a:sym typeface="Avenir Next Demi Bold"/>
              </a:defRPr>
            </a:lvl1pPr>
          </a:lstStyle>
          <a:p>
            <a:pPr/>
            <a:r>
              <a:t>●</a:t>
            </a:r>
          </a:p>
        </p:txBody>
      </p:sp>
      <p:sp>
        <p:nvSpPr>
          <p:cNvPr id="149" name="●"/>
          <p:cNvSpPr txBox="1"/>
          <p:nvPr/>
        </p:nvSpPr>
        <p:spPr>
          <a:xfrm>
            <a:off x="14325598" y="2542821"/>
            <a:ext cx="508002" cy="6293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800">
                <a:solidFill>
                  <a:srgbClr val="0B856E"/>
                </a:solidFill>
                <a:latin typeface="Avenir Next Demi Bold"/>
                <a:ea typeface="Avenir Next Demi Bold"/>
                <a:cs typeface="Avenir Next Demi Bold"/>
                <a:sym typeface="Avenir Next Demi Bold"/>
              </a:defRPr>
            </a:lvl1pPr>
          </a:lstStyle>
          <a:p>
            <a:pPr/>
            <a:r>
              <a:t>●</a:t>
            </a:r>
          </a:p>
        </p:txBody>
      </p:sp>
      <p:sp>
        <p:nvSpPr>
          <p:cNvPr id="150" name="HISTORICAL STOCK ANALYSIS  /  OPENING"/>
          <p:cNvSpPr txBox="1"/>
          <p:nvPr/>
        </p:nvSpPr>
        <p:spPr>
          <a:xfrm>
            <a:off x="914400" y="8664222"/>
            <a:ext cx="8255000" cy="2229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pPr/>
            <a:r>
              <a:t>HISTORICAL STOCK ANALYSIS  /  OPENING</a:t>
            </a:r>
          </a:p>
        </p:txBody>
      </p:sp>
      <p:sp>
        <p:nvSpPr>
          <p:cNvPr id="151" name="1"/>
          <p:cNvSpPr txBox="1"/>
          <p:nvPr/>
        </p:nvSpPr>
        <p:spPr>
          <a:xfrm>
            <a:off x="14986000" y="8664222"/>
            <a:ext cx="355600" cy="2229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pPr/>
            <a:r>
              <a:t>1</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5" name="●  DATA"/>
          <p:cNvSpPr txBox="1"/>
          <p:nvPr/>
        </p:nvSpPr>
        <p:spPr>
          <a:xfrm>
            <a:off x="914400" y="447322"/>
            <a:ext cx="6350000" cy="2737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pPr/>
            <a:r>
              <a:t>●  DATA</a:t>
            </a:r>
          </a:p>
        </p:txBody>
      </p:sp>
      <p:sp>
        <p:nvSpPr>
          <p:cNvPr id="156" name="2"/>
          <p:cNvSpPr txBox="1"/>
          <p:nvPr/>
        </p:nvSpPr>
        <p:spPr>
          <a:xfrm>
            <a:off x="14351000" y="339371"/>
            <a:ext cx="990600" cy="5658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pPr/>
            <a:r>
              <a:t>2</a:t>
            </a:r>
          </a:p>
        </p:txBody>
      </p:sp>
      <p:sp>
        <p:nvSpPr>
          <p:cNvPr id="157" name="Each row is one company on one trading day"/>
          <p:cNvSpPr txBox="1"/>
          <p:nvPr/>
        </p:nvSpPr>
        <p:spPr>
          <a:xfrm>
            <a:off x="914400" y="948972"/>
            <a:ext cx="14427200" cy="6674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600">
                <a:solidFill>
                  <a:srgbClr val="182E48"/>
                </a:solidFill>
                <a:latin typeface="Avenir Next Demi Bold"/>
                <a:ea typeface="Avenir Next Demi Bold"/>
                <a:cs typeface="Avenir Next Demi Bold"/>
                <a:sym typeface="Avenir Next Demi Bold"/>
              </a:defRPr>
            </a:lvl1pPr>
          </a:lstStyle>
          <a:p>
            <a:pPr/>
            <a:r>
              <a:t>Each row is one company on one trading day</a:t>
            </a:r>
          </a:p>
        </p:txBody>
      </p:sp>
      <p:sp>
        <p:nvSpPr>
          <p:cNvPr id="158" name="The file combines price, return-ready closing values, and trading activity."/>
          <p:cNvSpPr txBox="1"/>
          <p:nvPr/>
        </p:nvSpPr>
        <p:spPr>
          <a:xfrm>
            <a:off x="914400" y="1749071"/>
            <a:ext cx="14427200" cy="3753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pPr/>
            <a:r>
              <a:t>The file combines price, return-ready closing values, and trading activity.</a:t>
            </a:r>
          </a:p>
        </p:txBody>
      </p:sp>
      <p:sp>
        <p:nvSpPr>
          <p:cNvPr id="159" name="HISTORICAL STOCK ANALYSIS  /  DATA"/>
          <p:cNvSpPr txBox="1"/>
          <p:nvPr/>
        </p:nvSpPr>
        <p:spPr>
          <a:xfrm>
            <a:off x="914400" y="8664222"/>
            <a:ext cx="8255000" cy="2229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pPr/>
            <a:r>
              <a:t>HISTORICAL STOCK ANALYSIS  /  DATA</a:t>
            </a:r>
          </a:p>
        </p:txBody>
      </p:sp>
      <p:sp>
        <p:nvSpPr>
          <p:cNvPr id="160" name="2"/>
          <p:cNvSpPr txBox="1"/>
          <p:nvPr/>
        </p:nvSpPr>
        <p:spPr>
          <a:xfrm>
            <a:off x="14986000" y="8664222"/>
            <a:ext cx="355600" cy="2229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pPr/>
            <a:r>
              <a:t>2</a:t>
            </a:r>
          </a:p>
        </p:txBody>
      </p:sp>
      <p:sp>
        <p:nvSpPr>
          <p:cNvPr id="161" name="230,111 rows"/>
          <p:cNvSpPr txBox="1"/>
          <p:nvPr/>
        </p:nvSpPr>
        <p:spPr>
          <a:xfrm>
            <a:off x="914400" y="2320571"/>
            <a:ext cx="3048000" cy="5150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700">
                <a:solidFill>
                  <a:srgbClr val="1973B7"/>
                </a:solidFill>
                <a:latin typeface="Avenir Next Demi Bold"/>
                <a:ea typeface="Avenir Next Demi Bold"/>
                <a:cs typeface="Avenir Next Demi Bold"/>
                <a:sym typeface="Avenir Next Demi Bold"/>
              </a:defRPr>
            </a:lvl1pPr>
          </a:lstStyle>
          <a:p>
            <a:pPr/>
            <a:r>
              <a:t>230,111 rows</a:t>
            </a:r>
          </a:p>
        </p:txBody>
      </p:sp>
      <p:sp>
        <p:nvSpPr>
          <p:cNvPr id="162" name="8 columns"/>
          <p:cNvSpPr txBox="1"/>
          <p:nvPr/>
        </p:nvSpPr>
        <p:spPr>
          <a:xfrm>
            <a:off x="4445000" y="2320571"/>
            <a:ext cx="2286000" cy="5150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700">
                <a:solidFill>
                  <a:srgbClr val="D06F21"/>
                </a:solidFill>
                <a:latin typeface="Avenir Next Demi Bold"/>
                <a:ea typeface="Avenir Next Demi Bold"/>
                <a:cs typeface="Avenir Next Demi Bold"/>
                <a:sym typeface="Avenir Next Demi Bold"/>
              </a:defRPr>
            </a:lvl1pPr>
          </a:lstStyle>
          <a:p>
            <a:pPr/>
            <a:r>
              <a:t>8 columns</a:t>
            </a:r>
          </a:p>
        </p:txBody>
      </p:sp>
      <p:sp>
        <p:nvSpPr>
          <p:cNvPr id="163" name="0 missing values"/>
          <p:cNvSpPr txBox="1"/>
          <p:nvPr/>
        </p:nvSpPr>
        <p:spPr>
          <a:xfrm>
            <a:off x="7239000" y="2320571"/>
            <a:ext cx="3048000" cy="5150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700">
                <a:solidFill>
                  <a:srgbClr val="0B856E"/>
                </a:solidFill>
                <a:latin typeface="Avenir Next Demi Bold"/>
                <a:ea typeface="Avenir Next Demi Bold"/>
                <a:cs typeface="Avenir Next Demi Bold"/>
                <a:sym typeface="Avenir Next Demi Bold"/>
              </a:defRPr>
            </a:lvl1pPr>
          </a:lstStyle>
          <a:p>
            <a:pPr/>
            <a:r>
              <a:t>0 missing values</a:t>
            </a:r>
          </a:p>
        </p:txBody>
      </p:sp>
      <p:sp>
        <p:nvSpPr>
          <p:cNvPr id="164" name="2006-01-02 → 2026-02-20"/>
          <p:cNvSpPr txBox="1"/>
          <p:nvPr/>
        </p:nvSpPr>
        <p:spPr>
          <a:xfrm>
            <a:off x="10795000" y="2403121"/>
            <a:ext cx="4445000" cy="3753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900">
                <a:solidFill>
                  <a:srgbClr val="58657C"/>
                </a:solidFill>
                <a:latin typeface="Avenir Next Medium"/>
                <a:ea typeface="Avenir Next Medium"/>
                <a:cs typeface="Avenir Next Medium"/>
                <a:sym typeface="Avenir Next Medium"/>
              </a:defRPr>
            </a:lvl1pPr>
          </a:lstStyle>
          <a:p>
            <a:pPr/>
            <a:r>
              <a:t>2006-01-02 → 2026-02-20</a:t>
            </a:r>
          </a:p>
        </p:txBody>
      </p:sp>
      <p:graphicFrame>
        <p:nvGraphicFramePr>
          <p:cNvPr id="165" name="Table 1"/>
          <p:cNvGraphicFramePr/>
          <p:nvPr/>
        </p:nvGraphicFramePr>
        <p:xfrm>
          <a:off x="914400" y="3149600"/>
          <a:ext cx="14427200" cy="4013200"/>
        </p:xfrm>
        <a:graphic xmlns:a="http://schemas.openxmlformats.org/drawingml/2006/main">
          <a:graphicData uri="http://schemas.openxmlformats.org/drawingml/2006/table">
            <a:tbl>
              <a:tblPr firstCol="0" firstRow="1" lastCol="0" lastRow="0" bandCol="0" bandRow="1" rtl="0">
                <a:tableStyleId>{4C3C2611-4C71-4FC5-86AE-919BDF0F9419}</a:tableStyleId>
              </a:tblPr>
              <a:tblGrid>
                <a:gridCol w="3048000"/>
                <a:gridCol w="2667000"/>
                <a:gridCol w="2667000"/>
                <a:gridCol w="2997200"/>
                <a:gridCol w="3048000"/>
              </a:tblGrid>
              <a:tr h="1003300">
                <a:tc>
                  <a:txBody>
                    <a:bodyPr/>
                    <a:lstStyle/>
                    <a:p>
                      <a:pPr defTabSz="914400">
                        <a:defRPr b="0" sz="1800">
                          <a:solidFill>
                            <a:srgbClr val="000000"/>
                          </a:solidFill>
                        </a:defRPr>
                      </a:pPr>
                      <a:r>
                        <a:rPr sz="1600">
                          <a:solidFill>
                            <a:srgbClr val="182E48"/>
                          </a:solidFill>
                          <a:latin typeface="Avenir Next Regular"/>
                          <a:ea typeface="Avenir Next Regular"/>
                          <a:cs typeface="Avenir Next Regular"/>
                          <a:sym typeface="Avenir Next Regular"/>
                        </a:rPr>
                        <a:t>Date</a:t>
                      </a:r>
                    </a:p>
                  </a:txBody>
                  <a:tcPr marL="50800" marR="50800" marT="50800" marB="50800" anchor="ctr" anchorCtr="0" horzOverflow="overflow">
                    <a:solidFill>
                      <a:srgbClr val="FFFFFF"/>
                    </a:solidFill>
                  </a:tcPr>
                </a:tc>
                <a:tc>
                  <a:txBody>
                    <a:bodyPr/>
                    <a:lstStyle/>
                    <a:p>
                      <a:pPr defTabSz="914400">
                        <a:defRPr b="0" sz="1800">
                          <a:solidFill>
                            <a:srgbClr val="000000"/>
                          </a:solidFill>
                        </a:defRPr>
                      </a:pPr>
                      <a:r>
                        <a:rPr sz="1600">
                          <a:solidFill>
                            <a:srgbClr val="182E48"/>
                          </a:solidFill>
                          <a:latin typeface="Avenir Next Regular"/>
                          <a:ea typeface="Avenir Next Regular"/>
                          <a:cs typeface="Avenir Next Regular"/>
                          <a:sym typeface="Avenir Next Regular"/>
                        </a:rPr>
                        <a:t>Ticker</a:t>
                      </a:r>
                    </a:p>
                  </a:txBody>
                  <a:tcPr marL="50800" marR="50800" marT="50800" marB="50800" anchor="ctr" anchorCtr="0" horzOverflow="overflow">
                    <a:solidFill>
                      <a:srgbClr val="FFFFFF"/>
                    </a:solidFill>
                  </a:tcPr>
                </a:tc>
                <a:tc>
                  <a:txBody>
                    <a:bodyPr/>
                    <a:lstStyle/>
                    <a:p>
                      <a:pPr defTabSz="914400">
                        <a:defRPr b="0" sz="1800">
                          <a:solidFill>
                            <a:srgbClr val="000000"/>
                          </a:solidFill>
                        </a:defRPr>
                      </a:pPr>
                      <a:r>
                        <a:rPr sz="1600">
                          <a:solidFill>
                            <a:srgbClr val="182E48"/>
                          </a:solidFill>
                          <a:latin typeface="Avenir Next Regular"/>
                          <a:ea typeface="Avenir Next Regular"/>
                          <a:cs typeface="Avenir Next Regular"/>
                          <a:sym typeface="Avenir Next Regular"/>
                        </a:rPr>
                        <a:t>Open</a:t>
                      </a:r>
                    </a:p>
                  </a:txBody>
                  <a:tcPr marL="50800" marR="50800" marT="50800" marB="50800" anchor="ctr" anchorCtr="0" horzOverflow="overflow">
                    <a:solidFill>
                      <a:srgbClr val="FFFFFF"/>
                    </a:solidFill>
                  </a:tcPr>
                </a:tc>
                <a:tc>
                  <a:txBody>
                    <a:bodyPr/>
                    <a:lstStyle/>
                    <a:p>
                      <a:pPr defTabSz="914400">
                        <a:defRPr b="0" sz="1800">
                          <a:solidFill>
                            <a:srgbClr val="000000"/>
                          </a:solidFill>
                        </a:defRPr>
                      </a:pPr>
                      <a:r>
                        <a:rPr sz="1600">
                          <a:solidFill>
                            <a:srgbClr val="182E48"/>
                          </a:solidFill>
                          <a:latin typeface="Avenir Next Regular"/>
                          <a:ea typeface="Avenir Next Regular"/>
                          <a:cs typeface="Avenir Next Regular"/>
                          <a:sym typeface="Avenir Next Regular"/>
                        </a:rPr>
                        <a:t>Adj Close</a:t>
                      </a:r>
                    </a:p>
                  </a:txBody>
                  <a:tcPr marL="50800" marR="50800" marT="50800" marB="50800" anchor="ctr" anchorCtr="0" horzOverflow="overflow">
                    <a:solidFill>
                      <a:srgbClr val="FFFFFF"/>
                    </a:solidFill>
                  </a:tcPr>
                </a:tc>
                <a:tc>
                  <a:txBody>
                    <a:bodyPr/>
                    <a:lstStyle/>
                    <a:p>
                      <a:pPr defTabSz="914400">
                        <a:defRPr b="0" sz="1800">
                          <a:solidFill>
                            <a:srgbClr val="000000"/>
                          </a:solidFill>
                        </a:defRPr>
                      </a:pPr>
                      <a:r>
                        <a:rPr sz="1600">
                          <a:solidFill>
                            <a:srgbClr val="182E48"/>
                          </a:solidFill>
                          <a:latin typeface="Avenir Next Regular"/>
                          <a:ea typeface="Avenir Next Regular"/>
                          <a:cs typeface="Avenir Next Regular"/>
                          <a:sym typeface="Avenir Next Regular"/>
                        </a:rPr>
                        <a:t>Volume</a:t>
                      </a:r>
                    </a:p>
                  </a:txBody>
                  <a:tcPr marL="50800" marR="50800" marT="50800" marB="50800" anchor="ctr" anchorCtr="0" horzOverflow="overflow">
                    <a:solidFill>
                      <a:srgbClr val="FFFFFF"/>
                    </a:solidFill>
                  </a:tcPr>
                </a:tc>
              </a:tr>
              <a:tr h="1003300">
                <a:tc>
                  <a:txBody>
                    <a:bodyPr/>
                    <a:lstStyle/>
                    <a:p>
                      <a:pPr defTabSz="914400">
                        <a:defRPr sz="1800"/>
                      </a:pPr>
                      <a:r>
                        <a:rPr sz="1600">
                          <a:solidFill>
                            <a:srgbClr val="182E48"/>
                          </a:solidFill>
                          <a:latin typeface="Avenir Next Regular"/>
                          <a:ea typeface="Avenir Next Regular"/>
                          <a:cs typeface="Avenir Next Regular"/>
                          <a:sym typeface="Avenir Next Regular"/>
                        </a:rPr>
                        <a:t>2026-02-20</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AAPL</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258.97</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264.58</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4,20,44,900</a:t>
                      </a:r>
                    </a:p>
                  </a:txBody>
                  <a:tcPr marL="50800" marR="50800" marT="50800" marB="50800" anchor="ctr" anchorCtr="0" horzOverflow="overflow"/>
                </a:tc>
              </a:tr>
              <a:tr h="1003300">
                <a:tc>
                  <a:txBody>
                    <a:bodyPr/>
                    <a:lstStyle/>
                    <a:p>
                      <a:pPr defTabSz="914400">
                        <a:defRPr sz="1800"/>
                      </a:pPr>
                      <a:r>
                        <a:rPr sz="1600">
                          <a:solidFill>
                            <a:srgbClr val="182E48"/>
                          </a:solidFill>
                          <a:latin typeface="Avenir Next Regular"/>
                          <a:ea typeface="Avenir Next Regular"/>
                          <a:cs typeface="Avenir Next Regular"/>
                          <a:sym typeface="Avenir Next Regular"/>
                        </a:rPr>
                        <a:t>2026-02-20</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005930.KS</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1,90,000</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1,90,100</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2,42,13,880</a:t>
                      </a:r>
                    </a:p>
                  </a:txBody>
                  <a:tcPr marL="50800" marR="50800" marT="50800" marB="50800" anchor="ctr" anchorCtr="0" horzOverflow="overflow"/>
                </a:tc>
              </a:tr>
              <a:tr h="1003300">
                <a:tc>
                  <a:txBody>
                    <a:bodyPr/>
                    <a:lstStyle/>
                    <a:p>
                      <a:pPr defTabSz="914400">
                        <a:defRPr sz="1800"/>
                      </a:pPr>
                      <a:r>
                        <a:rPr sz="1600">
                          <a:solidFill>
                            <a:srgbClr val="182E48"/>
                          </a:solidFill>
                          <a:latin typeface="Avenir Next Regular"/>
                          <a:ea typeface="Avenir Next Regular"/>
                          <a:cs typeface="Avenir Next Regular"/>
                          <a:sym typeface="Avenir Next Regular"/>
                        </a:rPr>
                        <a:t>2026-02-20</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MC.PA</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541.40</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554.70</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9,29,807</a:t>
                      </a:r>
                    </a:p>
                  </a:txBody>
                  <a:tcPr marL="50800" marR="50800" marT="50800" marB="50800" anchor="ctr" anchorCtr="0" horzOverflow="overflow"/>
                </a:tc>
              </a:tr>
            </a:tbl>
          </a:graphicData>
        </a:graphic>
      </p:graphicFrame>
      <p:sp>
        <p:nvSpPr>
          <p:cNvPr id="166" name="Same columns, different exchanges and currencies—so the analysis cannot compare raw prices directly."/>
          <p:cNvSpPr txBox="1"/>
          <p:nvPr/>
        </p:nvSpPr>
        <p:spPr>
          <a:xfrm>
            <a:off x="914400" y="7495822"/>
            <a:ext cx="14224000" cy="4134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100">
                <a:solidFill>
                  <a:srgbClr val="D06F21"/>
                </a:solidFill>
                <a:latin typeface="Avenir Next Medium"/>
                <a:ea typeface="Avenir Next Medium"/>
                <a:cs typeface="Avenir Next Medium"/>
                <a:sym typeface="Avenir Next Medium"/>
              </a:defRPr>
            </a:lvl1pPr>
          </a:lstStyle>
          <a:p>
            <a:pPr/>
            <a:r>
              <a:t>Same columns, different exchanges and currencies—so the analysis cannot compare raw prices directly.</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0" name="●  DATA"/>
          <p:cNvSpPr txBox="1"/>
          <p:nvPr/>
        </p:nvSpPr>
        <p:spPr>
          <a:xfrm>
            <a:off x="914400" y="447322"/>
            <a:ext cx="6350000" cy="2737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pPr/>
            <a:r>
              <a:t>●  DATA</a:t>
            </a:r>
          </a:p>
        </p:txBody>
      </p:sp>
      <p:sp>
        <p:nvSpPr>
          <p:cNvPr id="171" name="3"/>
          <p:cNvSpPr txBox="1"/>
          <p:nvPr/>
        </p:nvSpPr>
        <p:spPr>
          <a:xfrm>
            <a:off x="14351000" y="339371"/>
            <a:ext cx="990600" cy="5658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pPr/>
            <a:r>
              <a:t>3</a:t>
            </a:r>
          </a:p>
        </p:txBody>
      </p:sp>
      <p:sp>
        <p:nvSpPr>
          <p:cNvPr id="172" name="Eight fields describe price movement and activity"/>
          <p:cNvSpPr txBox="1"/>
          <p:nvPr/>
        </p:nvSpPr>
        <p:spPr>
          <a:xfrm>
            <a:off x="914400" y="948972"/>
            <a:ext cx="14427200" cy="6674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600">
                <a:solidFill>
                  <a:srgbClr val="182E48"/>
                </a:solidFill>
                <a:latin typeface="Avenir Next Demi Bold"/>
                <a:ea typeface="Avenir Next Demi Bold"/>
                <a:cs typeface="Avenir Next Demi Bold"/>
                <a:sym typeface="Avenir Next Demi Bold"/>
              </a:defRPr>
            </a:lvl1pPr>
          </a:lstStyle>
          <a:p>
            <a:pPr/>
            <a:r>
              <a:t>Eight fields describe price movement and activity</a:t>
            </a:r>
          </a:p>
        </p:txBody>
      </p:sp>
      <p:sp>
        <p:nvSpPr>
          <p:cNvPr id="173" name="Adjusted Close is the analytical anchor because it includes split and dividend adjustments."/>
          <p:cNvSpPr txBox="1"/>
          <p:nvPr/>
        </p:nvSpPr>
        <p:spPr>
          <a:xfrm>
            <a:off x="914400" y="1749071"/>
            <a:ext cx="14427200" cy="3753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pPr/>
            <a:r>
              <a:t>Adjusted Close is the analytical anchor because it includes split and dividend adjustments.</a:t>
            </a:r>
          </a:p>
        </p:txBody>
      </p:sp>
      <p:sp>
        <p:nvSpPr>
          <p:cNvPr id="174" name="HISTORICAL STOCK ANALYSIS  /  DATA"/>
          <p:cNvSpPr txBox="1"/>
          <p:nvPr/>
        </p:nvSpPr>
        <p:spPr>
          <a:xfrm>
            <a:off x="914400" y="8664222"/>
            <a:ext cx="8255000" cy="2229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pPr/>
            <a:r>
              <a:t>HISTORICAL STOCK ANALYSIS  /  DATA</a:t>
            </a:r>
          </a:p>
        </p:txBody>
      </p:sp>
      <p:sp>
        <p:nvSpPr>
          <p:cNvPr id="175" name="3"/>
          <p:cNvSpPr txBox="1"/>
          <p:nvPr/>
        </p:nvSpPr>
        <p:spPr>
          <a:xfrm>
            <a:off x="14986000" y="8664222"/>
            <a:ext cx="355600" cy="2229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pPr/>
            <a:r>
              <a:t>3</a:t>
            </a:r>
          </a:p>
        </p:txBody>
      </p:sp>
      <p:graphicFrame>
        <p:nvGraphicFramePr>
          <p:cNvPr id="176" name="Table 1"/>
          <p:cNvGraphicFramePr/>
          <p:nvPr/>
        </p:nvGraphicFramePr>
        <p:xfrm>
          <a:off x="914400" y="2387600"/>
          <a:ext cx="14427200" cy="5562595"/>
        </p:xfrm>
        <a:graphic xmlns:a="http://schemas.openxmlformats.org/drawingml/2006/main">
          <a:graphicData uri="http://schemas.openxmlformats.org/drawingml/2006/table">
            <a:tbl>
              <a:tblPr firstCol="0" firstRow="1" lastCol="0" lastRow="0" bandCol="0" bandRow="1" rtl="0">
                <a:tableStyleId>{4C3C2611-4C71-4FC5-86AE-919BDF0F9419}</a:tableStyleId>
              </a:tblPr>
              <a:tblGrid>
                <a:gridCol w="2413000"/>
                <a:gridCol w="6350000"/>
                <a:gridCol w="5664200"/>
              </a:tblGrid>
              <a:tr h="618066">
                <a:tc>
                  <a:txBody>
                    <a:bodyPr/>
                    <a:lstStyle/>
                    <a:p>
                      <a:pPr defTabSz="914400">
                        <a:defRPr b="0" sz="1800">
                          <a:solidFill>
                            <a:srgbClr val="000000"/>
                          </a:solidFill>
                        </a:defRPr>
                      </a:pPr>
                      <a:r>
                        <a:rPr sz="1600">
                          <a:solidFill>
                            <a:srgbClr val="182E48"/>
                          </a:solidFill>
                          <a:latin typeface="Avenir Next Regular"/>
                          <a:ea typeface="Avenir Next Regular"/>
                          <a:cs typeface="Avenir Next Regular"/>
                          <a:sym typeface="Avenir Next Regular"/>
                        </a:rPr>
                        <a:t>Field</a:t>
                      </a:r>
                    </a:p>
                  </a:txBody>
                  <a:tcPr marL="50800" marR="50800" marT="50800" marB="50800" anchor="ctr" anchorCtr="0" horzOverflow="overflow">
                    <a:solidFill>
                      <a:srgbClr val="FFFFFF"/>
                    </a:solidFill>
                  </a:tcPr>
                </a:tc>
                <a:tc>
                  <a:txBody>
                    <a:bodyPr/>
                    <a:lstStyle/>
                    <a:p>
                      <a:pPr defTabSz="914400">
                        <a:defRPr b="0" sz="1800">
                          <a:solidFill>
                            <a:srgbClr val="000000"/>
                          </a:solidFill>
                        </a:defRPr>
                      </a:pPr>
                      <a:r>
                        <a:rPr sz="1600">
                          <a:solidFill>
                            <a:srgbClr val="182E48"/>
                          </a:solidFill>
                          <a:latin typeface="Avenir Next Regular"/>
                          <a:ea typeface="Avenir Next Regular"/>
                          <a:cs typeface="Avenir Next Regular"/>
                          <a:sym typeface="Avenir Next Regular"/>
                        </a:rPr>
                        <a:t>Plain-language meaning</a:t>
                      </a:r>
                    </a:p>
                  </a:txBody>
                  <a:tcPr marL="50800" marR="50800" marT="50800" marB="50800" anchor="ctr" anchorCtr="0" horzOverflow="overflow">
                    <a:solidFill>
                      <a:srgbClr val="FFFFFF"/>
                    </a:solidFill>
                  </a:tcPr>
                </a:tc>
                <a:tc>
                  <a:txBody>
                    <a:bodyPr/>
                    <a:lstStyle/>
                    <a:p>
                      <a:pPr defTabSz="914400">
                        <a:defRPr b="0" sz="1800">
                          <a:solidFill>
                            <a:srgbClr val="000000"/>
                          </a:solidFill>
                        </a:defRPr>
                      </a:pPr>
                      <a:r>
                        <a:rPr sz="1600">
                          <a:solidFill>
                            <a:srgbClr val="182E48"/>
                          </a:solidFill>
                          <a:latin typeface="Avenir Next Regular"/>
                          <a:ea typeface="Avenir Next Regular"/>
                          <a:cs typeface="Avenir Next Regular"/>
                          <a:sym typeface="Avenir Next Regular"/>
                        </a:rPr>
                        <a:t>How we use it</a:t>
                      </a:r>
                    </a:p>
                  </a:txBody>
                  <a:tcPr marL="50800" marR="50800" marT="50800" marB="50800" anchor="ctr" anchorCtr="0" horzOverflow="overflow">
                    <a:solidFill>
                      <a:srgbClr val="FFFFFF"/>
                    </a:solidFill>
                  </a:tcPr>
                </a:tc>
              </a:tr>
              <a:tr h="618066">
                <a:tc>
                  <a:txBody>
                    <a:bodyPr/>
                    <a:lstStyle/>
                    <a:p>
                      <a:pPr defTabSz="914400">
                        <a:defRPr sz="1800"/>
                      </a:pPr>
                      <a:r>
                        <a:rPr sz="1600">
                          <a:solidFill>
                            <a:srgbClr val="182E48"/>
                          </a:solidFill>
                          <a:latin typeface="Avenir Next Regular"/>
                          <a:ea typeface="Avenir Next Regular"/>
                          <a:cs typeface="Avenir Next Regular"/>
                          <a:sym typeface="Avenir Next Regular"/>
                        </a:rPr>
                        <a:t>Date</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Trading day</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Time windows and monthly bins</a:t>
                      </a:r>
                    </a:p>
                  </a:txBody>
                  <a:tcPr marL="50800" marR="50800" marT="50800" marB="50800" anchor="ctr" anchorCtr="0" horzOverflow="overflow"/>
                </a:tc>
              </a:tr>
              <a:tr h="618066">
                <a:tc>
                  <a:txBody>
                    <a:bodyPr/>
                    <a:lstStyle/>
                    <a:p>
                      <a:pPr defTabSz="914400">
                        <a:defRPr sz="1800"/>
                      </a:pPr>
                      <a:r>
                        <a:rPr sz="1600">
                          <a:solidFill>
                            <a:srgbClr val="182E48"/>
                          </a:solidFill>
                          <a:latin typeface="Avenir Next Regular"/>
                          <a:ea typeface="Avenir Next Regular"/>
                          <a:cs typeface="Avenir Next Regular"/>
                          <a:sym typeface="Avenir Next Regular"/>
                        </a:rPr>
                        <a:t>Ticker</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Company and exchange symbol</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Grouping by company, region, or sector</a:t>
                      </a:r>
                    </a:p>
                  </a:txBody>
                  <a:tcPr marL="50800" marR="50800" marT="50800" marB="50800" anchor="ctr" anchorCtr="0" horzOverflow="overflow"/>
                </a:tc>
              </a:tr>
              <a:tr h="618066">
                <a:tc>
                  <a:txBody>
                    <a:bodyPr/>
                    <a:lstStyle/>
                    <a:p>
                      <a:pPr defTabSz="914400">
                        <a:defRPr sz="1800"/>
                      </a:pPr>
                      <a:r>
                        <a:rPr sz="1600">
                          <a:solidFill>
                            <a:srgbClr val="182E48"/>
                          </a:solidFill>
                          <a:latin typeface="Avenir Next Regular"/>
                          <a:ea typeface="Avenir Next Regular"/>
                          <a:cs typeface="Avenir Next Regular"/>
                          <a:sym typeface="Avenir Next Regular"/>
                        </a:rPr>
                        <a:t>Open</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First traded price of the day</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Daily price context</a:t>
                      </a:r>
                    </a:p>
                  </a:txBody>
                  <a:tcPr marL="50800" marR="50800" marT="50800" marB="50800" anchor="ctr" anchorCtr="0" horzOverflow="overflow"/>
                </a:tc>
              </a:tr>
              <a:tr h="618066">
                <a:tc>
                  <a:txBody>
                    <a:bodyPr/>
                    <a:lstStyle/>
                    <a:p>
                      <a:pPr defTabSz="914400">
                        <a:defRPr sz="1800"/>
                      </a:pPr>
                      <a:r>
                        <a:rPr sz="1600">
                          <a:solidFill>
                            <a:srgbClr val="182E48"/>
                          </a:solidFill>
                          <a:latin typeface="Avenir Next Regular"/>
                          <a:ea typeface="Avenir Next Regular"/>
                          <a:cs typeface="Avenir Next Regular"/>
                          <a:sym typeface="Avenir Next Regular"/>
                        </a:rPr>
                        <a:t>High</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Highest traded price that day</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Intraday range</a:t>
                      </a:r>
                    </a:p>
                  </a:txBody>
                  <a:tcPr marL="50800" marR="50800" marT="50800" marB="50800" anchor="ctr" anchorCtr="0" horzOverflow="overflow"/>
                </a:tc>
              </a:tr>
              <a:tr h="618066">
                <a:tc>
                  <a:txBody>
                    <a:bodyPr/>
                    <a:lstStyle/>
                    <a:p>
                      <a:pPr defTabSz="914400">
                        <a:defRPr sz="1800"/>
                      </a:pPr>
                      <a:r>
                        <a:rPr sz="1600">
                          <a:solidFill>
                            <a:srgbClr val="182E48"/>
                          </a:solidFill>
                          <a:latin typeface="Avenir Next Regular"/>
                          <a:ea typeface="Avenir Next Regular"/>
                          <a:cs typeface="Avenir Next Regular"/>
                          <a:sym typeface="Avenir Next Regular"/>
                        </a:rPr>
                        <a:t>Low</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Lowest traded price that day</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Intraday range</a:t>
                      </a:r>
                    </a:p>
                  </a:txBody>
                  <a:tcPr marL="50800" marR="50800" marT="50800" marB="50800" anchor="ctr" anchorCtr="0" horzOverflow="overflow"/>
                </a:tc>
              </a:tr>
              <a:tr h="618066">
                <a:tc>
                  <a:txBody>
                    <a:bodyPr/>
                    <a:lstStyle/>
                    <a:p>
                      <a:pPr defTabSz="914400">
                        <a:defRPr sz="1800"/>
                      </a:pPr>
                      <a:r>
                        <a:rPr sz="1600">
                          <a:solidFill>
                            <a:srgbClr val="182E48"/>
                          </a:solidFill>
                          <a:latin typeface="Avenir Next Regular"/>
                          <a:ea typeface="Avenir Next Regular"/>
                          <a:cs typeface="Avenir Next Regular"/>
                          <a:sym typeface="Avenir Next Regular"/>
                        </a:rPr>
                        <a:t>Close</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Final traded price; split-adjusted here</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Price display only</a:t>
                      </a:r>
                    </a:p>
                  </a:txBody>
                  <a:tcPr marL="50800" marR="50800" marT="50800" marB="50800" anchor="ctr" anchorCtr="0" horzOverflow="overflow"/>
                </a:tc>
              </a:tr>
              <a:tr h="618066">
                <a:tc>
                  <a:txBody>
                    <a:bodyPr/>
                    <a:lstStyle/>
                    <a:p>
                      <a:pPr defTabSz="914400">
                        <a:defRPr sz="1800"/>
                      </a:pPr>
                      <a:r>
                        <a:rPr sz="1600">
                          <a:solidFill>
                            <a:srgbClr val="182E48"/>
                          </a:solidFill>
                          <a:latin typeface="Avenir Next Regular"/>
                          <a:ea typeface="Avenir Next Regular"/>
                          <a:cs typeface="Avenir Next Regular"/>
                          <a:sym typeface="Avenir Next Regular"/>
                        </a:rPr>
                        <a:t>Adj Close</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Close adjusted for splits and dividends</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Returns and indexed growth</a:t>
                      </a:r>
                    </a:p>
                  </a:txBody>
                  <a:tcPr marL="50800" marR="50800" marT="50800" marB="50800" anchor="ctr" anchorCtr="0" horzOverflow="overflow"/>
                </a:tc>
              </a:tr>
              <a:tr h="618066">
                <a:tc>
                  <a:txBody>
                    <a:bodyPr/>
                    <a:lstStyle/>
                    <a:p>
                      <a:pPr defTabSz="914400">
                        <a:defRPr sz="1800"/>
                      </a:pPr>
                      <a:r>
                        <a:rPr sz="1600">
                          <a:solidFill>
                            <a:srgbClr val="182E48"/>
                          </a:solidFill>
                          <a:latin typeface="Avenir Next Regular"/>
                          <a:ea typeface="Avenir Next Regular"/>
                          <a:cs typeface="Avenir Next Regular"/>
                          <a:sym typeface="Avenir Next Regular"/>
                        </a:rPr>
                        <a:t>Volume</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Shares changing hands</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Trading-activity signal</a:t>
                      </a:r>
                    </a:p>
                  </a:txBody>
                  <a:tcPr marL="50800" marR="50800" marT="50800" marB="50800" anchor="ctr" anchorCtr="0" horzOverflow="overflow"/>
                </a:tc>
              </a:tr>
            </a:tbl>
          </a:graphicData>
        </a:graphic>
      </p:graphicFrame>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0" name="●  DATA"/>
          <p:cNvSpPr txBox="1"/>
          <p:nvPr/>
        </p:nvSpPr>
        <p:spPr>
          <a:xfrm>
            <a:off x="914400" y="447322"/>
            <a:ext cx="6350000" cy="2737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pPr/>
            <a:r>
              <a:t>●  DATA</a:t>
            </a:r>
          </a:p>
        </p:txBody>
      </p:sp>
      <p:sp>
        <p:nvSpPr>
          <p:cNvPr id="181" name="4"/>
          <p:cNvSpPr txBox="1"/>
          <p:nvPr/>
        </p:nvSpPr>
        <p:spPr>
          <a:xfrm>
            <a:off x="14351000" y="339371"/>
            <a:ext cx="990600" cy="5658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pPr/>
            <a:r>
              <a:t>4</a:t>
            </a:r>
          </a:p>
        </p:txBody>
      </p:sp>
      <p:sp>
        <p:nvSpPr>
          <p:cNvPr id="182" name="The file is complete, but the coverage is not balanced"/>
          <p:cNvSpPr txBox="1"/>
          <p:nvPr/>
        </p:nvSpPr>
        <p:spPr>
          <a:xfrm>
            <a:off x="914400" y="948971"/>
            <a:ext cx="14427200" cy="6674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600">
                <a:solidFill>
                  <a:srgbClr val="1F3D5A"/>
                </a:solidFill>
                <a:latin typeface="Avenir Next Demi Bold"/>
                <a:ea typeface="Avenir Next Demi Bold"/>
                <a:cs typeface="Avenir Next Demi Bold"/>
                <a:sym typeface="Avenir Next Demi Bold"/>
              </a:defRPr>
            </a:lvl1pPr>
          </a:lstStyle>
          <a:p>
            <a:pPr/>
            <a:r>
              <a:t>The file is complete, but coverage is uneven</a:t>
            </a:r>
          </a:p>
        </p:txBody>
      </p:sp>
      <p:sp>
        <p:nvSpPr>
          <p:cNvPr id="183" name="Data quality is more than missing values: currencies, calendars, listing dates, and representation all matter."/>
          <p:cNvSpPr txBox="1"/>
          <p:nvPr/>
        </p:nvSpPr>
        <p:spPr>
          <a:xfrm>
            <a:off x="914400" y="1749071"/>
            <a:ext cx="14427200" cy="3753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pPr/>
            <a:r>
              <a:t>Currencies, calendars, listing dates, and representation still affect comparison.</a:t>
            </a:r>
          </a:p>
        </p:txBody>
      </p:sp>
      <p:sp>
        <p:nvSpPr>
          <p:cNvPr id="184" name="HISTORICAL STOCK ANALYSIS  /  DATA"/>
          <p:cNvSpPr txBox="1"/>
          <p:nvPr/>
        </p:nvSpPr>
        <p:spPr>
          <a:xfrm>
            <a:off x="914400" y="8664222"/>
            <a:ext cx="8255000" cy="2229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pPr/>
            <a:r>
              <a:t>HISTORICAL STOCK ANALYSIS  /  DATA</a:t>
            </a:r>
          </a:p>
        </p:txBody>
      </p:sp>
      <p:sp>
        <p:nvSpPr>
          <p:cNvPr id="185" name="4"/>
          <p:cNvSpPr txBox="1"/>
          <p:nvPr/>
        </p:nvSpPr>
        <p:spPr>
          <a:xfrm>
            <a:off x="14986000" y="8664222"/>
            <a:ext cx="355600" cy="2229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pPr/>
            <a:r>
              <a:t>4</a:t>
            </a:r>
          </a:p>
        </p:txBody>
      </p:sp>
      <p:pic>
        <p:nvPicPr>
          <p:cNvPr id="186" name="fig2_market_counts.png" descr="fig2_market_counts.png"/>
          <p:cNvPicPr>
            <a:picLocks noChangeAspect="1"/>
          </p:cNvPicPr>
          <p:nvPr/>
        </p:nvPicPr>
        <p:blipFill>
          <a:blip r:embed="rId3">
            <a:extLst/>
          </a:blip>
          <a:stretch>
            <a:fillRect/>
          </a:stretch>
        </p:blipFill>
        <p:spPr>
          <a:xfrm>
            <a:off x="914400" y="2616200"/>
            <a:ext cx="7437120" cy="4648200"/>
          </a:xfrm>
          <a:prstGeom prst="rect">
            <a:avLst/>
          </a:prstGeom>
          <a:ln w="12700">
            <a:miter lim="400000"/>
          </a:ln>
        </p:spPr>
      </p:pic>
      <p:sp>
        <p:nvSpPr>
          <p:cNvPr id="187" name="0"/>
          <p:cNvSpPr txBox="1"/>
          <p:nvPr/>
        </p:nvSpPr>
        <p:spPr>
          <a:xfrm>
            <a:off x="9652000" y="2580921"/>
            <a:ext cx="1143000" cy="7690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4200">
                <a:solidFill>
                  <a:srgbClr val="0B856E"/>
                </a:solidFill>
                <a:latin typeface="Avenir Next Demi Bold"/>
                <a:ea typeface="Avenir Next Demi Bold"/>
                <a:cs typeface="Avenir Next Demi Bold"/>
                <a:sym typeface="Avenir Next Demi Bold"/>
              </a:defRPr>
            </a:lvl1pPr>
          </a:lstStyle>
          <a:p>
            <a:pPr/>
            <a:r>
              <a:t>0</a:t>
            </a:r>
          </a:p>
        </p:txBody>
      </p:sp>
      <p:sp>
        <p:nvSpPr>
          <p:cNvPr id="188" name="missing fields"/>
          <p:cNvSpPr txBox="1"/>
          <p:nvPr/>
        </p:nvSpPr>
        <p:spPr>
          <a:xfrm>
            <a:off x="10795000" y="2809521"/>
            <a:ext cx="3302000" cy="3880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000">
                <a:solidFill>
                  <a:srgbClr val="58657C"/>
                </a:solidFill>
                <a:latin typeface="Avenir Next Medium"/>
                <a:ea typeface="Avenir Next Medium"/>
                <a:cs typeface="Avenir Next Medium"/>
                <a:sym typeface="Avenir Next Medium"/>
              </a:defRPr>
            </a:lvl1pPr>
          </a:lstStyle>
          <a:p>
            <a:pPr/>
            <a:r>
              <a:t>missing fields</a:t>
            </a:r>
          </a:p>
        </p:txBody>
      </p:sp>
      <p:sp>
        <p:nvSpPr>
          <p:cNvPr id="189" name="0"/>
          <p:cNvSpPr txBox="1"/>
          <p:nvPr/>
        </p:nvSpPr>
        <p:spPr>
          <a:xfrm>
            <a:off x="9652000" y="3495321"/>
            <a:ext cx="1143000" cy="7690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4200">
                <a:solidFill>
                  <a:srgbClr val="0B856E"/>
                </a:solidFill>
                <a:latin typeface="Avenir Next Demi Bold"/>
                <a:ea typeface="Avenir Next Demi Bold"/>
                <a:cs typeface="Avenir Next Demi Bold"/>
                <a:sym typeface="Avenir Next Demi Bold"/>
              </a:defRPr>
            </a:lvl1pPr>
          </a:lstStyle>
          <a:p>
            <a:pPr/>
            <a:r>
              <a:t>0</a:t>
            </a:r>
          </a:p>
        </p:txBody>
      </p:sp>
      <p:sp>
        <p:nvSpPr>
          <p:cNvPr id="190" name="duplicate Date–Ticker pairs"/>
          <p:cNvSpPr txBox="1"/>
          <p:nvPr/>
        </p:nvSpPr>
        <p:spPr>
          <a:xfrm>
            <a:off x="10795000" y="3723921"/>
            <a:ext cx="3937000" cy="3880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000">
                <a:solidFill>
                  <a:srgbClr val="58657C"/>
                </a:solidFill>
                <a:latin typeface="Avenir Next Medium"/>
                <a:ea typeface="Avenir Next Medium"/>
                <a:cs typeface="Avenir Next Medium"/>
                <a:sym typeface="Avenir Next Medium"/>
              </a:defRPr>
            </a:lvl1pPr>
          </a:lstStyle>
          <a:p>
            <a:pPr/>
            <a:r>
              <a:t>duplicate Date–Ticker pairs</a:t>
            </a:r>
          </a:p>
        </p:txBody>
      </p:sp>
      <p:sp>
        <p:nvSpPr>
          <p:cNvPr id="191" name="1,706"/>
          <p:cNvSpPr txBox="1"/>
          <p:nvPr/>
        </p:nvSpPr>
        <p:spPr>
          <a:xfrm>
            <a:off x="9652000" y="4409721"/>
            <a:ext cx="1841500" cy="7690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4200">
                <a:solidFill>
                  <a:srgbClr val="D06F21"/>
                </a:solidFill>
                <a:latin typeface="Avenir Next Demi Bold"/>
                <a:ea typeface="Avenir Next Demi Bold"/>
                <a:cs typeface="Avenir Next Demi Bold"/>
                <a:sym typeface="Avenir Next Demi Bold"/>
              </a:defRPr>
            </a:lvl1pPr>
          </a:lstStyle>
          <a:p>
            <a:pPr/>
            <a:r>
              <a:t>1,706</a:t>
            </a:r>
          </a:p>
        </p:txBody>
      </p:sp>
      <p:sp>
        <p:nvSpPr>
          <p:cNvPr id="192" name="zero-volume rows"/>
          <p:cNvSpPr txBox="1"/>
          <p:nvPr/>
        </p:nvSpPr>
        <p:spPr>
          <a:xfrm>
            <a:off x="11684000" y="4638321"/>
            <a:ext cx="3111500" cy="3880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000">
                <a:solidFill>
                  <a:srgbClr val="58657C"/>
                </a:solidFill>
                <a:latin typeface="Avenir Next Medium"/>
                <a:ea typeface="Avenir Next Medium"/>
                <a:cs typeface="Avenir Next Medium"/>
                <a:sym typeface="Avenir Next Medium"/>
              </a:defRPr>
            </a:lvl1pPr>
          </a:lstStyle>
          <a:p>
            <a:pPr/>
            <a:r>
              <a:t>zero-volume rows</a:t>
            </a:r>
          </a:p>
        </p:txBody>
      </p:sp>
      <p:sp>
        <p:nvSpPr>
          <p:cNvPr id="193" name="US rows dominate; Paris and Saudi Arabia each represent one company."/>
          <p:cNvSpPr txBox="1"/>
          <p:nvPr/>
        </p:nvSpPr>
        <p:spPr>
          <a:xfrm>
            <a:off x="9652000" y="5692421"/>
            <a:ext cx="5334000" cy="7309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000">
                <a:solidFill>
                  <a:srgbClr val="182E48"/>
                </a:solidFill>
                <a:latin typeface="Avenir Next Medium"/>
                <a:ea typeface="Avenir Next Medium"/>
                <a:cs typeface="Avenir Next Medium"/>
                <a:sym typeface="Avenir Next Medium"/>
              </a:defRPr>
            </a:lvl1pPr>
          </a:lstStyle>
          <a:p>
            <a:pPr/>
            <a:r>
              <a:t>US rows dominate; Paris and Saudi Arabia each represent one company.</a:t>
            </a:r>
          </a:p>
        </p:txBody>
      </p:sp>
      <p:sp>
        <p:nvSpPr>
          <p:cNvPr id="194" name="Decision: compare returns or index every series to 100 on a shared valid date."/>
          <p:cNvSpPr txBox="1"/>
          <p:nvPr/>
        </p:nvSpPr>
        <p:spPr>
          <a:xfrm>
            <a:off x="9652000" y="6721122"/>
            <a:ext cx="5334000" cy="7309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000">
                <a:solidFill>
                  <a:srgbClr val="1973B7"/>
                </a:solidFill>
                <a:latin typeface="Avenir Next Demi Bold"/>
                <a:ea typeface="Avenir Next Demi Bold"/>
                <a:cs typeface="Avenir Next Demi Bold"/>
                <a:sym typeface="Avenir Next Demi Bold"/>
              </a:defRPr>
            </a:lvl1pPr>
          </a:lstStyle>
          <a:p>
            <a:pPr/>
            <a:r>
              <a:t>Decision: compare returns or index every series to 100 on a shared valid date.</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8" name="●  APPENDIX"/>
          <p:cNvSpPr txBox="1"/>
          <p:nvPr/>
        </p:nvSpPr>
        <p:spPr>
          <a:xfrm>
            <a:off x="914400" y="447322"/>
            <a:ext cx="6350000" cy="2737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pPr/>
            <a:r>
              <a:t>●  CONTEXT</a:t>
            </a:r>
          </a:p>
        </p:txBody>
      </p:sp>
      <p:sp>
        <p:nvSpPr>
          <p:cNvPr id="199" name="14"/>
          <p:cNvSpPr txBox="1"/>
          <p:nvPr/>
        </p:nvSpPr>
        <p:spPr>
          <a:xfrm>
            <a:off x="14351000" y="339371"/>
            <a:ext cx="990600" cy="5658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pPr/>
            <a:r>
              <a:t>5</a:t>
            </a:r>
          </a:p>
        </p:txBody>
      </p:sp>
      <p:sp>
        <p:nvSpPr>
          <p:cNvPr id="200" name="Definitions behind the headline results"/>
          <p:cNvSpPr txBox="1"/>
          <p:nvPr/>
        </p:nvSpPr>
        <p:spPr>
          <a:xfrm>
            <a:off x="914400" y="948971"/>
            <a:ext cx="14427200" cy="6674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600">
                <a:solidFill>
                  <a:srgbClr val="1F3D5A"/>
                </a:solidFill>
                <a:latin typeface="Avenir Next Demi Bold"/>
                <a:ea typeface="Avenir Next Demi Bold"/>
                <a:cs typeface="Avenir Next Demi Bold"/>
                <a:sym typeface="Avenir Next Demi Bold"/>
              </a:defRPr>
            </a:lvl1pPr>
          </a:lstStyle>
          <a:p>
            <a:pPr/>
            <a:r>
              <a:t>Two groups and four periods define the tests</a:t>
            </a:r>
          </a:p>
        </p:txBody>
      </p:sp>
      <p:sp>
        <p:nvSpPr>
          <p:cNvPr id="201" name="These choices keep each claim reproducible and appropriately narrow."/>
          <p:cNvSpPr txBox="1"/>
          <p:nvPr/>
        </p:nvSpPr>
        <p:spPr>
          <a:xfrm>
            <a:off x="914400" y="1749071"/>
            <a:ext cx="14427200" cy="3753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pPr/>
            <a:r>
              <a:t>Read these definitions first; every hypothesis uses the same groups, dates, and transformations.</a:t>
            </a:r>
          </a:p>
        </p:txBody>
      </p:sp>
      <p:sp>
        <p:nvSpPr>
          <p:cNvPr id="202" name="HISTORICAL STOCK ANALYSIS  /  APPENDIX"/>
          <p:cNvSpPr txBox="1"/>
          <p:nvPr/>
        </p:nvSpPr>
        <p:spPr>
          <a:xfrm>
            <a:off x="914400" y="8664222"/>
            <a:ext cx="8255000" cy="2229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9FAAB9"/>
                </a:solidFill>
                <a:latin typeface="Avenir Next Medium"/>
                <a:ea typeface="Avenir Next Medium"/>
                <a:cs typeface="Avenir Next Medium"/>
                <a:sym typeface="Avenir Next Medium"/>
              </a:defRPr>
            </a:lvl1pPr>
          </a:lstStyle>
          <a:p>
            <a:pPr/>
            <a:r>
              <a:t>HISTORICAL STOCK ANALYSIS  /  CONTEXT</a:t>
            </a:r>
          </a:p>
        </p:txBody>
      </p:sp>
      <p:sp>
        <p:nvSpPr>
          <p:cNvPr id="203" name="14"/>
          <p:cNvSpPr txBox="1"/>
          <p:nvPr/>
        </p:nvSpPr>
        <p:spPr>
          <a:xfrm>
            <a:off x="14986000" y="8664222"/>
            <a:ext cx="355600" cy="2229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pPr/>
            <a:r>
              <a:t>5</a:t>
            </a:r>
          </a:p>
        </p:txBody>
      </p:sp>
      <p:sp>
        <p:nvSpPr>
          <p:cNvPr id="204" name="H1 GROUPS"/>
          <p:cNvSpPr txBox="1"/>
          <p:nvPr/>
        </p:nvSpPr>
        <p:spPr>
          <a:xfrm>
            <a:off x="914400" y="2593622"/>
            <a:ext cx="3302001" cy="2991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500">
                <a:solidFill>
                  <a:srgbClr val="1973B7"/>
                </a:solidFill>
                <a:latin typeface="Avenir Next Demi Bold"/>
                <a:ea typeface="Avenir Next Demi Bold"/>
                <a:cs typeface="Avenir Next Demi Bold"/>
                <a:sym typeface="Avenir Next Demi Bold"/>
              </a:defRPr>
            </a:lvl1pPr>
          </a:lstStyle>
          <a:p>
            <a:pPr/>
            <a:r>
              <a:t>TECHNOLOGY GROUPS</a:t>
            </a:r>
          </a:p>
        </p:txBody>
      </p:sp>
      <p:sp>
        <p:nvSpPr>
          <p:cNvPr id="205" name="Chip / AI"/>
          <p:cNvSpPr txBox="1"/>
          <p:nvPr/>
        </p:nvSpPr>
        <p:spPr>
          <a:xfrm>
            <a:off x="914400" y="3095271"/>
            <a:ext cx="2667000" cy="4388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300">
                <a:solidFill>
                  <a:srgbClr val="182E48"/>
                </a:solidFill>
                <a:latin typeface="Avenir Next Demi Bold"/>
                <a:ea typeface="Avenir Next Demi Bold"/>
                <a:cs typeface="Avenir Next Demi Bold"/>
                <a:sym typeface="Avenir Next Demi Bold"/>
              </a:defRPr>
            </a:lvl1pPr>
          </a:lstStyle>
          <a:p>
            <a:pPr/>
            <a:r>
              <a:t>Chip / AI</a:t>
            </a:r>
          </a:p>
        </p:txBody>
      </p:sp>
      <p:sp>
        <p:nvSpPr>
          <p:cNvPr id="206" name="NVDA · AVGO · TSM · ASML · AMD · MU · LRCX"/>
          <p:cNvSpPr txBox="1"/>
          <p:nvPr/>
        </p:nvSpPr>
        <p:spPr>
          <a:xfrm>
            <a:off x="914400" y="3781071"/>
            <a:ext cx="6350000" cy="3626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800">
                <a:solidFill>
                  <a:srgbClr val="58657C"/>
                </a:solidFill>
                <a:latin typeface="Avenir Next Regular"/>
                <a:ea typeface="Avenir Next Regular"/>
                <a:cs typeface="Avenir Next Regular"/>
                <a:sym typeface="Avenir Next Regular"/>
              </a:defRPr>
            </a:lvl1pPr>
          </a:lstStyle>
          <a:p>
            <a:pPr/>
            <a:r>
              <a:t>NVDA · AVGO · TSM · ASML · AMD · MU · LRCX</a:t>
            </a:r>
          </a:p>
        </p:txBody>
      </p:sp>
      <p:sp>
        <p:nvSpPr>
          <p:cNvPr id="207" name="Broader tech"/>
          <p:cNvSpPr txBox="1"/>
          <p:nvPr/>
        </p:nvSpPr>
        <p:spPr>
          <a:xfrm>
            <a:off x="914400" y="4695471"/>
            <a:ext cx="2667000" cy="4388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300">
                <a:solidFill>
                  <a:srgbClr val="182E48"/>
                </a:solidFill>
                <a:latin typeface="Avenir Next Demi Bold"/>
                <a:ea typeface="Avenir Next Demi Bold"/>
                <a:cs typeface="Avenir Next Demi Bold"/>
                <a:sym typeface="Avenir Next Demi Bold"/>
              </a:defRPr>
            </a:lvl1pPr>
          </a:lstStyle>
          <a:p>
            <a:pPr/>
            <a:r>
              <a:t>Broader tech</a:t>
            </a:r>
          </a:p>
        </p:txBody>
      </p:sp>
      <p:sp>
        <p:nvSpPr>
          <p:cNvPr id="208" name="AAPL · MSFT · GOOGL · AMZN · META · NFLX · ORCL · CSCO"/>
          <p:cNvSpPr txBox="1"/>
          <p:nvPr/>
        </p:nvSpPr>
        <p:spPr>
          <a:xfrm>
            <a:off x="914400" y="5393971"/>
            <a:ext cx="6604001" cy="3626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800">
                <a:solidFill>
                  <a:srgbClr val="58657C"/>
                </a:solidFill>
                <a:latin typeface="Avenir Next Regular"/>
                <a:ea typeface="Avenir Next Regular"/>
                <a:cs typeface="Avenir Next Regular"/>
                <a:sym typeface="Avenir Next Regular"/>
              </a:defRPr>
            </a:lvl1pPr>
          </a:lstStyle>
          <a:p>
            <a:pPr/>
            <a:r>
              <a:t>AAPL · MSFT · GOOGL · AMZN · META · NFLX · ORCL · CSCO</a:t>
            </a:r>
          </a:p>
        </p:txBody>
      </p:sp>
      <p:sp>
        <p:nvSpPr>
          <p:cNvPr id="209" name="Indexed value = 100 × Adj Close / Adj Close on shared start date"/>
          <p:cNvSpPr txBox="1"/>
          <p:nvPr/>
        </p:nvSpPr>
        <p:spPr>
          <a:xfrm>
            <a:off x="914400" y="6676672"/>
            <a:ext cx="6604001" cy="3626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800">
                <a:solidFill>
                  <a:srgbClr val="1973B7"/>
                </a:solidFill>
                <a:latin typeface="Avenir Next Demi Bold"/>
                <a:ea typeface="Avenir Next Demi Bold"/>
                <a:cs typeface="Avenir Next Demi Bold"/>
                <a:sym typeface="Avenir Next Demi Bold"/>
              </a:defRPr>
            </a:lvl1pPr>
          </a:lstStyle>
          <a:p>
            <a:pPr/>
            <a:r>
              <a:t>Indexed value = 100 × Adj Close / starting Adj Close</a:t>
            </a:r>
          </a:p>
        </p:txBody>
      </p:sp>
      <p:sp>
        <p:nvSpPr>
          <p:cNvPr id="210" name="H2 PERIODS"/>
          <p:cNvSpPr txBox="1"/>
          <p:nvPr/>
        </p:nvSpPr>
        <p:spPr>
          <a:xfrm>
            <a:off x="8407400" y="2593622"/>
            <a:ext cx="3048000" cy="2991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500">
                <a:solidFill>
                  <a:srgbClr val="D06F21"/>
                </a:solidFill>
                <a:latin typeface="Avenir Next Demi Bold"/>
                <a:ea typeface="Avenir Next Demi Bold"/>
                <a:cs typeface="Avenir Next Demi Bold"/>
                <a:sym typeface="Avenir Next Demi Bold"/>
              </a:defRPr>
            </a:lvl1pPr>
          </a:lstStyle>
          <a:p>
            <a:pPr/>
            <a:r>
              <a:t>MARKET PERIODS</a:t>
            </a:r>
          </a:p>
        </p:txBody>
      </p:sp>
      <p:sp>
        <p:nvSpPr>
          <p:cNvPr id="211" name="Calm"/>
          <p:cNvSpPr txBox="1"/>
          <p:nvPr/>
        </p:nvSpPr>
        <p:spPr>
          <a:xfrm>
            <a:off x="8407399" y="2987322"/>
            <a:ext cx="3302001" cy="4261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200">
                <a:solidFill>
                  <a:srgbClr val="1F3D5A"/>
                </a:solidFill>
                <a:latin typeface="Avenir Next Demi Bold"/>
                <a:ea typeface="Avenir Next Demi Bold"/>
                <a:cs typeface="Avenir Next Demi Bold"/>
                <a:sym typeface="Avenir Next Demi Bold"/>
              </a:defRPr>
            </a:lvl1pPr>
          </a:lstStyle>
          <a:p>
            <a:pPr/>
            <a:r>
              <a:t>Calm</a:t>
            </a:r>
          </a:p>
        </p:txBody>
      </p:sp>
      <p:sp>
        <p:nvSpPr>
          <p:cNvPr id="212" name="2015–2017"/>
          <p:cNvSpPr txBox="1"/>
          <p:nvPr/>
        </p:nvSpPr>
        <p:spPr>
          <a:xfrm>
            <a:off x="8407400" y="3800123"/>
            <a:ext cx="6350000" cy="3245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600">
                <a:solidFill>
                  <a:srgbClr val="58657C"/>
                </a:solidFill>
                <a:latin typeface="Avenir Next Medium"/>
                <a:ea typeface="Avenir Next Medium"/>
                <a:cs typeface="Avenir Next Medium"/>
                <a:sym typeface="Avenir Next Medium"/>
              </a:defRPr>
            </a:lvl1pPr>
          </a:lstStyle>
          <a:p>
            <a:pPr/>
            <a:r>
              <a:t>2015–2017 · comparison baseline without a major global shock</a:t>
            </a:r>
          </a:p>
        </p:txBody>
      </p:sp>
      <p:sp>
        <p:nvSpPr>
          <p:cNvPr id="213" name="2008 crisis"/>
          <p:cNvSpPr txBox="1"/>
          <p:nvPr/>
        </p:nvSpPr>
        <p:spPr>
          <a:xfrm>
            <a:off x="8407400" y="4003322"/>
            <a:ext cx="3302001" cy="4261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200">
                <a:solidFill>
                  <a:srgbClr val="1F3D5A"/>
                </a:solidFill>
                <a:latin typeface="Avenir Next Demi Bold"/>
                <a:ea typeface="Avenir Next Demi Bold"/>
                <a:cs typeface="Avenir Next Demi Bold"/>
                <a:sym typeface="Avenir Next Demi Bold"/>
              </a:defRPr>
            </a:lvl1pPr>
          </a:lstStyle>
          <a:p>
            <a:pPr/>
            <a:r>
              <a:t>2008 crisis</a:t>
            </a:r>
          </a:p>
        </p:txBody>
      </p:sp>
      <p:sp>
        <p:nvSpPr>
          <p:cNvPr id="214" name="calendar year 2008"/>
          <p:cNvSpPr txBox="1"/>
          <p:nvPr/>
        </p:nvSpPr>
        <p:spPr>
          <a:xfrm>
            <a:off x="8407400" y="4816123"/>
            <a:ext cx="6350000" cy="3245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600">
                <a:solidFill>
                  <a:srgbClr val="58657C"/>
                </a:solidFill>
                <a:latin typeface="Avenir Next Medium"/>
                <a:ea typeface="Avenir Next Medium"/>
                <a:cs typeface="Avenir Next Medium"/>
                <a:sym typeface="Avenir Next Medium"/>
              </a:defRPr>
            </a:lvl1pPr>
          </a:lstStyle>
          <a:p>
            <a:pPr/>
            <a:r>
              <a:t>Global financial crisis after a housing and banking collapse</a:t>
            </a:r>
          </a:p>
        </p:txBody>
      </p:sp>
      <p:sp>
        <p:nvSpPr>
          <p:cNvPr id="215" name="2020 crash"/>
          <p:cNvSpPr txBox="1"/>
          <p:nvPr/>
        </p:nvSpPr>
        <p:spPr>
          <a:xfrm>
            <a:off x="8407400" y="5019322"/>
            <a:ext cx="3302001" cy="4261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200">
                <a:solidFill>
                  <a:srgbClr val="1F3D5A"/>
                </a:solidFill>
                <a:latin typeface="Avenir Next Demi Bold"/>
                <a:ea typeface="Avenir Next Demi Bold"/>
                <a:cs typeface="Avenir Next Demi Bold"/>
                <a:sym typeface="Avenir Next Demi Bold"/>
              </a:defRPr>
            </a:lvl1pPr>
          </a:lstStyle>
          <a:p>
            <a:pPr/>
            <a:r>
              <a:t>2020 crash</a:t>
            </a:r>
          </a:p>
        </p:txBody>
      </p:sp>
      <p:sp>
        <p:nvSpPr>
          <p:cNvPr id="216" name="February–April 2020"/>
          <p:cNvSpPr txBox="1"/>
          <p:nvPr/>
        </p:nvSpPr>
        <p:spPr>
          <a:xfrm>
            <a:off x="8407400" y="5673373"/>
            <a:ext cx="6350000" cy="3245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600">
                <a:solidFill>
                  <a:srgbClr val="58657C"/>
                </a:solidFill>
                <a:latin typeface="Avenir Next Medium"/>
                <a:ea typeface="Avenir Next Medium"/>
                <a:cs typeface="Avenir Next Medium"/>
                <a:sym typeface="Avenir Next Medium"/>
              </a:defRPr>
            </a:lvl1pPr>
          </a:lstStyle>
          <a:p>
            <a:pPr/>
            <a:r>
              <a:t>Rapid COVID-19 selloff during the first global lockdowns</a:t>
            </a:r>
          </a:p>
        </p:txBody>
      </p:sp>
      <p:sp>
        <p:nvSpPr>
          <p:cNvPr id="217" name="2022 drawdown"/>
          <p:cNvSpPr txBox="1"/>
          <p:nvPr/>
        </p:nvSpPr>
        <p:spPr>
          <a:xfrm>
            <a:off x="8407400" y="6035322"/>
            <a:ext cx="3556001" cy="4261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200">
                <a:solidFill>
                  <a:srgbClr val="1F3D5A"/>
                </a:solidFill>
                <a:latin typeface="Avenir Next Demi Bold"/>
                <a:ea typeface="Avenir Next Demi Bold"/>
                <a:cs typeface="Avenir Next Demi Bold"/>
                <a:sym typeface="Avenir Next Demi Bold"/>
              </a:defRPr>
            </a:lvl1pPr>
          </a:lstStyle>
          <a:p>
            <a:pPr/>
            <a:r>
              <a:t>2022 drawdown</a:t>
            </a:r>
          </a:p>
        </p:txBody>
      </p:sp>
      <p:sp>
        <p:nvSpPr>
          <p:cNvPr id="218" name="calendar year 2022"/>
          <p:cNvSpPr txBox="1"/>
          <p:nvPr/>
        </p:nvSpPr>
        <p:spPr>
          <a:xfrm>
            <a:off x="8407400" y="6689373"/>
            <a:ext cx="6350000" cy="3245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600">
                <a:solidFill>
                  <a:srgbClr val="58657C"/>
                </a:solidFill>
                <a:latin typeface="Avenir Next Medium"/>
                <a:ea typeface="Avenir Next Medium"/>
                <a:cs typeface="Avenir Next Medium"/>
                <a:sym typeface="Avenir Next Medium"/>
              </a:defRPr>
            </a:lvl1pPr>
          </a:lstStyle>
          <a:p>
            <a:pPr/>
            <a:r>
              <a:t>Slower decline amid inflation and aggressive interest-rate hikes</a:t>
            </a:r>
          </a:p>
        </p:txBody>
      </p:sp>
      <p:sp>
        <p:nvSpPr>
          <p:cNvPr id="219" name="Correlation = average pairwise Pearson correlation of daily returns across regional baskets"/>
          <p:cNvSpPr txBox="1"/>
          <p:nvPr/>
        </p:nvSpPr>
        <p:spPr>
          <a:xfrm>
            <a:off x="8407399" y="7432323"/>
            <a:ext cx="6604001" cy="6293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700">
                <a:solidFill>
                  <a:srgbClr val="D06F21"/>
                </a:solidFill>
                <a:latin typeface="Avenir Next Demi Bold"/>
                <a:ea typeface="Avenir Next Demi Bold"/>
                <a:cs typeface="Avenir Next Demi Bold"/>
                <a:sym typeface="Avenir Next Demi Bold"/>
              </a:defRPr>
            </a:lvl1pPr>
          </a:lstStyle>
          <a:p>
            <a:pPr/>
            <a:r>
              <a:t>Correlation: 0 means independent movement; 1 means moving together</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3" name="●  QUESTION"/>
          <p:cNvSpPr txBox="1"/>
          <p:nvPr/>
        </p:nvSpPr>
        <p:spPr>
          <a:xfrm>
            <a:off x="914400" y="447322"/>
            <a:ext cx="6350000" cy="2737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pPr/>
            <a:r>
              <a:t>●  QUESTION</a:t>
            </a:r>
          </a:p>
        </p:txBody>
      </p:sp>
      <p:sp>
        <p:nvSpPr>
          <p:cNvPr id="224" name="5"/>
          <p:cNvSpPr txBox="1"/>
          <p:nvPr/>
        </p:nvSpPr>
        <p:spPr>
          <a:xfrm>
            <a:off x="14351000" y="339371"/>
            <a:ext cx="990600" cy="5658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pPr/>
            <a:r>
              <a:t>6</a:t>
            </a:r>
          </a:p>
        </p:txBody>
      </p:sp>
      <p:sp>
        <p:nvSpPr>
          <p:cNvPr id="225" name="Three hypotheses test one diversification story"/>
          <p:cNvSpPr txBox="1"/>
          <p:nvPr/>
        </p:nvSpPr>
        <p:spPr>
          <a:xfrm>
            <a:off x="914400" y="948971"/>
            <a:ext cx="14427200" cy="6674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600">
                <a:solidFill>
                  <a:srgbClr val="1F3D5A"/>
                </a:solidFill>
                <a:latin typeface="Avenir Next Demi Bold"/>
                <a:ea typeface="Avenir Next Demi Bold"/>
                <a:cs typeface="Avenir Next Demi Bold"/>
                <a:sym typeface="Avenir Next Demi Bold"/>
              </a:defRPr>
            </a:lvl1pPr>
          </a:lstStyle>
          <a:p>
            <a:pPr/>
            <a:r>
              <a:t>Three hypotheses test one story</a:t>
            </a:r>
          </a:p>
        </p:txBody>
      </p:sp>
      <p:sp>
        <p:nvSpPr>
          <p:cNvPr id="226" name="Related work suggested where diversification may weaken; our dataset lets us test the pattern directly."/>
          <p:cNvSpPr txBox="1"/>
          <p:nvPr/>
        </p:nvSpPr>
        <p:spPr>
          <a:xfrm>
            <a:off x="914400" y="1749071"/>
            <a:ext cx="14427200" cy="3753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pPr/>
            <a:r>
              <a:t>Related work suggests where diversification may weaken; our dataset tests it.</a:t>
            </a:r>
          </a:p>
        </p:txBody>
      </p:sp>
      <p:sp>
        <p:nvSpPr>
          <p:cNvPr id="227" name="HISTORICAL STOCK ANALYSIS  /  QUESTION"/>
          <p:cNvSpPr txBox="1"/>
          <p:nvPr/>
        </p:nvSpPr>
        <p:spPr>
          <a:xfrm>
            <a:off x="914400" y="8664222"/>
            <a:ext cx="8255000" cy="2229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pPr/>
            <a:r>
              <a:t>HISTORICAL STOCK ANALYSIS  /  QUESTION</a:t>
            </a:r>
          </a:p>
        </p:txBody>
      </p:sp>
      <p:sp>
        <p:nvSpPr>
          <p:cNvPr id="228" name="5"/>
          <p:cNvSpPr txBox="1"/>
          <p:nvPr/>
        </p:nvSpPr>
        <p:spPr>
          <a:xfrm>
            <a:off x="14986000" y="8664222"/>
            <a:ext cx="355600" cy="2229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pPr/>
            <a:r>
              <a:t>6</a:t>
            </a:r>
          </a:p>
        </p:txBody>
      </p:sp>
      <p:sp>
        <p:nvSpPr>
          <p:cNvPr id="229" name="H1"/>
          <p:cNvSpPr txBox="1"/>
          <p:nvPr/>
        </p:nvSpPr>
        <p:spPr>
          <a:xfrm>
            <a:off x="914399" y="2612671"/>
            <a:ext cx="1016002" cy="5658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000">
                <a:solidFill>
                  <a:srgbClr val="1973B7"/>
                </a:solidFill>
                <a:latin typeface="Avenir Next Demi Bold"/>
                <a:ea typeface="Avenir Next Demi Bold"/>
                <a:cs typeface="Avenir Next Demi Bold"/>
                <a:sym typeface="Avenir Next Demi Bold"/>
              </a:defRPr>
            </a:lvl1pPr>
          </a:lstStyle>
          <a:p>
            <a:pPr/>
            <a:r>
              <a:t>H1</a:t>
            </a:r>
          </a:p>
        </p:txBody>
      </p:sp>
      <p:sp>
        <p:nvSpPr>
          <p:cNvPr id="230" name="Was the post-2023 technology rally broad?"/>
          <p:cNvSpPr txBox="1"/>
          <p:nvPr/>
        </p:nvSpPr>
        <p:spPr>
          <a:xfrm>
            <a:off x="2032000" y="2587271"/>
            <a:ext cx="8255000" cy="4642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400">
                <a:solidFill>
                  <a:srgbClr val="182E48"/>
                </a:solidFill>
                <a:latin typeface="Avenir Next Demi Bold"/>
                <a:ea typeface="Avenir Next Demi Bold"/>
                <a:cs typeface="Avenir Next Demi Bold"/>
                <a:sym typeface="Avenir Next Demi Bold"/>
              </a:defRPr>
            </a:lvl1pPr>
          </a:lstStyle>
          <a:p>
            <a:pPr/>
            <a:r>
              <a:t>Was the post-2023 technology rally broad?</a:t>
            </a:r>
          </a:p>
        </p:txBody>
      </p:sp>
      <p:sp>
        <p:nvSpPr>
          <p:cNvPr id="231" name="Test: selected chip/AI names should outperform a broader-tech comparison group."/>
          <p:cNvSpPr txBox="1"/>
          <p:nvPr/>
        </p:nvSpPr>
        <p:spPr>
          <a:xfrm>
            <a:off x="2032000" y="3184171"/>
            <a:ext cx="12192000" cy="3626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800">
                <a:solidFill>
                  <a:srgbClr val="58657C"/>
                </a:solidFill>
                <a:latin typeface="Avenir Next Regular"/>
                <a:ea typeface="Avenir Next Regular"/>
                <a:cs typeface="Avenir Next Regular"/>
                <a:sym typeface="Avenir Next Regular"/>
              </a:defRPr>
            </a:lvl1pPr>
          </a:lstStyle>
          <a:p>
            <a:pPr/>
            <a:r>
              <a:t>Test: selected chip/AI names should outperform a broader-tech comparison group.</a:t>
            </a:r>
          </a:p>
        </p:txBody>
      </p:sp>
      <p:sp>
        <p:nvSpPr>
          <p:cNvPr id="232" name="H2"/>
          <p:cNvSpPr txBox="1"/>
          <p:nvPr/>
        </p:nvSpPr>
        <p:spPr>
          <a:xfrm>
            <a:off x="914399" y="4060471"/>
            <a:ext cx="1016002" cy="5658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000">
                <a:solidFill>
                  <a:srgbClr val="D06F21"/>
                </a:solidFill>
                <a:latin typeface="Avenir Next Demi Bold"/>
                <a:ea typeface="Avenir Next Demi Bold"/>
                <a:cs typeface="Avenir Next Demi Bold"/>
                <a:sym typeface="Avenir Next Demi Bold"/>
              </a:defRPr>
            </a:lvl1pPr>
          </a:lstStyle>
          <a:p>
            <a:pPr/>
            <a:r>
              <a:t>H2</a:t>
            </a:r>
          </a:p>
        </p:txBody>
      </p:sp>
      <p:sp>
        <p:nvSpPr>
          <p:cNvPr id="233" name="Does regional diversification weaken during sudden crashes?"/>
          <p:cNvSpPr txBox="1"/>
          <p:nvPr/>
        </p:nvSpPr>
        <p:spPr>
          <a:xfrm>
            <a:off x="2032000" y="4035071"/>
            <a:ext cx="10541000" cy="4642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400">
                <a:solidFill>
                  <a:srgbClr val="182E48"/>
                </a:solidFill>
                <a:latin typeface="Avenir Next Demi Bold"/>
                <a:ea typeface="Avenir Next Demi Bold"/>
                <a:cs typeface="Avenir Next Demi Bold"/>
                <a:sym typeface="Avenir Next Demi Bold"/>
              </a:defRPr>
            </a:lvl1pPr>
          </a:lstStyle>
          <a:p>
            <a:pPr/>
            <a:r>
              <a:t>Does regional diversification weaken during sudden crashes?</a:t>
            </a:r>
          </a:p>
        </p:txBody>
      </p:sp>
      <p:sp>
        <p:nvSpPr>
          <p:cNvPr id="234" name="Test: average cross-region correlation should rise above calm-period levels."/>
          <p:cNvSpPr txBox="1"/>
          <p:nvPr/>
        </p:nvSpPr>
        <p:spPr>
          <a:xfrm>
            <a:off x="2032000" y="4631971"/>
            <a:ext cx="11811000" cy="3626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800">
                <a:solidFill>
                  <a:srgbClr val="58657C"/>
                </a:solidFill>
                <a:latin typeface="Avenir Next Regular"/>
                <a:ea typeface="Avenir Next Regular"/>
                <a:cs typeface="Avenir Next Regular"/>
                <a:sym typeface="Avenir Next Regular"/>
              </a:defRPr>
            </a:lvl1pPr>
          </a:lstStyle>
          <a:p>
            <a:pPr/>
            <a:r>
              <a:t>Test: average cross-region correlation should rise above calm-period levels.</a:t>
            </a:r>
          </a:p>
        </p:txBody>
      </p:sp>
      <p:sp>
        <p:nvSpPr>
          <p:cNvPr id="235" name="H3"/>
          <p:cNvSpPr txBox="1"/>
          <p:nvPr/>
        </p:nvSpPr>
        <p:spPr>
          <a:xfrm>
            <a:off x="914399" y="5508271"/>
            <a:ext cx="1016002" cy="5658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000">
                <a:solidFill>
                  <a:srgbClr val="0B856E"/>
                </a:solidFill>
                <a:latin typeface="Avenir Next Demi Bold"/>
                <a:ea typeface="Avenir Next Demi Bold"/>
                <a:cs typeface="Avenir Next Demi Bold"/>
                <a:sym typeface="Avenir Next Demi Bold"/>
              </a:defRPr>
            </a:lvl1pPr>
          </a:lstStyle>
          <a:p>
            <a:pPr/>
            <a:r>
              <a:t>H3</a:t>
            </a:r>
          </a:p>
        </p:txBody>
      </p:sp>
      <p:sp>
        <p:nvSpPr>
          <p:cNvPr id="236" name="Do volatility and volume confirm the panic periods?"/>
          <p:cNvSpPr txBox="1"/>
          <p:nvPr/>
        </p:nvSpPr>
        <p:spPr>
          <a:xfrm>
            <a:off x="2032000" y="5482871"/>
            <a:ext cx="10160000" cy="4642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400">
                <a:solidFill>
                  <a:srgbClr val="182E48"/>
                </a:solidFill>
                <a:latin typeface="Avenir Next Demi Bold"/>
                <a:ea typeface="Avenir Next Demi Bold"/>
                <a:cs typeface="Avenir Next Demi Bold"/>
                <a:sym typeface="Avenir Next Demi Bold"/>
              </a:defRPr>
            </a:lvl1pPr>
          </a:lstStyle>
          <a:p>
            <a:pPr/>
            <a:r>
              <a:t>Do volatility and volume confirm the panic periods?</a:t>
            </a:r>
          </a:p>
        </p:txBody>
      </p:sp>
      <p:sp>
        <p:nvSpPr>
          <p:cNvPr id="237" name="Test: crisis periods should show larger price swings and stronger trading activity."/>
          <p:cNvSpPr txBox="1"/>
          <p:nvPr/>
        </p:nvSpPr>
        <p:spPr>
          <a:xfrm>
            <a:off x="2032000" y="6079771"/>
            <a:ext cx="12065000" cy="3626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800">
                <a:solidFill>
                  <a:srgbClr val="58657C"/>
                </a:solidFill>
                <a:latin typeface="Avenir Next Regular"/>
                <a:ea typeface="Avenir Next Regular"/>
                <a:cs typeface="Avenir Next Regular"/>
                <a:sym typeface="Avenir Next Regular"/>
              </a:defRPr>
            </a:lvl1pPr>
          </a:lstStyle>
          <a:p>
            <a:pPr/>
            <a:r>
              <a:t>Test: crisis periods should show larger price swings and stronger trading activity.</a:t>
            </a:r>
          </a:p>
        </p:txBody>
      </p:sp>
      <p:sp>
        <p:nvSpPr>
          <p:cNvPr id="238" name="Preis: correlations rise under stress   ·   Morningstar: semiconductors led the AI boom   ·   J.P. Morgan: the broader AI ecosystem is wider than seven stocks"/>
          <p:cNvSpPr txBox="1"/>
          <p:nvPr/>
        </p:nvSpPr>
        <p:spPr>
          <a:xfrm>
            <a:off x="914400" y="7419622"/>
            <a:ext cx="14427200" cy="2991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500">
                <a:solidFill>
                  <a:srgbClr val="58657C"/>
                </a:solidFill>
                <a:latin typeface="Avenir Next Medium"/>
                <a:ea typeface="Avenir Next Medium"/>
                <a:cs typeface="Avenir Next Medium"/>
                <a:sym typeface="Avenir Next Medium"/>
              </a:defRPr>
            </a:lvl1pPr>
          </a:lstStyle>
          <a:p>
            <a:pPr/>
            <a:r>
              <a:t>Preis: correlations rise under stress   ·   Morningstar: semiconductors led the AI boom   ·   J.P. Morgan: the broader AI ecosystem is wider than seven stocks</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2" name="●  APPROACH"/>
          <p:cNvSpPr txBox="1"/>
          <p:nvPr/>
        </p:nvSpPr>
        <p:spPr>
          <a:xfrm>
            <a:off x="914400" y="447322"/>
            <a:ext cx="6350000" cy="2737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pPr/>
            <a:r>
              <a:t>●  APPROACH</a:t>
            </a:r>
          </a:p>
        </p:txBody>
      </p:sp>
      <p:sp>
        <p:nvSpPr>
          <p:cNvPr id="243" name="6"/>
          <p:cNvSpPr txBox="1"/>
          <p:nvPr/>
        </p:nvSpPr>
        <p:spPr>
          <a:xfrm>
            <a:off x="14351000" y="339371"/>
            <a:ext cx="990600" cy="5658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pPr/>
            <a:r>
              <a:t>7</a:t>
            </a:r>
          </a:p>
        </p:txBody>
      </p:sp>
      <p:sp>
        <p:nvSpPr>
          <p:cNvPr id="244" name="We separated cleaning, transformation, testing, and communication"/>
          <p:cNvSpPr txBox="1"/>
          <p:nvPr/>
        </p:nvSpPr>
        <p:spPr>
          <a:xfrm>
            <a:off x="914400" y="948972"/>
            <a:ext cx="14427200" cy="6674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600">
                <a:solidFill>
                  <a:srgbClr val="182E48"/>
                </a:solidFill>
                <a:latin typeface="Avenir Next Demi Bold"/>
                <a:ea typeface="Avenir Next Demi Bold"/>
                <a:cs typeface="Avenir Next Demi Bold"/>
                <a:sym typeface="Avenir Next Demi Bold"/>
              </a:defRPr>
            </a:lvl1pPr>
          </a:lstStyle>
          <a:p>
            <a:pPr/>
            <a:r>
              <a:t>We separated cleaning, transformation, testing, and communication</a:t>
            </a:r>
          </a:p>
        </p:txBody>
      </p:sp>
      <p:sp>
        <p:nvSpPr>
          <p:cNvPr id="245" name="Python explored and tested the hypotheses; R replicated the EDA and prepared long-form monthly data."/>
          <p:cNvSpPr txBox="1"/>
          <p:nvPr/>
        </p:nvSpPr>
        <p:spPr>
          <a:xfrm>
            <a:off x="914400" y="1749071"/>
            <a:ext cx="14427200" cy="3753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pPr/>
            <a:r>
              <a:t>Python explored and tested the hypotheses; R replicated the EDA and prepared long-form monthly data.</a:t>
            </a:r>
          </a:p>
        </p:txBody>
      </p:sp>
      <p:sp>
        <p:nvSpPr>
          <p:cNvPr id="246" name="HISTORICAL STOCK ANALYSIS  /  APPROACH"/>
          <p:cNvSpPr txBox="1"/>
          <p:nvPr/>
        </p:nvSpPr>
        <p:spPr>
          <a:xfrm>
            <a:off x="914400" y="8664222"/>
            <a:ext cx="8255000" cy="2229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pPr/>
            <a:r>
              <a:t>HISTORICAL STOCK ANALYSIS  /  APPROACH</a:t>
            </a:r>
          </a:p>
        </p:txBody>
      </p:sp>
      <p:sp>
        <p:nvSpPr>
          <p:cNvPr id="247" name="6"/>
          <p:cNvSpPr txBox="1"/>
          <p:nvPr/>
        </p:nvSpPr>
        <p:spPr>
          <a:xfrm>
            <a:off x="14986000" y="8664222"/>
            <a:ext cx="355600" cy="2229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pPr/>
            <a:r>
              <a:t>7</a:t>
            </a:r>
          </a:p>
        </p:txBody>
      </p:sp>
      <p:sp>
        <p:nvSpPr>
          <p:cNvPr id="248" name="01"/>
          <p:cNvSpPr txBox="1"/>
          <p:nvPr/>
        </p:nvSpPr>
        <p:spPr>
          <a:xfrm>
            <a:off x="914399" y="2631721"/>
            <a:ext cx="1016002" cy="6293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400">
                <a:solidFill>
                  <a:srgbClr val="ACC6E4"/>
                </a:solidFill>
                <a:latin typeface="Avenir Next Demi Bold"/>
                <a:ea typeface="Avenir Next Demi Bold"/>
                <a:cs typeface="Avenir Next Demi Bold"/>
                <a:sym typeface="Avenir Next Demi Bold"/>
              </a:defRPr>
            </a:lvl1pPr>
          </a:lstStyle>
          <a:p>
            <a:pPr/>
            <a:r>
              <a:t>01</a:t>
            </a:r>
          </a:p>
        </p:txBody>
      </p:sp>
      <p:sp>
        <p:nvSpPr>
          <p:cNvPr id="249" name="Clean"/>
          <p:cNvSpPr txBox="1"/>
          <p:nvPr/>
        </p:nvSpPr>
        <p:spPr>
          <a:xfrm>
            <a:off x="1905000" y="2669821"/>
            <a:ext cx="2286000" cy="4769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500">
                <a:solidFill>
                  <a:srgbClr val="182E48"/>
                </a:solidFill>
                <a:latin typeface="Avenir Next Demi Bold"/>
                <a:ea typeface="Avenir Next Demi Bold"/>
                <a:cs typeface="Avenir Next Demi Bold"/>
                <a:sym typeface="Avenir Next Demi Bold"/>
              </a:defRPr>
            </a:lvl1pPr>
          </a:lstStyle>
          <a:p>
            <a:pPr/>
            <a:r>
              <a:t>Clean</a:t>
            </a:r>
          </a:p>
        </p:txBody>
      </p:sp>
      <p:sp>
        <p:nvSpPr>
          <p:cNvPr id="250" name="parse dates · sort by ticker · audit missing and duplicate rows"/>
          <p:cNvSpPr txBox="1"/>
          <p:nvPr/>
        </p:nvSpPr>
        <p:spPr>
          <a:xfrm>
            <a:off x="1905000" y="3336571"/>
            <a:ext cx="5080000" cy="6801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800">
                <a:solidFill>
                  <a:srgbClr val="58657C"/>
                </a:solidFill>
                <a:latin typeface="Avenir Next Regular"/>
                <a:ea typeface="Avenir Next Regular"/>
                <a:cs typeface="Avenir Next Regular"/>
                <a:sym typeface="Avenir Next Regular"/>
              </a:defRPr>
            </a:lvl1pPr>
          </a:lstStyle>
          <a:p>
            <a:pPr/>
            <a:r>
              <a:t>parse dates · sort by ticker · audit missing and duplicate rows</a:t>
            </a:r>
          </a:p>
        </p:txBody>
      </p:sp>
      <p:sp>
        <p:nvSpPr>
          <p:cNvPr id="251" name="02"/>
          <p:cNvSpPr txBox="1"/>
          <p:nvPr/>
        </p:nvSpPr>
        <p:spPr>
          <a:xfrm>
            <a:off x="8407399" y="2631721"/>
            <a:ext cx="1016002" cy="6293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400">
                <a:solidFill>
                  <a:srgbClr val="ACC6E4"/>
                </a:solidFill>
                <a:latin typeface="Avenir Next Demi Bold"/>
                <a:ea typeface="Avenir Next Demi Bold"/>
                <a:cs typeface="Avenir Next Demi Bold"/>
                <a:sym typeface="Avenir Next Demi Bold"/>
              </a:defRPr>
            </a:lvl1pPr>
          </a:lstStyle>
          <a:p>
            <a:pPr/>
            <a:r>
              <a:t>02</a:t>
            </a:r>
          </a:p>
        </p:txBody>
      </p:sp>
      <p:sp>
        <p:nvSpPr>
          <p:cNvPr id="252" name="Transform"/>
          <p:cNvSpPr txBox="1"/>
          <p:nvPr/>
        </p:nvSpPr>
        <p:spPr>
          <a:xfrm>
            <a:off x="9398000" y="2669821"/>
            <a:ext cx="2794000" cy="4769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500">
                <a:solidFill>
                  <a:srgbClr val="182E48"/>
                </a:solidFill>
                <a:latin typeface="Avenir Next Demi Bold"/>
                <a:ea typeface="Avenir Next Demi Bold"/>
                <a:cs typeface="Avenir Next Demi Bold"/>
                <a:sym typeface="Avenir Next Demi Bold"/>
              </a:defRPr>
            </a:lvl1pPr>
          </a:lstStyle>
          <a:p>
            <a:pPr/>
            <a:r>
              <a:t>Transform</a:t>
            </a:r>
          </a:p>
        </p:txBody>
      </p:sp>
      <p:sp>
        <p:nvSpPr>
          <p:cNvPr id="253" name="daily returns · index-to-100 · monthly absolute returns"/>
          <p:cNvSpPr txBox="1"/>
          <p:nvPr/>
        </p:nvSpPr>
        <p:spPr>
          <a:xfrm>
            <a:off x="9398000" y="3336571"/>
            <a:ext cx="5080000" cy="6801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800">
                <a:solidFill>
                  <a:srgbClr val="58657C"/>
                </a:solidFill>
                <a:latin typeface="Avenir Next Regular"/>
                <a:ea typeface="Avenir Next Regular"/>
                <a:cs typeface="Avenir Next Regular"/>
                <a:sym typeface="Avenir Next Regular"/>
              </a:defRPr>
            </a:lvl1pPr>
          </a:lstStyle>
          <a:p>
            <a:pPr/>
            <a:r>
              <a:t>daily returns · index-to-100 · monthly absolute returns</a:t>
            </a:r>
          </a:p>
        </p:txBody>
      </p:sp>
      <p:sp>
        <p:nvSpPr>
          <p:cNvPr id="254" name="03"/>
          <p:cNvSpPr txBox="1"/>
          <p:nvPr/>
        </p:nvSpPr>
        <p:spPr>
          <a:xfrm>
            <a:off x="914399" y="4739921"/>
            <a:ext cx="1016002" cy="6293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400">
                <a:solidFill>
                  <a:srgbClr val="ACC6E4"/>
                </a:solidFill>
                <a:latin typeface="Avenir Next Demi Bold"/>
                <a:ea typeface="Avenir Next Demi Bold"/>
                <a:cs typeface="Avenir Next Demi Bold"/>
                <a:sym typeface="Avenir Next Demi Bold"/>
              </a:defRPr>
            </a:lvl1pPr>
          </a:lstStyle>
          <a:p>
            <a:pPr/>
            <a:r>
              <a:t>03</a:t>
            </a:r>
          </a:p>
        </p:txBody>
      </p:sp>
      <p:sp>
        <p:nvSpPr>
          <p:cNvPr id="255" name="Test"/>
          <p:cNvSpPr txBox="1"/>
          <p:nvPr/>
        </p:nvSpPr>
        <p:spPr>
          <a:xfrm>
            <a:off x="1905000" y="4778021"/>
            <a:ext cx="2286000" cy="4769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500">
                <a:solidFill>
                  <a:srgbClr val="182E48"/>
                </a:solidFill>
                <a:latin typeface="Avenir Next Demi Bold"/>
                <a:ea typeface="Avenir Next Demi Bold"/>
                <a:cs typeface="Avenir Next Demi Bold"/>
                <a:sym typeface="Avenir Next Demi Bold"/>
              </a:defRPr>
            </a:lvl1pPr>
          </a:lstStyle>
          <a:p>
            <a:pPr/>
            <a:r>
              <a:t>Test</a:t>
            </a:r>
          </a:p>
        </p:txBody>
      </p:sp>
      <p:sp>
        <p:nvSpPr>
          <p:cNvPr id="256" name="group performance · Welch t-test · crisis correlations"/>
          <p:cNvSpPr txBox="1"/>
          <p:nvPr/>
        </p:nvSpPr>
        <p:spPr>
          <a:xfrm>
            <a:off x="1905000" y="5444771"/>
            <a:ext cx="5080000" cy="6801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800">
                <a:solidFill>
                  <a:srgbClr val="58657C"/>
                </a:solidFill>
                <a:latin typeface="Avenir Next Regular"/>
                <a:ea typeface="Avenir Next Regular"/>
                <a:cs typeface="Avenir Next Regular"/>
                <a:sym typeface="Avenir Next Regular"/>
              </a:defRPr>
            </a:lvl1pPr>
          </a:lstStyle>
          <a:p>
            <a:pPr/>
            <a:r>
              <a:t>group performance · Welch t-test · crisis correlations</a:t>
            </a:r>
          </a:p>
        </p:txBody>
      </p:sp>
      <p:sp>
        <p:nvSpPr>
          <p:cNvPr id="257" name="04"/>
          <p:cNvSpPr txBox="1"/>
          <p:nvPr/>
        </p:nvSpPr>
        <p:spPr>
          <a:xfrm>
            <a:off x="8407399" y="4739921"/>
            <a:ext cx="1016002" cy="6293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400">
                <a:solidFill>
                  <a:srgbClr val="ACC6E4"/>
                </a:solidFill>
                <a:latin typeface="Avenir Next Demi Bold"/>
                <a:ea typeface="Avenir Next Demi Bold"/>
                <a:cs typeface="Avenir Next Demi Bold"/>
                <a:sym typeface="Avenir Next Demi Bold"/>
              </a:defRPr>
            </a:lvl1pPr>
          </a:lstStyle>
          <a:p>
            <a:pPr/>
            <a:r>
              <a:t>04</a:t>
            </a:r>
          </a:p>
        </p:txBody>
      </p:sp>
      <p:sp>
        <p:nvSpPr>
          <p:cNvPr id="258" name="Communicate"/>
          <p:cNvSpPr txBox="1"/>
          <p:nvPr/>
        </p:nvSpPr>
        <p:spPr>
          <a:xfrm>
            <a:off x="9398000" y="4778021"/>
            <a:ext cx="3048000" cy="4769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500">
                <a:solidFill>
                  <a:srgbClr val="182E48"/>
                </a:solidFill>
                <a:latin typeface="Avenir Next Demi Bold"/>
                <a:ea typeface="Avenir Next Demi Bold"/>
                <a:cs typeface="Avenir Next Demi Bold"/>
                <a:sym typeface="Avenir Next Demi Bold"/>
              </a:defRPr>
            </a:lvl1pPr>
          </a:lstStyle>
          <a:p>
            <a:pPr/>
            <a:r>
              <a:t>Communicate</a:t>
            </a:r>
          </a:p>
        </p:txBody>
      </p:sp>
      <p:sp>
        <p:nvSpPr>
          <p:cNvPr id="259" name="takeaway titles · direct labels · honest limitations"/>
          <p:cNvSpPr txBox="1"/>
          <p:nvPr/>
        </p:nvSpPr>
        <p:spPr>
          <a:xfrm>
            <a:off x="9398000" y="5603521"/>
            <a:ext cx="5080000" cy="3626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800">
                <a:solidFill>
                  <a:srgbClr val="58657C"/>
                </a:solidFill>
                <a:latin typeface="Avenir Next Regular"/>
                <a:ea typeface="Avenir Next Regular"/>
                <a:cs typeface="Avenir Next Regular"/>
                <a:sym typeface="Avenir Next Regular"/>
              </a:defRPr>
            </a:lvl1pPr>
          </a:lstStyle>
          <a:p>
            <a:pPr/>
            <a:r>
              <a:t>takeaway titles · direct labels · honest limitations</a:t>
            </a:r>
          </a:p>
        </p:txBody>
      </p:sp>
      <p:sp>
        <p:nvSpPr>
          <p:cNvPr id="260" name="PYTHON"/>
          <p:cNvSpPr txBox="1"/>
          <p:nvPr/>
        </p:nvSpPr>
        <p:spPr>
          <a:xfrm>
            <a:off x="914400" y="7076722"/>
            <a:ext cx="1524000" cy="2991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500">
                <a:solidFill>
                  <a:srgbClr val="1973B7"/>
                </a:solidFill>
                <a:latin typeface="Avenir Next Demi Bold"/>
                <a:ea typeface="Avenir Next Demi Bold"/>
                <a:cs typeface="Avenir Next Demi Bold"/>
                <a:sym typeface="Avenir Next Demi Bold"/>
              </a:defRPr>
            </a:lvl1pPr>
          </a:lstStyle>
          <a:p>
            <a:pPr/>
            <a:r>
              <a:t>PYTHON</a:t>
            </a:r>
          </a:p>
        </p:txBody>
      </p:sp>
      <p:sp>
        <p:nvSpPr>
          <p:cNvPr id="261" name="EDA, visualization, hypothesis testing, interactive prototypes"/>
          <p:cNvSpPr txBox="1"/>
          <p:nvPr/>
        </p:nvSpPr>
        <p:spPr>
          <a:xfrm>
            <a:off x="2476500" y="6911622"/>
            <a:ext cx="5461000" cy="6293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700">
                <a:solidFill>
                  <a:srgbClr val="182E48"/>
                </a:solidFill>
                <a:latin typeface="Avenir Next Medium"/>
                <a:ea typeface="Avenir Next Medium"/>
                <a:cs typeface="Avenir Next Medium"/>
                <a:sym typeface="Avenir Next Medium"/>
              </a:defRPr>
            </a:lvl1pPr>
          </a:lstStyle>
          <a:p>
            <a:pPr/>
            <a:r>
              <a:t>EDA, visualization, hypothesis testing, interactive prototypes</a:t>
            </a:r>
          </a:p>
        </p:txBody>
      </p:sp>
      <p:sp>
        <p:nvSpPr>
          <p:cNvPr id="262" name="R"/>
          <p:cNvSpPr txBox="1"/>
          <p:nvPr/>
        </p:nvSpPr>
        <p:spPr>
          <a:xfrm>
            <a:off x="8635999" y="7076722"/>
            <a:ext cx="571502" cy="2991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500">
                <a:solidFill>
                  <a:srgbClr val="D06F21"/>
                </a:solidFill>
                <a:latin typeface="Avenir Next Demi Bold"/>
                <a:ea typeface="Avenir Next Demi Bold"/>
                <a:cs typeface="Avenir Next Demi Bold"/>
                <a:sym typeface="Avenir Next Demi Bold"/>
              </a:defRPr>
            </a:lvl1pPr>
          </a:lstStyle>
          <a:p>
            <a:pPr/>
            <a:r>
              <a:t>R</a:t>
            </a:r>
          </a:p>
        </p:txBody>
      </p:sp>
      <p:sp>
        <p:nvSpPr>
          <p:cNvPr id="263" name="replication, reshaping, lubridate monthly bins, dplyr/data.table"/>
          <p:cNvSpPr txBox="1"/>
          <p:nvPr/>
        </p:nvSpPr>
        <p:spPr>
          <a:xfrm>
            <a:off x="9271000" y="7000522"/>
            <a:ext cx="5969000" cy="6293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700">
                <a:solidFill>
                  <a:srgbClr val="182E48"/>
                </a:solidFill>
                <a:latin typeface="Avenir Next Medium"/>
                <a:ea typeface="Avenir Next Medium"/>
                <a:cs typeface="Avenir Next Medium"/>
                <a:sym typeface="Avenir Next Medium"/>
              </a:defRPr>
            </a:lvl1pPr>
          </a:lstStyle>
          <a:p>
            <a:pPr/>
            <a:r>
              <a:t>replication, reshaping, lubridate monthly bins, dplyr/data.table</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7" name="●  FINDING 1"/>
          <p:cNvSpPr txBox="1"/>
          <p:nvPr/>
        </p:nvSpPr>
        <p:spPr>
          <a:xfrm>
            <a:off x="914400" y="447322"/>
            <a:ext cx="6350000" cy="2737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pPr/>
            <a:r>
              <a:t>●  FINDING 1</a:t>
            </a:r>
          </a:p>
        </p:txBody>
      </p:sp>
      <p:sp>
        <p:nvSpPr>
          <p:cNvPr id="268" name="7"/>
          <p:cNvSpPr txBox="1"/>
          <p:nvPr/>
        </p:nvSpPr>
        <p:spPr>
          <a:xfrm>
            <a:off x="14351000" y="339371"/>
            <a:ext cx="990600" cy="5658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pPr/>
            <a:r>
              <a:t>8</a:t>
            </a:r>
          </a:p>
        </p:txBody>
      </p:sp>
      <p:sp>
        <p:nvSpPr>
          <p:cNvPr id="269" name="The selected chip/AI group pulled decisively ahead"/>
          <p:cNvSpPr txBox="1"/>
          <p:nvPr/>
        </p:nvSpPr>
        <p:spPr>
          <a:xfrm>
            <a:off x="914400" y="948972"/>
            <a:ext cx="14427200" cy="6674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600">
                <a:solidFill>
                  <a:srgbClr val="182E48"/>
                </a:solidFill>
                <a:latin typeface="Avenir Next Demi Bold"/>
                <a:ea typeface="Avenir Next Demi Bold"/>
                <a:cs typeface="Avenir Next Demi Bold"/>
                <a:sym typeface="Avenir Next Demi Bold"/>
              </a:defRPr>
            </a:lvl1pPr>
          </a:lstStyle>
          <a:p>
            <a:pPr/>
            <a:r>
              <a:t>The selected chip/AI group pulled decisively ahead</a:t>
            </a:r>
          </a:p>
        </p:txBody>
      </p:sp>
      <p:sp>
        <p:nvSpPr>
          <p:cNvPr id="270" name="Indexed group averages from 2023-01-03 to 2026-02-20."/>
          <p:cNvSpPr txBox="1"/>
          <p:nvPr/>
        </p:nvSpPr>
        <p:spPr>
          <a:xfrm>
            <a:off x="914400" y="1749071"/>
            <a:ext cx="14427200" cy="3753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pPr/>
            <a:r>
              <a:t>Indexed group averages from 2023-01-03 to 2026-02-20.</a:t>
            </a:r>
          </a:p>
        </p:txBody>
      </p:sp>
      <p:sp>
        <p:nvSpPr>
          <p:cNvPr id="271" name="HISTORICAL STOCK ANALYSIS  /  FINDING 1"/>
          <p:cNvSpPr txBox="1"/>
          <p:nvPr/>
        </p:nvSpPr>
        <p:spPr>
          <a:xfrm>
            <a:off x="914400" y="8664222"/>
            <a:ext cx="8255000" cy="2229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pPr/>
            <a:r>
              <a:t>HISTORICAL STOCK ANALYSIS  /  FINDING 1</a:t>
            </a:r>
          </a:p>
        </p:txBody>
      </p:sp>
      <p:sp>
        <p:nvSpPr>
          <p:cNvPr id="272" name="7"/>
          <p:cNvSpPr txBox="1"/>
          <p:nvPr/>
        </p:nvSpPr>
        <p:spPr>
          <a:xfrm>
            <a:off x="14986000" y="8664222"/>
            <a:ext cx="355600" cy="2229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pPr/>
            <a:r>
              <a:t>8</a:t>
            </a:r>
          </a:p>
        </p:txBody>
      </p:sp>
      <p:pic>
        <p:nvPicPr>
          <p:cNvPr id="273" name="figure_a_ai_rally.png" descr="figure_a_ai_rally.png"/>
          <p:cNvPicPr>
            <a:picLocks noChangeAspect="1"/>
          </p:cNvPicPr>
          <p:nvPr/>
        </p:nvPicPr>
        <p:blipFill>
          <a:blip r:embed="rId3">
            <a:extLst/>
          </a:blip>
          <a:stretch>
            <a:fillRect/>
          </a:stretch>
        </p:blipFill>
        <p:spPr>
          <a:xfrm>
            <a:off x="914400" y="2387599"/>
            <a:ext cx="9849044" cy="5803902"/>
          </a:xfrm>
          <a:prstGeom prst="rect">
            <a:avLst/>
          </a:prstGeom>
          <a:ln w="12700">
            <a:miter lim="400000"/>
          </a:ln>
        </p:spPr>
      </p:pic>
      <p:sp>
        <p:nvSpPr>
          <p:cNvPr id="274" name="+549%"/>
          <p:cNvSpPr txBox="1"/>
          <p:nvPr/>
        </p:nvSpPr>
        <p:spPr>
          <a:xfrm>
            <a:off x="11810999" y="2771421"/>
            <a:ext cx="3175002" cy="8833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4800">
                <a:solidFill>
                  <a:srgbClr val="1973B7"/>
                </a:solidFill>
                <a:latin typeface="Avenir Next Demi Bold"/>
                <a:ea typeface="Avenir Next Demi Bold"/>
                <a:cs typeface="Avenir Next Demi Bold"/>
                <a:sym typeface="Avenir Next Demi Bold"/>
              </a:defRPr>
            </a:lvl1pPr>
          </a:lstStyle>
          <a:p>
            <a:pPr/>
            <a:r>
              <a:t>+549%</a:t>
            </a:r>
          </a:p>
        </p:txBody>
      </p:sp>
      <p:sp>
        <p:nvSpPr>
          <p:cNvPr id="275" name="chip / AI group"/>
          <p:cNvSpPr txBox="1"/>
          <p:nvPr/>
        </p:nvSpPr>
        <p:spPr>
          <a:xfrm>
            <a:off x="11861800" y="3577871"/>
            <a:ext cx="2921000" cy="3626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800">
                <a:solidFill>
                  <a:srgbClr val="58657C"/>
                </a:solidFill>
                <a:latin typeface="Avenir Next Medium"/>
                <a:ea typeface="Avenir Next Medium"/>
                <a:cs typeface="Avenir Next Medium"/>
                <a:sym typeface="Avenir Next Medium"/>
              </a:defRPr>
            </a:lvl1pPr>
          </a:lstStyle>
          <a:p>
            <a:pPr/>
            <a:r>
              <a:t>chip / AI group</a:t>
            </a:r>
          </a:p>
        </p:txBody>
      </p:sp>
      <p:sp>
        <p:nvSpPr>
          <p:cNvPr id="276" name="+168%"/>
          <p:cNvSpPr txBox="1"/>
          <p:nvPr/>
        </p:nvSpPr>
        <p:spPr>
          <a:xfrm>
            <a:off x="11810999" y="4295421"/>
            <a:ext cx="3175002" cy="8833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4800">
                <a:solidFill>
                  <a:srgbClr val="D06F21"/>
                </a:solidFill>
                <a:latin typeface="Avenir Next Demi Bold"/>
                <a:ea typeface="Avenir Next Demi Bold"/>
                <a:cs typeface="Avenir Next Demi Bold"/>
                <a:sym typeface="Avenir Next Demi Bold"/>
              </a:defRPr>
            </a:lvl1pPr>
          </a:lstStyle>
          <a:p>
            <a:pPr/>
            <a:r>
              <a:t>+168%</a:t>
            </a:r>
          </a:p>
        </p:txBody>
      </p:sp>
      <p:sp>
        <p:nvSpPr>
          <p:cNvPr id="277" name="broader-tech group"/>
          <p:cNvSpPr txBox="1"/>
          <p:nvPr/>
        </p:nvSpPr>
        <p:spPr>
          <a:xfrm>
            <a:off x="11861799" y="5101871"/>
            <a:ext cx="3175002" cy="3626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800">
                <a:solidFill>
                  <a:srgbClr val="58657C"/>
                </a:solidFill>
                <a:latin typeface="Avenir Next Medium"/>
                <a:ea typeface="Avenir Next Medium"/>
                <a:cs typeface="Avenir Next Medium"/>
                <a:sym typeface="Avenir Next Medium"/>
              </a:defRPr>
            </a:lvl1pPr>
          </a:lstStyle>
          <a:p>
            <a:pPr/>
            <a:r>
              <a:t>broader-tech group</a:t>
            </a:r>
          </a:p>
        </p:txBody>
      </p:sp>
      <p:sp>
        <p:nvSpPr>
          <p:cNvPr id="278" name="0.26% vs 0.14%"/>
          <p:cNvSpPr txBox="1"/>
          <p:nvPr/>
        </p:nvSpPr>
        <p:spPr>
          <a:xfrm>
            <a:off x="11811000" y="6009921"/>
            <a:ext cx="3302000" cy="4769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500">
                <a:solidFill>
                  <a:srgbClr val="182E48"/>
                </a:solidFill>
                <a:latin typeface="Avenir Next Demi Bold"/>
                <a:ea typeface="Avenir Next Demi Bold"/>
                <a:cs typeface="Avenir Next Demi Bold"/>
                <a:sym typeface="Avenir Next Demi Bold"/>
              </a:defRPr>
            </a:lvl1pPr>
          </a:lstStyle>
          <a:p>
            <a:pPr/>
            <a:r>
              <a:t>0.26% vs 0.14%</a:t>
            </a:r>
          </a:p>
        </p:txBody>
      </p:sp>
      <p:sp>
        <p:nvSpPr>
          <p:cNvPr id="279" name="mean daily return"/>
          <p:cNvSpPr txBox="1"/>
          <p:nvPr/>
        </p:nvSpPr>
        <p:spPr>
          <a:xfrm>
            <a:off x="11861799" y="6498871"/>
            <a:ext cx="3175002" cy="3372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700">
                <a:solidFill>
                  <a:srgbClr val="58657C"/>
                </a:solidFill>
                <a:latin typeface="Avenir Next Medium"/>
                <a:ea typeface="Avenir Next Medium"/>
                <a:cs typeface="Avenir Next Medium"/>
                <a:sym typeface="Avenir Next Medium"/>
              </a:defRPr>
            </a:lvl1pPr>
          </a:lstStyle>
          <a:p>
            <a:pPr/>
            <a:r>
              <a:t>mean daily return</a:t>
            </a:r>
          </a:p>
        </p:txBody>
      </p:sp>
      <p:sp>
        <p:nvSpPr>
          <p:cNvPr id="280" name="Welch p = 0.0073"/>
          <p:cNvSpPr txBox="1"/>
          <p:nvPr/>
        </p:nvSpPr>
        <p:spPr>
          <a:xfrm>
            <a:off x="11811000" y="7121172"/>
            <a:ext cx="3302000" cy="3880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000">
                <a:solidFill>
                  <a:srgbClr val="0B856E"/>
                </a:solidFill>
                <a:latin typeface="Avenir Next Demi Bold"/>
                <a:ea typeface="Avenir Next Demi Bold"/>
                <a:cs typeface="Avenir Next Demi Bold"/>
                <a:sym typeface="Avenir Next Demi Bold"/>
              </a:defRPr>
            </a:lvl1pPr>
          </a:lstStyle>
          <a:p>
            <a:pPr/>
            <a:r>
              <a:t>Welch p = 0.0073</a:t>
            </a:r>
          </a:p>
        </p:txBody>
      </p:sp>
      <p:sp>
        <p:nvSpPr>
          <p:cNvPr id="281" name="Conclusion: H1 is supported for these selected groups—not for every company linked to AI."/>
          <p:cNvSpPr txBox="1"/>
          <p:nvPr/>
        </p:nvSpPr>
        <p:spPr>
          <a:xfrm>
            <a:off x="914400" y="8099072"/>
            <a:ext cx="13970002" cy="3626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800">
                <a:solidFill>
                  <a:srgbClr val="1973B7"/>
                </a:solidFill>
                <a:latin typeface="Avenir Next Demi Bold"/>
                <a:ea typeface="Avenir Next Demi Bold"/>
                <a:cs typeface="Avenir Next Demi Bold"/>
                <a:sym typeface="Avenir Next Demi Bold"/>
              </a:defRPr>
            </a:lvl1pPr>
          </a:lstStyle>
          <a:p>
            <a:pPr/>
            <a:r>
              <a:t>Conclusion: H1 is supported for these selected groups—not for every company linked to AI.</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5" name="●  FINDING 2"/>
          <p:cNvSpPr txBox="1"/>
          <p:nvPr/>
        </p:nvSpPr>
        <p:spPr>
          <a:xfrm>
            <a:off x="914400" y="447322"/>
            <a:ext cx="6350000" cy="2737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pPr/>
            <a:r>
              <a:t>●  FINDING 2</a:t>
            </a:r>
          </a:p>
        </p:txBody>
      </p:sp>
      <p:sp>
        <p:nvSpPr>
          <p:cNvPr id="286" name="8"/>
          <p:cNvSpPr txBox="1"/>
          <p:nvPr/>
        </p:nvSpPr>
        <p:spPr>
          <a:xfrm>
            <a:off x="14351000" y="339371"/>
            <a:ext cx="990600" cy="5658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pPr/>
            <a:r>
              <a:t>9</a:t>
            </a:r>
          </a:p>
        </p:txBody>
      </p:sp>
      <p:sp>
        <p:nvSpPr>
          <p:cNvPr id="287" name="Regional diversification weakened most in the 2020 crash"/>
          <p:cNvSpPr txBox="1"/>
          <p:nvPr/>
        </p:nvSpPr>
        <p:spPr>
          <a:xfrm>
            <a:off x="914400" y="948972"/>
            <a:ext cx="14427200" cy="6674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600">
                <a:solidFill>
                  <a:srgbClr val="182E48"/>
                </a:solidFill>
                <a:latin typeface="Avenir Next Demi Bold"/>
                <a:ea typeface="Avenir Next Demi Bold"/>
                <a:cs typeface="Avenir Next Demi Bold"/>
                <a:sym typeface="Avenir Next Demi Bold"/>
              </a:defRPr>
            </a:lvl1pPr>
          </a:lstStyle>
          <a:p>
            <a:pPr/>
            <a:r>
              <a:t>Regional diversification weakened most in the 2020 crash</a:t>
            </a:r>
          </a:p>
        </p:txBody>
      </p:sp>
      <p:sp>
        <p:nvSpPr>
          <p:cNvPr id="288" name="Average pairwise correlations after widening the available regional baskets."/>
          <p:cNvSpPr txBox="1"/>
          <p:nvPr/>
        </p:nvSpPr>
        <p:spPr>
          <a:xfrm>
            <a:off x="914400" y="1749071"/>
            <a:ext cx="14427200" cy="3753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pPr/>
            <a:r>
              <a:t>Average pairwise correlations after widening the available regional baskets.</a:t>
            </a:r>
          </a:p>
        </p:txBody>
      </p:sp>
      <p:sp>
        <p:nvSpPr>
          <p:cNvPr id="289" name="HISTORICAL STOCK ANALYSIS  /  FINDING 2"/>
          <p:cNvSpPr txBox="1"/>
          <p:nvPr/>
        </p:nvSpPr>
        <p:spPr>
          <a:xfrm>
            <a:off x="914400" y="8664222"/>
            <a:ext cx="8255000" cy="2229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pPr/>
            <a:r>
              <a:t>HISTORICAL STOCK ANALYSIS  /  FINDING 2</a:t>
            </a:r>
          </a:p>
        </p:txBody>
      </p:sp>
      <p:sp>
        <p:nvSpPr>
          <p:cNvPr id="290" name="8"/>
          <p:cNvSpPr txBox="1"/>
          <p:nvPr/>
        </p:nvSpPr>
        <p:spPr>
          <a:xfrm>
            <a:off x="14986000" y="8664222"/>
            <a:ext cx="355600" cy="2229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pPr/>
            <a:r>
              <a:t>9</a:t>
            </a:r>
          </a:p>
        </p:txBody>
      </p:sp>
      <p:pic>
        <p:nvPicPr>
          <p:cNvPr id="291" name="ec1_f_widened_basket.png" descr="ec1_f_widened_basket.png"/>
          <p:cNvPicPr>
            <a:picLocks noChangeAspect="1"/>
          </p:cNvPicPr>
          <p:nvPr/>
        </p:nvPicPr>
        <p:blipFill>
          <a:blip r:embed="rId3">
            <a:extLst/>
          </a:blip>
          <a:stretch>
            <a:fillRect/>
          </a:stretch>
        </p:blipFill>
        <p:spPr>
          <a:xfrm>
            <a:off x="914400" y="2540000"/>
            <a:ext cx="10625247" cy="3898900"/>
          </a:xfrm>
          <a:prstGeom prst="rect">
            <a:avLst/>
          </a:prstGeom>
          <a:ln w="12700">
            <a:miter lim="400000"/>
          </a:ln>
        </p:spPr>
      </p:pic>
      <p:sp>
        <p:nvSpPr>
          <p:cNvPr id="292" name="0.282"/>
          <p:cNvSpPr txBox="1"/>
          <p:nvPr/>
        </p:nvSpPr>
        <p:spPr>
          <a:xfrm>
            <a:off x="12700000" y="2777771"/>
            <a:ext cx="2286000" cy="7436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4000">
                <a:solidFill>
                  <a:srgbClr val="58657C"/>
                </a:solidFill>
                <a:latin typeface="Avenir Next Demi Bold"/>
                <a:ea typeface="Avenir Next Demi Bold"/>
                <a:cs typeface="Avenir Next Demi Bold"/>
                <a:sym typeface="Avenir Next Demi Bold"/>
              </a:defRPr>
            </a:lvl1pPr>
          </a:lstStyle>
          <a:p>
            <a:pPr/>
            <a:r>
              <a:t>0.282</a:t>
            </a:r>
          </a:p>
        </p:txBody>
      </p:sp>
      <p:sp>
        <p:nvSpPr>
          <p:cNvPr id="293" name="calm"/>
          <p:cNvSpPr txBox="1"/>
          <p:nvPr/>
        </p:nvSpPr>
        <p:spPr>
          <a:xfrm>
            <a:off x="12738099" y="3450871"/>
            <a:ext cx="2032002" cy="3372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700">
                <a:solidFill>
                  <a:srgbClr val="58657C"/>
                </a:solidFill>
                <a:latin typeface="Avenir Next Medium"/>
                <a:ea typeface="Avenir Next Medium"/>
                <a:cs typeface="Avenir Next Medium"/>
                <a:sym typeface="Avenir Next Medium"/>
              </a:defRPr>
            </a:lvl1pPr>
          </a:lstStyle>
          <a:p>
            <a:pPr/>
            <a:r>
              <a:t>calm</a:t>
            </a:r>
          </a:p>
        </p:txBody>
      </p:sp>
      <p:sp>
        <p:nvSpPr>
          <p:cNvPr id="294" name="0.326"/>
          <p:cNvSpPr txBox="1"/>
          <p:nvPr/>
        </p:nvSpPr>
        <p:spPr>
          <a:xfrm>
            <a:off x="12700000" y="4047771"/>
            <a:ext cx="2286000" cy="7436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4000">
                <a:solidFill>
                  <a:srgbClr val="1F3D5A"/>
                </a:solidFill>
                <a:latin typeface="Avenir Next Demi Bold"/>
                <a:ea typeface="Avenir Next Demi Bold"/>
                <a:cs typeface="Avenir Next Demi Bold"/>
                <a:sym typeface="Avenir Next Demi Bold"/>
              </a:defRPr>
            </a:lvl1pPr>
          </a:lstStyle>
          <a:p>
            <a:pPr/>
            <a:r>
              <a:t>0.326</a:t>
            </a:r>
          </a:p>
        </p:txBody>
      </p:sp>
      <p:sp>
        <p:nvSpPr>
          <p:cNvPr id="295" name="2008"/>
          <p:cNvSpPr txBox="1"/>
          <p:nvPr/>
        </p:nvSpPr>
        <p:spPr>
          <a:xfrm>
            <a:off x="12738099" y="4720871"/>
            <a:ext cx="2032002" cy="3372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700">
                <a:solidFill>
                  <a:srgbClr val="58657C"/>
                </a:solidFill>
                <a:latin typeface="Avenir Next Medium"/>
                <a:ea typeface="Avenir Next Medium"/>
                <a:cs typeface="Avenir Next Medium"/>
                <a:sym typeface="Avenir Next Medium"/>
              </a:defRPr>
            </a:lvl1pPr>
          </a:lstStyle>
          <a:p>
            <a:pPr/>
            <a:r>
              <a:t>2008</a:t>
            </a:r>
          </a:p>
        </p:txBody>
      </p:sp>
      <p:sp>
        <p:nvSpPr>
          <p:cNvPr id="296" name="0.539"/>
          <p:cNvSpPr txBox="1"/>
          <p:nvPr/>
        </p:nvSpPr>
        <p:spPr>
          <a:xfrm>
            <a:off x="12700000" y="5317771"/>
            <a:ext cx="2286000" cy="7436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4000">
                <a:solidFill>
                  <a:srgbClr val="1973B7"/>
                </a:solidFill>
                <a:latin typeface="Avenir Next Demi Bold"/>
                <a:ea typeface="Avenir Next Demi Bold"/>
                <a:cs typeface="Avenir Next Demi Bold"/>
                <a:sym typeface="Avenir Next Demi Bold"/>
              </a:defRPr>
            </a:lvl1pPr>
          </a:lstStyle>
          <a:p>
            <a:pPr/>
            <a:r>
              <a:t>0.539</a:t>
            </a:r>
          </a:p>
        </p:txBody>
      </p:sp>
      <p:sp>
        <p:nvSpPr>
          <p:cNvPr id="297" name="2020"/>
          <p:cNvSpPr txBox="1"/>
          <p:nvPr/>
        </p:nvSpPr>
        <p:spPr>
          <a:xfrm>
            <a:off x="12738099" y="5990871"/>
            <a:ext cx="2032002" cy="3372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700">
                <a:solidFill>
                  <a:srgbClr val="58657C"/>
                </a:solidFill>
                <a:latin typeface="Avenir Next Medium"/>
                <a:ea typeface="Avenir Next Medium"/>
                <a:cs typeface="Avenir Next Medium"/>
                <a:sym typeface="Avenir Next Medium"/>
              </a:defRPr>
            </a:lvl1pPr>
          </a:lstStyle>
          <a:p>
            <a:pPr/>
            <a:r>
              <a:t>2020</a:t>
            </a:r>
          </a:p>
        </p:txBody>
      </p:sp>
      <p:sp>
        <p:nvSpPr>
          <p:cNvPr id="298" name="The 2008 estimate became more crisis-like after widening the basket, but Paris still has one stock and Korea/Switzerland remain sector-narrow."/>
          <p:cNvSpPr txBox="1"/>
          <p:nvPr/>
        </p:nvSpPr>
        <p:spPr>
          <a:xfrm>
            <a:off x="914400" y="7038622"/>
            <a:ext cx="13970002" cy="7309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000">
                <a:solidFill>
                  <a:srgbClr val="182E48"/>
                </a:solidFill>
                <a:latin typeface="Avenir Next Medium"/>
                <a:ea typeface="Avenir Next Medium"/>
                <a:cs typeface="Avenir Next Medium"/>
                <a:sym typeface="Avenir Next Medium"/>
              </a:defRPr>
            </a:lvl1pPr>
          </a:lstStyle>
          <a:p>
            <a:pPr/>
            <a:r>
              <a:t>The 2008 estimate became more crisis-like after widening the basket, but Paris still has one stock and Korea/Switzerland remain sector-narrow.</a:t>
            </a:r>
          </a:p>
        </p:txBody>
      </p:sp>
      <p:sp>
        <p:nvSpPr>
          <p:cNvPr id="299" name="Conclusion: H2 is strongly supported for 2020 and directionally supported for 2008."/>
          <p:cNvSpPr txBox="1"/>
          <p:nvPr/>
        </p:nvSpPr>
        <p:spPr>
          <a:xfrm>
            <a:off x="914400" y="8010172"/>
            <a:ext cx="13970002" cy="3626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800">
                <a:solidFill>
                  <a:srgbClr val="1973B7"/>
                </a:solidFill>
                <a:latin typeface="Avenir Next Demi Bold"/>
                <a:ea typeface="Avenir Next Demi Bold"/>
                <a:cs typeface="Avenir Next Demi Bold"/>
                <a:sym typeface="Avenir Next Demi Bold"/>
              </a:defRPr>
            </a:lvl1pPr>
          </a:lstStyle>
          <a:p>
            <a:pPr/>
            <a:r>
              <a:t>Conclusion: H2 is strongly supported for 2020 and directionally supported for 2008.</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3" name="●  FINDING 3"/>
          <p:cNvSpPr txBox="1"/>
          <p:nvPr/>
        </p:nvSpPr>
        <p:spPr>
          <a:xfrm>
            <a:off x="914400" y="447322"/>
            <a:ext cx="6350000" cy="2737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pPr/>
            <a:r>
              <a:t>●  FINDING 3</a:t>
            </a:r>
          </a:p>
        </p:txBody>
      </p:sp>
      <p:sp>
        <p:nvSpPr>
          <p:cNvPr id="304" name="9"/>
          <p:cNvSpPr txBox="1"/>
          <p:nvPr/>
        </p:nvSpPr>
        <p:spPr>
          <a:xfrm>
            <a:off x="14351000" y="339371"/>
            <a:ext cx="990600" cy="5658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pPr/>
            <a:r>
              <a:t>10</a:t>
            </a:r>
          </a:p>
        </p:txBody>
      </p:sp>
      <p:sp>
        <p:nvSpPr>
          <p:cNvPr id="305" name="Panic months produced the largest volatility spikes"/>
          <p:cNvSpPr txBox="1"/>
          <p:nvPr/>
        </p:nvSpPr>
        <p:spPr>
          <a:xfrm>
            <a:off x="914400" y="948972"/>
            <a:ext cx="14427200" cy="6674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600">
                <a:solidFill>
                  <a:srgbClr val="182E48"/>
                </a:solidFill>
                <a:latin typeface="Avenir Next Demi Bold"/>
                <a:ea typeface="Avenir Next Demi Bold"/>
                <a:cs typeface="Avenir Next Demi Bold"/>
                <a:sym typeface="Avenir Next Demi Bold"/>
              </a:defRPr>
            </a:lvl1pPr>
          </a:lstStyle>
          <a:p>
            <a:pPr/>
            <a:r>
              <a:t>Panic months produced the largest volatility spikes</a:t>
            </a:r>
          </a:p>
        </p:txBody>
      </p:sp>
      <p:sp>
        <p:nvSpPr>
          <p:cNvPr id="306" name="Equal-weighted mean absolute daily return by month across available tickers."/>
          <p:cNvSpPr txBox="1"/>
          <p:nvPr/>
        </p:nvSpPr>
        <p:spPr>
          <a:xfrm>
            <a:off x="914400" y="1749071"/>
            <a:ext cx="14427200" cy="3753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pPr/>
            <a:r>
              <a:t>Equal-weighted mean absolute daily return by month across available tickers.</a:t>
            </a:r>
          </a:p>
        </p:txBody>
      </p:sp>
      <p:sp>
        <p:nvSpPr>
          <p:cNvPr id="307" name="HISTORICAL STOCK ANALYSIS  /  FINDING 3"/>
          <p:cNvSpPr txBox="1"/>
          <p:nvPr/>
        </p:nvSpPr>
        <p:spPr>
          <a:xfrm>
            <a:off x="914400" y="8664222"/>
            <a:ext cx="8255000" cy="2229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pPr/>
            <a:r>
              <a:t>HISTORICAL STOCK ANALYSIS  /  FINDING 3</a:t>
            </a:r>
          </a:p>
        </p:txBody>
      </p:sp>
      <p:sp>
        <p:nvSpPr>
          <p:cNvPr id="308" name="9"/>
          <p:cNvSpPr txBox="1"/>
          <p:nvPr/>
        </p:nvSpPr>
        <p:spPr>
          <a:xfrm>
            <a:off x="14986000" y="8664222"/>
            <a:ext cx="355600" cy="2229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pPr/>
            <a:r>
              <a:t>10</a:t>
            </a:r>
          </a:p>
        </p:txBody>
      </p:sp>
      <p:pic>
        <p:nvPicPr>
          <p:cNvPr id="309" name="b2_monthly_absolute_return.png" descr="b2_monthly_absolute_return.png"/>
          <p:cNvPicPr>
            <a:picLocks noChangeAspect="1"/>
          </p:cNvPicPr>
          <p:nvPr/>
        </p:nvPicPr>
        <p:blipFill>
          <a:blip r:embed="rId3">
            <a:extLst/>
          </a:blip>
          <a:stretch>
            <a:fillRect/>
          </a:stretch>
        </p:blipFill>
        <p:spPr>
          <a:xfrm>
            <a:off x="914400" y="2362200"/>
            <a:ext cx="10916222" cy="6261100"/>
          </a:xfrm>
          <a:prstGeom prst="rect">
            <a:avLst/>
          </a:prstGeom>
          <a:ln w="12700">
            <a:miter lim="400000"/>
          </a:ln>
        </p:spPr>
      </p:pic>
      <p:sp>
        <p:nvSpPr>
          <p:cNvPr id="310" name="OCT 2008"/>
          <p:cNvSpPr txBox="1"/>
          <p:nvPr/>
        </p:nvSpPr>
        <p:spPr>
          <a:xfrm>
            <a:off x="12522200" y="3088921"/>
            <a:ext cx="2413001" cy="3245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600">
                <a:solidFill>
                  <a:srgbClr val="C75C5C"/>
                </a:solidFill>
                <a:latin typeface="Avenir Next Demi Bold"/>
                <a:ea typeface="Avenir Next Demi Bold"/>
                <a:cs typeface="Avenir Next Demi Bold"/>
                <a:sym typeface="Avenir Next Demi Bold"/>
              </a:defRPr>
            </a:lvl1pPr>
          </a:lstStyle>
          <a:p>
            <a:pPr/>
            <a:r>
              <a:t>OCT 2008</a:t>
            </a:r>
          </a:p>
        </p:txBody>
      </p:sp>
      <p:sp>
        <p:nvSpPr>
          <p:cNvPr id="311" name="4.82%"/>
          <p:cNvSpPr txBox="1"/>
          <p:nvPr/>
        </p:nvSpPr>
        <p:spPr>
          <a:xfrm>
            <a:off x="12471400" y="3438171"/>
            <a:ext cx="2667000" cy="7690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4200">
                <a:solidFill>
                  <a:srgbClr val="C75C5C"/>
                </a:solidFill>
                <a:latin typeface="Avenir Next Demi Bold"/>
                <a:ea typeface="Avenir Next Demi Bold"/>
                <a:cs typeface="Avenir Next Demi Bold"/>
                <a:sym typeface="Avenir Next Demi Bold"/>
              </a:defRPr>
            </a:lvl1pPr>
          </a:lstStyle>
          <a:p>
            <a:pPr/>
            <a:r>
              <a:t>4.82%</a:t>
            </a:r>
          </a:p>
        </p:txBody>
      </p:sp>
      <p:sp>
        <p:nvSpPr>
          <p:cNvPr id="312" name="MAR 2020"/>
          <p:cNvSpPr txBox="1"/>
          <p:nvPr/>
        </p:nvSpPr>
        <p:spPr>
          <a:xfrm>
            <a:off x="12522200" y="4866921"/>
            <a:ext cx="2413001" cy="3245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600">
                <a:solidFill>
                  <a:srgbClr val="C75C5C"/>
                </a:solidFill>
                <a:latin typeface="Avenir Next Demi Bold"/>
                <a:ea typeface="Avenir Next Demi Bold"/>
                <a:cs typeface="Avenir Next Demi Bold"/>
                <a:sym typeface="Avenir Next Demi Bold"/>
              </a:defRPr>
            </a:lvl1pPr>
          </a:lstStyle>
          <a:p>
            <a:pPr/>
            <a:r>
              <a:t>MAR 2020</a:t>
            </a:r>
          </a:p>
        </p:txBody>
      </p:sp>
      <p:sp>
        <p:nvSpPr>
          <p:cNvPr id="313" name="4.67%"/>
          <p:cNvSpPr txBox="1"/>
          <p:nvPr/>
        </p:nvSpPr>
        <p:spPr>
          <a:xfrm>
            <a:off x="12471400" y="5216171"/>
            <a:ext cx="2667000" cy="7690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4200">
                <a:solidFill>
                  <a:srgbClr val="C75C5C"/>
                </a:solidFill>
                <a:latin typeface="Avenir Next Demi Bold"/>
                <a:ea typeface="Avenir Next Demi Bold"/>
                <a:cs typeface="Avenir Next Demi Bold"/>
                <a:sym typeface="Avenir Next Demi Bold"/>
              </a:defRPr>
            </a:lvl1pPr>
          </a:lstStyle>
          <a:p>
            <a:pPr/>
            <a:r>
              <a:t>4.67%</a:t>
            </a:r>
          </a:p>
        </p:txBody>
      </p:sp>
      <p:sp>
        <p:nvSpPr>
          <p:cNvPr id="314" name="Independent monthly aggregation reaches the same crisis conclusion."/>
          <p:cNvSpPr txBox="1"/>
          <p:nvPr/>
        </p:nvSpPr>
        <p:spPr>
          <a:xfrm>
            <a:off x="12471399" y="6479821"/>
            <a:ext cx="2794002" cy="10357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900">
                <a:solidFill>
                  <a:srgbClr val="182E48"/>
                </a:solidFill>
                <a:latin typeface="Avenir Next Medium"/>
                <a:ea typeface="Avenir Next Medium"/>
                <a:cs typeface="Avenir Next Medium"/>
                <a:sym typeface="Avenir Next Medium"/>
              </a:defRPr>
            </a:lvl1pPr>
          </a:lstStyle>
          <a:p>
            <a:pPr/>
            <a:r>
              <a:t>Independent monthly aggregation reaches the same crisis conclusion.</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8" name="●  DESIGN EVOLUTION"/>
          <p:cNvSpPr txBox="1"/>
          <p:nvPr/>
        </p:nvSpPr>
        <p:spPr>
          <a:xfrm>
            <a:off x="914400" y="447322"/>
            <a:ext cx="6350000" cy="2737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pPr/>
            <a:r>
              <a:t>●  DESIGN EVOLUTION</a:t>
            </a:r>
          </a:p>
        </p:txBody>
      </p:sp>
      <p:sp>
        <p:nvSpPr>
          <p:cNvPr id="319" name="10"/>
          <p:cNvSpPr txBox="1"/>
          <p:nvPr/>
        </p:nvSpPr>
        <p:spPr>
          <a:xfrm>
            <a:off x="14351000" y="339371"/>
            <a:ext cx="990600" cy="5658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pPr/>
            <a:r>
              <a:t>11</a:t>
            </a:r>
          </a:p>
        </p:txBody>
      </p:sp>
      <p:sp>
        <p:nvSpPr>
          <p:cNvPr id="320" name="A log scale reveals the growth stories hidden by the linear chart"/>
          <p:cNvSpPr txBox="1"/>
          <p:nvPr/>
        </p:nvSpPr>
        <p:spPr>
          <a:xfrm>
            <a:off x="914400" y="948972"/>
            <a:ext cx="14427200" cy="6674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600">
                <a:solidFill>
                  <a:srgbClr val="182E48"/>
                </a:solidFill>
                <a:latin typeface="Avenir Next Demi Bold"/>
                <a:ea typeface="Avenir Next Demi Bold"/>
                <a:cs typeface="Avenir Next Demi Bold"/>
                <a:sym typeface="Avenir Next Demi Bold"/>
              </a:defRPr>
            </a:lvl1pPr>
          </a:lstStyle>
          <a:p>
            <a:pPr/>
            <a:r>
              <a:t>A log scale reveals the growth stories hidden by the linear chart</a:t>
            </a:r>
          </a:p>
        </p:txBody>
      </p:sp>
      <p:sp>
        <p:nvSpPr>
          <p:cNvPr id="321" name="Same data and rebasing; only the visual encoding changes."/>
          <p:cNvSpPr txBox="1"/>
          <p:nvPr/>
        </p:nvSpPr>
        <p:spPr>
          <a:xfrm>
            <a:off x="914400" y="1749071"/>
            <a:ext cx="14427200" cy="3753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pPr/>
            <a:r>
              <a:t>Same data and rebasing; only the visual encoding changes.</a:t>
            </a:r>
          </a:p>
        </p:txBody>
      </p:sp>
      <p:sp>
        <p:nvSpPr>
          <p:cNvPr id="322" name="HISTORICAL STOCK ANALYSIS  /  DESIGN EVOLUTION"/>
          <p:cNvSpPr txBox="1"/>
          <p:nvPr/>
        </p:nvSpPr>
        <p:spPr>
          <a:xfrm>
            <a:off x="914400" y="8664222"/>
            <a:ext cx="8255000" cy="2229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pPr/>
            <a:r>
              <a:t>HISTORICAL STOCK ANALYSIS  /  DESIGN EVOLUTION</a:t>
            </a:r>
          </a:p>
        </p:txBody>
      </p:sp>
      <p:sp>
        <p:nvSpPr>
          <p:cNvPr id="323" name="10"/>
          <p:cNvSpPr txBox="1"/>
          <p:nvPr/>
        </p:nvSpPr>
        <p:spPr>
          <a:xfrm>
            <a:off x="14986000" y="8664222"/>
            <a:ext cx="355600" cy="2229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pPr/>
            <a:r>
              <a:t>11</a:t>
            </a:r>
          </a:p>
        </p:txBody>
      </p:sp>
      <p:sp>
        <p:nvSpPr>
          <p:cNvPr id="324" name="BEFORE  ·  LINEAR"/>
          <p:cNvSpPr txBox="1"/>
          <p:nvPr/>
        </p:nvSpPr>
        <p:spPr>
          <a:xfrm>
            <a:off x="914400" y="2269771"/>
            <a:ext cx="5080000" cy="2864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400">
                <a:solidFill>
                  <a:srgbClr val="D06F21"/>
                </a:solidFill>
                <a:latin typeface="Avenir Next Demi Bold"/>
                <a:ea typeface="Avenir Next Demi Bold"/>
                <a:cs typeface="Avenir Next Demi Bold"/>
                <a:sym typeface="Avenir Next Demi Bold"/>
              </a:defRPr>
            </a:lvl1pPr>
          </a:lstStyle>
          <a:p>
            <a:pPr/>
            <a:r>
              <a:t>BEFORE  ·  LINEAR</a:t>
            </a:r>
          </a:p>
        </p:txBody>
      </p:sp>
      <p:sp>
        <p:nvSpPr>
          <p:cNvPr id="325" name="AFTER  ·  LOG"/>
          <p:cNvSpPr txBox="1"/>
          <p:nvPr/>
        </p:nvSpPr>
        <p:spPr>
          <a:xfrm>
            <a:off x="8255000" y="2269771"/>
            <a:ext cx="5080000" cy="2864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400">
                <a:solidFill>
                  <a:srgbClr val="1973B7"/>
                </a:solidFill>
                <a:latin typeface="Avenir Next Demi Bold"/>
                <a:ea typeface="Avenir Next Demi Bold"/>
                <a:cs typeface="Avenir Next Demi Bold"/>
                <a:sym typeface="Avenir Next Demi Bold"/>
              </a:defRPr>
            </a:lvl1pPr>
          </a:lstStyle>
          <a:p>
            <a:pPr/>
            <a:r>
              <a:t>AFTER  ·  LOG</a:t>
            </a:r>
          </a:p>
        </p:txBody>
      </p:sp>
      <p:pic>
        <p:nvPicPr>
          <p:cNvPr id="326" name="ec1_a_before.png" descr="ec1_a_before.png"/>
          <p:cNvPicPr>
            <a:picLocks noChangeAspect="1"/>
          </p:cNvPicPr>
          <p:nvPr/>
        </p:nvPicPr>
        <p:blipFill>
          <a:blip r:embed="rId3">
            <a:extLst/>
          </a:blip>
          <a:stretch>
            <a:fillRect/>
          </a:stretch>
        </p:blipFill>
        <p:spPr>
          <a:xfrm>
            <a:off x="914400" y="2641600"/>
            <a:ext cx="6962258" cy="4178300"/>
          </a:xfrm>
          <a:prstGeom prst="rect">
            <a:avLst/>
          </a:prstGeom>
          <a:ln w="12700">
            <a:miter lim="400000"/>
          </a:ln>
        </p:spPr>
      </p:pic>
      <p:pic>
        <p:nvPicPr>
          <p:cNvPr id="327" name="ec1_a_after.png" descr="ec1_a_after.png"/>
          <p:cNvPicPr>
            <a:picLocks noChangeAspect="1"/>
          </p:cNvPicPr>
          <p:nvPr/>
        </p:nvPicPr>
        <p:blipFill>
          <a:blip r:embed="rId4">
            <a:extLst/>
          </a:blip>
          <a:stretch>
            <a:fillRect/>
          </a:stretch>
        </p:blipFill>
        <p:spPr>
          <a:xfrm>
            <a:off x="8255000" y="2641600"/>
            <a:ext cx="6966985" cy="4178300"/>
          </a:xfrm>
          <a:prstGeom prst="rect">
            <a:avLst/>
          </a:prstGeom>
          <a:ln w="12700">
            <a:miter lim="400000"/>
          </a:ln>
        </p:spPr>
      </p:pic>
      <p:sp>
        <p:nvSpPr>
          <p:cNvPr id="328" name="NVDA and AVGO dominate the absolute range, compressing four lines near the baseline."/>
          <p:cNvSpPr txBox="1"/>
          <p:nvPr/>
        </p:nvSpPr>
        <p:spPr>
          <a:xfrm>
            <a:off x="914400" y="7076722"/>
            <a:ext cx="6604001" cy="6293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700">
                <a:solidFill>
                  <a:srgbClr val="58657C"/>
                </a:solidFill>
                <a:latin typeface="Avenir Next Medium"/>
                <a:ea typeface="Avenir Next Medium"/>
                <a:cs typeface="Avenir Next Medium"/>
                <a:sym typeface="Avenir Next Medium"/>
              </a:defRPr>
            </a:lvl1pPr>
          </a:lstStyle>
          <a:p>
            <a:pPr/>
            <a:r>
              <a:t>NVDA and AVGO dominate the absolute range, compressing four lines near the baseline.</a:t>
            </a:r>
          </a:p>
        </p:txBody>
      </p:sp>
      <p:sp>
        <p:nvSpPr>
          <p:cNvPr id="329" name="Equal vertical distance now represents equal proportional change; all six series remain legible."/>
          <p:cNvSpPr txBox="1"/>
          <p:nvPr/>
        </p:nvSpPr>
        <p:spPr>
          <a:xfrm>
            <a:off x="8255000" y="7076722"/>
            <a:ext cx="7061200" cy="6293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700">
                <a:solidFill>
                  <a:srgbClr val="182E48"/>
                </a:solidFill>
                <a:latin typeface="Avenir Next Medium"/>
                <a:ea typeface="Avenir Next Medium"/>
                <a:cs typeface="Avenir Next Medium"/>
                <a:sym typeface="Avenir Next Medium"/>
              </a:defRPr>
            </a:lvl1pPr>
          </a:lstStyle>
          <a:p>
            <a:pPr/>
            <a:r>
              <a:t>Equal vertical distance now represents equal proportional change; all six series remain legible.</a:t>
            </a:r>
          </a:p>
        </p:txBody>
      </p:sp>
      <p:sp>
        <p:nvSpPr>
          <p:cNvPr id="330" name="Principles applied: appropriate scale  ·  direct labels  ·  less non-data ink  ·  better pre-attentive separation"/>
          <p:cNvSpPr txBox="1"/>
          <p:nvPr/>
        </p:nvSpPr>
        <p:spPr>
          <a:xfrm>
            <a:off x="914400" y="8035572"/>
            <a:ext cx="14427200" cy="3626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800">
                <a:solidFill>
                  <a:srgbClr val="1973B7"/>
                </a:solidFill>
                <a:latin typeface="Avenir Next Demi Bold"/>
                <a:ea typeface="Avenir Next Demi Bold"/>
                <a:cs typeface="Avenir Next Demi Bold"/>
                <a:sym typeface="Avenir Next Demi Bold"/>
              </a:defRPr>
            </a:lvl1pPr>
          </a:lstStyle>
          <a:p>
            <a:pPr/>
            <a:r>
              <a:t>Principles applied: appropriate scale  ·  direct labels  ·  less non-data ink  ·  better pre-attentive separation</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4" name="●  CONCLUSION"/>
          <p:cNvSpPr txBox="1"/>
          <p:nvPr/>
        </p:nvSpPr>
        <p:spPr>
          <a:xfrm>
            <a:off x="914400" y="447322"/>
            <a:ext cx="6350000" cy="2737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pPr/>
            <a:r>
              <a:t>●  CONCLUSION</a:t>
            </a:r>
          </a:p>
        </p:txBody>
      </p:sp>
      <p:sp>
        <p:nvSpPr>
          <p:cNvPr id="335" name="11"/>
          <p:cNvSpPr txBox="1"/>
          <p:nvPr/>
        </p:nvSpPr>
        <p:spPr>
          <a:xfrm>
            <a:off x="14351000" y="339371"/>
            <a:ext cx="990600" cy="5658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pPr/>
            <a:r>
              <a:t>12</a:t>
            </a:r>
          </a:p>
        </p:txBody>
      </p:sp>
      <p:sp>
        <p:nvSpPr>
          <p:cNvPr id="336" name="Diversification is present—but thinner when it matters most"/>
          <p:cNvSpPr txBox="1"/>
          <p:nvPr/>
        </p:nvSpPr>
        <p:spPr>
          <a:xfrm>
            <a:off x="914400" y="948971"/>
            <a:ext cx="14427200" cy="6674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600">
                <a:solidFill>
                  <a:srgbClr val="1F3D5A"/>
                </a:solidFill>
                <a:latin typeface="Avenir Next Demi Bold"/>
                <a:ea typeface="Avenir Next Demi Bold"/>
                <a:cs typeface="Avenir Next Demi Bold"/>
                <a:sym typeface="Avenir Next Demi Bold"/>
              </a:defRPr>
            </a:lvl1pPr>
          </a:lstStyle>
          <a:p>
            <a:pPr/>
            <a:r>
              <a:t>Diversification is thinner when it matters most</a:t>
            </a:r>
          </a:p>
        </p:txBody>
      </p:sp>
      <p:sp>
        <p:nvSpPr>
          <p:cNvPr id="337" name="The three hypotheses agree on the central story while keeping their boundaries visible."/>
          <p:cNvSpPr txBox="1"/>
          <p:nvPr/>
        </p:nvSpPr>
        <p:spPr>
          <a:xfrm>
            <a:off x="914400" y="1749071"/>
            <a:ext cx="14427200" cy="3753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pPr/>
            <a:r>
              <a:t>All three hypotheses support the central story, within clear limits.</a:t>
            </a:r>
          </a:p>
        </p:txBody>
      </p:sp>
      <p:sp>
        <p:nvSpPr>
          <p:cNvPr id="338" name="HISTORICAL STOCK ANALYSIS  /  CONCLUSION"/>
          <p:cNvSpPr txBox="1"/>
          <p:nvPr/>
        </p:nvSpPr>
        <p:spPr>
          <a:xfrm>
            <a:off x="914400" y="8664222"/>
            <a:ext cx="8255000" cy="2229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pPr/>
            <a:r>
              <a:t>HISTORICAL STOCK ANALYSIS  /  CONCLUSION</a:t>
            </a:r>
          </a:p>
        </p:txBody>
      </p:sp>
      <p:sp>
        <p:nvSpPr>
          <p:cNvPr id="339" name="11"/>
          <p:cNvSpPr txBox="1"/>
          <p:nvPr/>
        </p:nvSpPr>
        <p:spPr>
          <a:xfrm>
            <a:off x="14986000" y="8664222"/>
            <a:ext cx="355600" cy="2229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pPr/>
            <a:r>
              <a:t>12</a:t>
            </a:r>
          </a:p>
        </p:txBody>
      </p:sp>
      <p:sp>
        <p:nvSpPr>
          <p:cNvPr id="340" name="01"/>
          <p:cNvSpPr txBox="1"/>
          <p:nvPr/>
        </p:nvSpPr>
        <p:spPr>
          <a:xfrm>
            <a:off x="914399" y="2587271"/>
            <a:ext cx="889002" cy="6039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a:solidFill>
                  <a:srgbClr val="1973B7"/>
                </a:solidFill>
                <a:latin typeface="Avenir Next Demi Bold"/>
                <a:ea typeface="Avenir Next Demi Bold"/>
                <a:cs typeface="Avenir Next Demi Bold"/>
                <a:sym typeface="Avenir Next Demi Bold"/>
              </a:defRPr>
            </a:lvl1pPr>
          </a:lstStyle>
          <a:p>
            <a:pPr/>
            <a:r>
              <a:t>01</a:t>
            </a:r>
          </a:p>
        </p:txBody>
      </p:sp>
      <p:sp>
        <p:nvSpPr>
          <p:cNvPr id="341" name="Technology leadership was concentrated"/>
          <p:cNvSpPr txBox="1"/>
          <p:nvPr/>
        </p:nvSpPr>
        <p:spPr>
          <a:xfrm>
            <a:off x="2006600" y="2561871"/>
            <a:ext cx="8255000" cy="5150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700">
                <a:solidFill>
                  <a:srgbClr val="182E48"/>
                </a:solidFill>
                <a:latin typeface="Avenir Next Demi Bold"/>
                <a:ea typeface="Avenir Next Demi Bold"/>
                <a:cs typeface="Avenir Next Demi Bold"/>
                <a:sym typeface="Avenir Next Demi Bold"/>
              </a:defRPr>
            </a:lvl1pPr>
          </a:lstStyle>
          <a:p>
            <a:pPr/>
            <a:r>
              <a:t>Technology leadership was concentrated</a:t>
            </a:r>
          </a:p>
        </p:txBody>
      </p:sp>
      <p:sp>
        <p:nvSpPr>
          <p:cNvPr id="342" name="The selected chip/AI group gained 549% versus 168% for broader tech."/>
          <p:cNvSpPr txBox="1"/>
          <p:nvPr/>
        </p:nvSpPr>
        <p:spPr>
          <a:xfrm>
            <a:off x="2006600" y="3152421"/>
            <a:ext cx="11049000" cy="3753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900">
                <a:solidFill>
                  <a:srgbClr val="58657C"/>
                </a:solidFill>
                <a:latin typeface="Avenir Next Medium"/>
                <a:ea typeface="Avenir Next Medium"/>
                <a:cs typeface="Avenir Next Medium"/>
                <a:sym typeface="Avenir Next Medium"/>
              </a:defRPr>
            </a:lvl1pPr>
          </a:lstStyle>
          <a:p>
            <a:pPr/>
            <a:r>
              <a:t>The selected chip/AI group gained 549% versus 168% for broader tech.</a:t>
            </a:r>
          </a:p>
        </p:txBody>
      </p:sp>
      <p:sp>
        <p:nvSpPr>
          <p:cNvPr id="343" name="02"/>
          <p:cNvSpPr txBox="1"/>
          <p:nvPr/>
        </p:nvSpPr>
        <p:spPr>
          <a:xfrm>
            <a:off x="914399" y="4174771"/>
            <a:ext cx="889002" cy="6039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a:solidFill>
                  <a:srgbClr val="D06F21"/>
                </a:solidFill>
                <a:latin typeface="Avenir Next Demi Bold"/>
                <a:ea typeface="Avenir Next Demi Bold"/>
                <a:cs typeface="Avenir Next Demi Bold"/>
                <a:sym typeface="Avenir Next Demi Bold"/>
              </a:defRPr>
            </a:lvl1pPr>
          </a:lstStyle>
          <a:p>
            <a:pPr/>
            <a:r>
              <a:t>02</a:t>
            </a:r>
          </a:p>
        </p:txBody>
      </p:sp>
      <p:sp>
        <p:nvSpPr>
          <p:cNvPr id="344" name="Regional protection weakened in sudden stress"/>
          <p:cNvSpPr txBox="1"/>
          <p:nvPr/>
        </p:nvSpPr>
        <p:spPr>
          <a:xfrm>
            <a:off x="2006599" y="4149371"/>
            <a:ext cx="9398001" cy="5150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700">
                <a:solidFill>
                  <a:srgbClr val="182E48"/>
                </a:solidFill>
                <a:latin typeface="Avenir Next Demi Bold"/>
                <a:ea typeface="Avenir Next Demi Bold"/>
                <a:cs typeface="Avenir Next Demi Bold"/>
                <a:sym typeface="Avenir Next Demi Bold"/>
              </a:defRPr>
            </a:lvl1pPr>
          </a:lstStyle>
          <a:p>
            <a:pPr/>
            <a:r>
              <a:t>Regional protection weakened in sudden stress</a:t>
            </a:r>
          </a:p>
        </p:txBody>
      </p:sp>
      <p:sp>
        <p:nvSpPr>
          <p:cNvPr id="345" name="Average correlation peaked at 0.539 in the 2020 crash."/>
          <p:cNvSpPr txBox="1"/>
          <p:nvPr/>
        </p:nvSpPr>
        <p:spPr>
          <a:xfrm>
            <a:off x="2006598" y="4739921"/>
            <a:ext cx="10414004" cy="3753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900">
                <a:solidFill>
                  <a:srgbClr val="58657C"/>
                </a:solidFill>
                <a:latin typeface="Avenir Next Medium"/>
                <a:ea typeface="Avenir Next Medium"/>
                <a:cs typeface="Avenir Next Medium"/>
                <a:sym typeface="Avenir Next Medium"/>
              </a:defRPr>
            </a:lvl1pPr>
          </a:lstStyle>
          <a:p>
            <a:pPr/>
            <a:r>
              <a:t>Average correlation peaked at 0.539 in the 2020 crash.</a:t>
            </a:r>
          </a:p>
        </p:txBody>
      </p:sp>
      <p:sp>
        <p:nvSpPr>
          <p:cNvPr id="346" name="03"/>
          <p:cNvSpPr txBox="1"/>
          <p:nvPr/>
        </p:nvSpPr>
        <p:spPr>
          <a:xfrm>
            <a:off x="914399" y="5762271"/>
            <a:ext cx="889002" cy="6039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a:solidFill>
                  <a:srgbClr val="0B856E"/>
                </a:solidFill>
                <a:latin typeface="Avenir Next Demi Bold"/>
                <a:ea typeface="Avenir Next Demi Bold"/>
                <a:cs typeface="Avenir Next Demi Bold"/>
                <a:sym typeface="Avenir Next Demi Bold"/>
              </a:defRPr>
            </a:lvl1pPr>
          </a:lstStyle>
          <a:p>
            <a:pPr/>
            <a:r>
              <a:t>03</a:t>
            </a:r>
          </a:p>
        </p:txBody>
      </p:sp>
      <p:sp>
        <p:nvSpPr>
          <p:cNvPr id="347" name="Volatility independently confirmed the panic signal"/>
          <p:cNvSpPr txBox="1"/>
          <p:nvPr/>
        </p:nvSpPr>
        <p:spPr>
          <a:xfrm>
            <a:off x="2006598" y="5736871"/>
            <a:ext cx="10414004" cy="5150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700">
                <a:solidFill>
                  <a:srgbClr val="182E48"/>
                </a:solidFill>
                <a:latin typeface="Avenir Next Demi Bold"/>
                <a:ea typeface="Avenir Next Demi Bold"/>
                <a:cs typeface="Avenir Next Demi Bold"/>
                <a:sym typeface="Avenir Next Demi Bold"/>
              </a:defRPr>
            </a:lvl1pPr>
          </a:lstStyle>
          <a:p>
            <a:pPr/>
            <a:r>
              <a:t>Volatility independently confirmed the panic signal</a:t>
            </a:r>
          </a:p>
        </p:txBody>
      </p:sp>
      <p:sp>
        <p:nvSpPr>
          <p:cNvPr id="348" name="October 2008 and March 2020 were the largest monthly spikes."/>
          <p:cNvSpPr txBox="1"/>
          <p:nvPr/>
        </p:nvSpPr>
        <p:spPr>
          <a:xfrm>
            <a:off x="2006600" y="6349850"/>
            <a:ext cx="10922000" cy="330498"/>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900">
                <a:solidFill>
                  <a:srgbClr val="58657C"/>
                </a:solidFill>
                <a:latin typeface="+mn-lt"/>
                <a:ea typeface="+mn-ea"/>
                <a:cs typeface="+mn-cs"/>
                <a:sym typeface="Helvetica Neue"/>
              </a:defRPr>
            </a:lvl1pPr>
          </a:lstStyle>
          <a:p>
            <a:pPr/>
            <a:r>
              <a:t>October 2008 and March 2020 were the largest monthly spikes.</a:t>
            </a:r>
          </a:p>
        </p:txBody>
      </p:sp>
      <p:sp>
        <p:nvSpPr>
          <p:cNvPr id="349" name="What we can claim: patterns in this dataset.  What we cannot claim: causality, forecasting, or a universal market law."/>
          <p:cNvSpPr txBox="1"/>
          <p:nvPr/>
        </p:nvSpPr>
        <p:spPr>
          <a:xfrm>
            <a:off x="914400" y="7641872"/>
            <a:ext cx="14427200" cy="4134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100">
                <a:solidFill>
                  <a:srgbClr val="1973B7"/>
                </a:solidFill>
                <a:latin typeface="Avenir Next Demi Bold"/>
                <a:ea typeface="Avenir Next Demi Bold"/>
                <a:cs typeface="Avenir Next Demi Bold"/>
                <a:sym typeface="Avenir Next Demi Bold"/>
              </a:defRPr>
            </a:lvl1pPr>
          </a:lstStyle>
          <a:p>
            <a:pPr/>
            <a:r>
              <a:t>What we can claim: patterns in this dataset.  What we cannot claim: causality, forecasting, or a universal market law.</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3" name="●  WHAT'S NEXT"/>
          <p:cNvSpPr txBox="1"/>
          <p:nvPr/>
        </p:nvSpPr>
        <p:spPr>
          <a:xfrm>
            <a:off x="914400" y="447322"/>
            <a:ext cx="6350000" cy="2737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pPr/>
            <a:r>
              <a:t>●  WHAT'S NEXT</a:t>
            </a:r>
          </a:p>
        </p:txBody>
      </p:sp>
      <p:sp>
        <p:nvSpPr>
          <p:cNvPr id="354" name="12"/>
          <p:cNvSpPr txBox="1"/>
          <p:nvPr/>
        </p:nvSpPr>
        <p:spPr>
          <a:xfrm>
            <a:off x="14351000" y="339371"/>
            <a:ext cx="990600" cy="5658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pPr/>
            <a:r>
              <a:t>13</a:t>
            </a:r>
          </a:p>
        </p:txBody>
      </p:sp>
      <p:sp>
        <p:nvSpPr>
          <p:cNvPr id="355" name="Make the evidence explorable"/>
          <p:cNvSpPr txBox="1"/>
          <p:nvPr/>
        </p:nvSpPr>
        <p:spPr>
          <a:xfrm>
            <a:off x="914400" y="948972"/>
            <a:ext cx="14427200" cy="6674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600">
                <a:solidFill>
                  <a:srgbClr val="182E48"/>
                </a:solidFill>
                <a:latin typeface="Avenir Next Demi Bold"/>
                <a:ea typeface="Avenir Next Demi Bold"/>
                <a:cs typeface="Avenir Next Demi Bold"/>
                <a:sym typeface="Avenir Next Demi Bold"/>
              </a:defRPr>
            </a:lvl1pPr>
          </a:lstStyle>
          <a:p>
            <a:pPr/>
            <a:r>
              <a:t>Make the evidence explorable</a:t>
            </a:r>
          </a:p>
        </p:txBody>
      </p:sp>
      <p:sp>
        <p:nvSpPr>
          <p:cNvPr id="356" name="The dashboard keeps every assumption visible as a filter."/>
          <p:cNvSpPr txBox="1"/>
          <p:nvPr/>
        </p:nvSpPr>
        <p:spPr>
          <a:xfrm>
            <a:off x="914400" y="1749071"/>
            <a:ext cx="14427200" cy="3753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pPr/>
            <a:r>
              <a:t>The dashboard keeps every assumption visible as a filter.</a:t>
            </a:r>
          </a:p>
        </p:txBody>
      </p:sp>
      <p:sp>
        <p:nvSpPr>
          <p:cNvPr id="357" name="HISTORICAL STOCK ANALYSIS  /  WHAT'S NEXT"/>
          <p:cNvSpPr txBox="1"/>
          <p:nvPr/>
        </p:nvSpPr>
        <p:spPr>
          <a:xfrm>
            <a:off x="914400" y="8664222"/>
            <a:ext cx="8255000" cy="2229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pPr/>
            <a:r>
              <a:t>HISTORICAL STOCK ANALYSIS  /  WHAT'S NEXT</a:t>
            </a:r>
          </a:p>
        </p:txBody>
      </p:sp>
      <p:sp>
        <p:nvSpPr>
          <p:cNvPr id="358" name="12"/>
          <p:cNvSpPr txBox="1"/>
          <p:nvPr/>
        </p:nvSpPr>
        <p:spPr>
          <a:xfrm>
            <a:off x="14986000" y="8664222"/>
            <a:ext cx="355600" cy="2229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pPr/>
            <a:r>
              <a:t>13</a:t>
            </a:r>
          </a:p>
        </p:txBody>
      </p:sp>
      <p:sp>
        <p:nvSpPr>
          <p:cNvPr id="359" name="POWER BI / TABLEAU"/>
          <p:cNvSpPr txBox="1"/>
          <p:nvPr/>
        </p:nvSpPr>
        <p:spPr>
          <a:xfrm>
            <a:off x="914400" y="2695221"/>
            <a:ext cx="4572000" cy="3245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600">
                <a:solidFill>
                  <a:srgbClr val="1973B7"/>
                </a:solidFill>
                <a:latin typeface="Avenir Next Demi Bold"/>
                <a:ea typeface="Avenir Next Demi Bold"/>
                <a:cs typeface="Avenir Next Demi Bold"/>
                <a:sym typeface="Avenir Next Demi Bold"/>
              </a:defRPr>
            </a:lvl1pPr>
          </a:lstStyle>
          <a:p>
            <a:pPr/>
            <a:r>
              <a:t>POWER BI / TABLEAU</a:t>
            </a:r>
          </a:p>
        </p:txBody>
      </p:sp>
      <p:sp>
        <p:nvSpPr>
          <p:cNvPr id="360" name="One overview"/>
          <p:cNvSpPr txBox="1"/>
          <p:nvPr/>
        </p:nvSpPr>
        <p:spPr>
          <a:xfrm>
            <a:off x="914399" y="3190521"/>
            <a:ext cx="5207002" cy="5531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900">
                <a:solidFill>
                  <a:srgbClr val="182E48"/>
                </a:solidFill>
                <a:latin typeface="Avenir Next Demi Bold"/>
                <a:ea typeface="Avenir Next Demi Bold"/>
                <a:cs typeface="Avenir Next Demi Bold"/>
                <a:sym typeface="Avenir Next Demi Bold"/>
              </a:defRPr>
            </a:lvl1pPr>
          </a:lstStyle>
          <a:p>
            <a:pPr/>
            <a:r>
              <a:t>One overview</a:t>
            </a:r>
          </a:p>
        </p:txBody>
      </p:sp>
      <p:sp>
        <p:nvSpPr>
          <p:cNvPr id="361" name="Filter by ticker group, region, and crisis period; compare indexed performance, correlations, and monthly volatility."/>
          <p:cNvSpPr txBox="1"/>
          <p:nvPr/>
        </p:nvSpPr>
        <p:spPr>
          <a:xfrm>
            <a:off x="914400" y="4047771"/>
            <a:ext cx="5778500" cy="10738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000">
                <a:solidFill>
                  <a:srgbClr val="58657C"/>
                </a:solidFill>
                <a:latin typeface="Avenir Next Regular"/>
                <a:ea typeface="Avenir Next Regular"/>
                <a:cs typeface="Avenir Next Regular"/>
                <a:sym typeface="Avenir Next Regular"/>
              </a:defRPr>
            </a:lvl1pPr>
          </a:lstStyle>
          <a:p>
            <a:pPr/>
            <a:r>
              <a:t>Filter by ticker group, region, and crisis period; compare indexed performance, correlations, and monthly volatility.</a:t>
            </a:r>
          </a:p>
        </p:txBody>
      </p:sp>
      <p:sp>
        <p:nvSpPr>
          <p:cNvPr id="362" name="R WRANGLING"/>
          <p:cNvSpPr txBox="1"/>
          <p:nvPr/>
        </p:nvSpPr>
        <p:spPr>
          <a:xfrm>
            <a:off x="8254999" y="2695221"/>
            <a:ext cx="3810002" cy="3245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600">
                <a:solidFill>
                  <a:srgbClr val="D06F21"/>
                </a:solidFill>
                <a:latin typeface="Avenir Next Demi Bold"/>
                <a:ea typeface="Avenir Next Demi Bold"/>
                <a:cs typeface="Avenir Next Demi Bold"/>
                <a:sym typeface="Avenir Next Demi Bold"/>
              </a:defRPr>
            </a:lvl1pPr>
          </a:lstStyle>
          <a:p>
            <a:pPr/>
            <a:r>
              <a:t>R WRANGLING</a:t>
            </a:r>
          </a:p>
        </p:txBody>
      </p:sp>
      <p:sp>
        <p:nvSpPr>
          <p:cNvPr id="363" name="Long-form by design"/>
          <p:cNvSpPr txBox="1"/>
          <p:nvPr/>
        </p:nvSpPr>
        <p:spPr>
          <a:xfrm>
            <a:off x="8255000" y="3190521"/>
            <a:ext cx="5715000" cy="5531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900">
                <a:solidFill>
                  <a:srgbClr val="182E48"/>
                </a:solidFill>
                <a:latin typeface="Avenir Next Demi Bold"/>
                <a:ea typeface="Avenir Next Demi Bold"/>
                <a:cs typeface="Avenir Next Demi Bold"/>
                <a:sym typeface="Avenir Next Demi Bold"/>
              </a:defRPr>
            </a:lvl1pPr>
          </a:lstStyle>
          <a:p>
            <a:pPr/>
            <a:r>
              <a:t>Long-form by design</a:t>
            </a:r>
          </a:p>
        </p:txBody>
      </p:sp>
      <p:sp>
        <p:nvSpPr>
          <p:cNvPr id="364" name="Use parsed dates, month bins, and one Ticker field so color, grouping, and filters remain consistent."/>
          <p:cNvSpPr txBox="1"/>
          <p:nvPr/>
        </p:nvSpPr>
        <p:spPr>
          <a:xfrm>
            <a:off x="8255000" y="4219221"/>
            <a:ext cx="5969000" cy="7309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000">
                <a:solidFill>
                  <a:srgbClr val="58657C"/>
                </a:solidFill>
                <a:latin typeface="Avenir Next Regular"/>
                <a:ea typeface="Avenir Next Regular"/>
                <a:cs typeface="Avenir Next Regular"/>
                <a:sym typeface="Avenir Next Regular"/>
              </a:defRPr>
            </a:lvl1pPr>
          </a:lstStyle>
          <a:p>
            <a:pPr/>
            <a:r>
              <a:t>Use parsed dates, month bins, and one Ticker field so color, grouping, and filters remain consistent.</a:t>
            </a:r>
          </a:p>
        </p:txBody>
      </p:sp>
      <p:sp>
        <p:nvSpPr>
          <p:cNvPr id="365" name="OPEN RISKS"/>
          <p:cNvSpPr txBox="1"/>
          <p:nvPr/>
        </p:nvSpPr>
        <p:spPr>
          <a:xfrm>
            <a:off x="914400" y="6073421"/>
            <a:ext cx="2286000" cy="3245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600">
                <a:solidFill>
                  <a:srgbClr val="0B856E"/>
                </a:solidFill>
                <a:latin typeface="Avenir Next Demi Bold"/>
                <a:ea typeface="Avenir Next Demi Bold"/>
                <a:cs typeface="Avenir Next Demi Bold"/>
                <a:sym typeface="Avenir Next Demi Bold"/>
              </a:defRPr>
            </a:lvl1pPr>
          </a:lstStyle>
          <a:p>
            <a:pPr/>
            <a:r>
              <a:t>OPEN RISKS</a:t>
            </a:r>
          </a:p>
        </p:txBody>
      </p:sp>
      <p:sp>
        <p:nvSpPr>
          <p:cNvPr id="366" name="unequal regional coverage  ·  share-count volume  ·  removed original Kaggle page  ·  no causal interpretation"/>
          <p:cNvSpPr txBox="1"/>
          <p:nvPr/>
        </p:nvSpPr>
        <p:spPr>
          <a:xfrm>
            <a:off x="914400" y="6657622"/>
            <a:ext cx="13716002" cy="8071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200">
                <a:solidFill>
                  <a:srgbClr val="182E48"/>
                </a:solidFill>
                <a:latin typeface="Avenir Next Medium"/>
                <a:ea typeface="Avenir Next Medium"/>
                <a:cs typeface="Avenir Next Medium"/>
                <a:sym typeface="Avenir Next Medium"/>
              </a:defRPr>
            </a:lvl1pPr>
          </a:lstStyle>
          <a:p>
            <a:pPr/>
            <a:r>
              <a:t>unequal regional coverage  ·  share-count volume  ·  removed original Kaggle page  ·  no causal interpretation</a:t>
            </a:r>
          </a:p>
        </p:txBody>
      </p:sp>
      <p:sp>
        <p:nvSpPr>
          <p:cNvPr id="367" name="Success means the user can reproduce each headline and see where the evidence becomes uncertain."/>
          <p:cNvSpPr txBox="1"/>
          <p:nvPr/>
        </p:nvSpPr>
        <p:spPr>
          <a:xfrm>
            <a:off x="914400" y="7876822"/>
            <a:ext cx="14224000" cy="375355"/>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900">
                <a:solidFill>
                  <a:srgbClr val="1973B7"/>
                </a:solidFill>
                <a:latin typeface="Avenir Next Demi Bold"/>
                <a:ea typeface="Avenir Next Demi Bold"/>
                <a:cs typeface="Avenir Next Demi Bold"/>
                <a:sym typeface="Avenir Next Demi Bold"/>
              </a:defRPr>
            </a:lvl1pPr>
          </a:lstStyle>
          <a:p>
            <a:pPr/>
            <a:r>
              <a:t>Success means the user can reproduce each headline and see where the evidence becomes uncertain.</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White">
  <a:themeElements>
    <a:clrScheme name="White">
      <a:dk1>
        <a:srgbClr val="000000"/>
      </a:dk1>
      <a:lt1>
        <a:srgbClr val="FFFFFF"/>
      </a:lt1>
      <a:dk2>
        <a:srgbClr val="A7A7A7"/>
      </a:dk2>
      <a:lt2>
        <a:srgbClr val="535353"/>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a:ea typeface="Helvetica"/>
        <a:cs typeface="Helvetica"/>
      </a:majorFont>
      <a:minorFont>
        <a:latin typeface="Helvetica Neue"/>
        <a:ea typeface="Helvetica Neue"/>
        <a:cs typeface="Helvetica Neue"/>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ctr" upright="0">
        <a:spAutoFit/>
      </a:bodyPr>
      <a:lstStyle>
        <a:defPPr marL="0" marR="0" indent="0" algn="l" defTabSz="550332" rtl="0" fontAlgn="auto" latinLnBrk="0" hangingPunct="0">
          <a:lnSpc>
            <a:spcPct val="100000"/>
          </a:lnSpc>
          <a:spcBef>
            <a:spcPts val="3900"/>
          </a:spcBef>
          <a:spcAft>
            <a:spcPts val="0"/>
          </a:spcAft>
          <a:buClrTx/>
          <a:buSzTx/>
          <a:buFontTx/>
          <a:buNone/>
          <a:tabLst/>
          <a:defRPr b="0" baseline="0" cap="none" i="0" spc="0" strike="noStrike" sz="3200" u="none" kumimoji="0" normalizeH="0">
            <a:ln>
              <a:noFill/>
            </a:ln>
            <a:solidFill>
              <a:srgbClr val="000000"/>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22576" tIns="22576" rIns="22576" bIns="22576" numCol="1" spcCol="38100" rtlCol="0" anchor="ctr" upright="0">
        <a:spAutoFit/>
      </a:bodyPr>
      <a:lstStyle>
        <a:defPPr marL="0" marR="0" indent="0" algn="l" defTabSz="550332" rtl="0" fontAlgn="auto" latinLnBrk="0" hangingPunct="0">
          <a:lnSpc>
            <a:spcPct val="100000"/>
          </a:lnSpc>
          <a:spcBef>
            <a:spcPts val="3900"/>
          </a:spcBef>
          <a:spcAft>
            <a:spcPts val="0"/>
          </a:spcAft>
          <a:buClrTx/>
          <a:buSzTx/>
          <a:buFontTx/>
          <a:buNone/>
          <a:tabLst/>
          <a:defRPr b="0" baseline="0" cap="none" i="0" spc="0" strike="noStrike" sz="3200" u="none" kumimoji="0" normalizeH="0">
            <a:ln>
              <a:noFill/>
            </a:ln>
            <a:solidFill>
              <a:srgbClr val="000000"/>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White">
  <a:themeElements>
    <a:clrScheme name="White">
      <a:dk1>
        <a:srgbClr val="000000"/>
      </a:dk1>
      <a:lt1>
        <a:srgbClr val="FFFFFF"/>
      </a:lt1>
      <a:dk2>
        <a:srgbClr val="A7A7A7"/>
      </a:dk2>
      <a:lt2>
        <a:srgbClr val="535353"/>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a:ea typeface="Helvetica"/>
        <a:cs typeface="Helvetica"/>
      </a:majorFont>
      <a:minorFont>
        <a:latin typeface="Helvetica Neue"/>
        <a:ea typeface="Helvetica Neue"/>
        <a:cs typeface="Helvetica Neue"/>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ctr" upright="0">
        <a:spAutoFit/>
      </a:bodyPr>
      <a:lstStyle>
        <a:defPPr marL="0" marR="0" indent="0" algn="l" defTabSz="550332" rtl="0" fontAlgn="auto" latinLnBrk="0" hangingPunct="0">
          <a:lnSpc>
            <a:spcPct val="100000"/>
          </a:lnSpc>
          <a:spcBef>
            <a:spcPts val="3900"/>
          </a:spcBef>
          <a:spcAft>
            <a:spcPts val="0"/>
          </a:spcAft>
          <a:buClrTx/>
          <a:buSzTx/>
          <a:buFontTx/>
          <a:buNone/>
          <a:tabLst/>
          <a:defRPr b="0" baseline="0" cap="none" i="0" spc="0" strike="noStrike" sz="3200" u="none" kumimoji="0" normalizeH="0">
            <a:ln>
              <a:noFill/>
            </a:ln>
            <a:solidFill>
              <a:srgbClr val="000000"/>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22576" tIns="22576" rIns="22576" bIns="22576" numCol="1" spcCol="38100" rtlCol="0" anchor="ctr" upright="0">
        <a:spAutoFit/>
      </a:bodyPr>
      <a:lstStyle>
        <a:defPPr marL="0" marR="0" indent="0" algn="l" defTabSz="550332" rtl="0" fontAlgn="auto" latinLnBrk="0" hangingPunct="0">
          <a:lnSpc>
            <a:spcPct val="100000"/>
          </a:lnSpc>
          <a:spcBef>
            <a:spcPts val="3900"/>
          </a:spcBef>
          <a:spcAft>
            <a:spcPts val="0"/>
          </a:spcAft>
          <a:buClrTx/>
          <a:buSzTx/>
          <a:buFontTx/>
          <a:buNone/>
          <a:tabLst/>
          <a:defRPr b="0" baseline="0" cap="none" i="0" spc="0" strike="noStrike" sz="3200" u="none" kumimoji="0" normalizeH="0">
            <a:ln>
              <a:noFill/>
            </a:ln>
            <a:solidFill>
              <a:srgbClr val="000000"/>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