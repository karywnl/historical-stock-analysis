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9" r:id="rId5"/>
    <p:sldId id="260" r:id="rId6"/>
    <p:sldId id="261" r:id="rId7"/>
    <p:sldId id="262" r:id="rId8"/>
    <p:sldId id="263" r:id="rId9"/>
    <p:sldId id="264" r:id="rId10"/>
    <p:sldId id="265" r:id="rId1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08-26T13:11:10.555"/>
    <p1510:client id="{82749425-D721-A27C-FF4A-A6060BC351AA}" v="56" dt="2026-08-26T16:07:47.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Speaker: Mirthula M | Target: 0:20</a:t>
            </a:r>
          </a:p>
          <a:p>
            <a:r>
              <a:t>Open with the umbrella question. Explain that the project is not forecasting prices; it tests whether apparent diversification remains meaningful across technology groups and crisis periods.</a:t>
            </a:r>
          </a:p>
          <a:p>
            <a:endParaRPr/>
          </a:p>
          <a:p>
            <a:r>
              <a:t>[Sources]</a:t>
            </a:r>
          </a:p>
          <a:p>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xfrm>
            <a:off x="381000" y="685800"/>
            <a:ext cx="6096000" cy="3429000"/>
          </a:xfrm>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Speaker: Mirthula M | Target: 0:50</a:t>
            </a:r>
          </a:p>
          <a:p>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endParaRPr/>
          </a:p>
          <a:p>
            <a:r>
              <a:t>[Sources]</a:t>
            </a:r>
          </a:p>
          <a:p>
            <a:r>
              <a:t>Local dataset: data/stock_data.csv. Shape, date range, missing-value count, and example rows verified directly from the CSV on 2026-08-25.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a:p>
        </p:txBody>
      </p:sp>
      <p:sp>
        <p:nvSpPr>
          <p:cNvPr id="211" name="Shape 211"/>
          <p:cNvSpPr>
            <a:spLocks noGrp="1"/>
          </p:cNvSpPr>
          <p:nvPr>
            <p:ph type="body" sz="quarter" idx="1"/>
          </p:nvPr>
        </p:nvSpPr>
        <p:spPr>
          <a:prstGeom prst="rect">
            <a:avLst/>
          </a:prstGeom>
        </p:spPr>
        <p:txBody>
          <a:bodyPr/>
          <a:lstStyle/>
          <a:p>
            <a:r>
              <a:t>Speaker: Mirthula M | Target: 0:55</a:t>
            </a:r>
          </a:p>
          <a:p>
            <a:r>
              <a:t>Explain the periods in plain language. The 2008 crisis followed a housing boom: falling home prices created mortgage losses, damaged banks, and disrupted credit markets worldwide. The 2020 crash was the sudden market selloff around the first COVID-19 lockdowns. The 2022 drawdown was slower and occurred amid high inflation and rapid interest-rate increases. We compare all three with calm 2015–2017. Correlation means how closely markets move together; volatility means the size of price movements; volume means the number of shares traded. H1 separately compares the selected technology baskets using indexed adjusted prices and mean daily returns. Then hand over to Karthikeyan.</a:t>
            </a:r>
          </a:p>
          <a:p>
            <a:r>
              <a:t>[Sources]</a:t>
            </a:r>
          </a:p>
          <a:p>
            <a:r>
              <a:t>Group and period definitions: assignment_3/analysis.ipynb and extra_credit_1/analysis.ipynb. 2008 crisis context: Federal Reserve History, https://www.federalreservehistory.org/essays/great-recession-and-its-aftermath.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prstGeom prst="rect">
            <a:avLst/>
          </a:prstGeom>
        </p:spPr>
        <p:txBody>
          <a:bodyPr/>
          <a:lstStyle/>
          <a:p>
            <a:endParaRPr/>
          </a:p>
        </p:txBody>
      </p:sp>
      <p:sp>
        <p:nvSpPr>
          <p:cNvPr id="229" name="Shape 229"/>
          <p:cNvSpPr>
            <a:spLocks noGrp="1"/>
          </p:cNvSpPr>
          <p:nvPr>
            <p:ph type="body" sz="quarter" idx="1"/>
          </p:nvPr>
        </p:nvSpPr>
        <p:spPr>
          <a:prstGeom prst="rect">
            <a:avLst/>
          </a:prstGeom>
        </p:spPr>
        <p:txBody>
          <a:bodyPr/>
          <a:lstStyle/>
          <a:p>
            <a:r>
              <a:t>Speaker: Karthikeyan M | Target: 1:00</a:t>
            </a:r>
          </a:p>
          <a:p>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endParaRPr/>
          </a:p>
          <a:p>
            <a:r>
              <a:t>[Sources]</a:t>
            </a:r>
          </a:p>
          <a:p>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Speaker: Karthikeyan M | Target: 1:00</a:t>
            </a:r>
          </a:p>
          <a:p>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endParaRPr/>
          </a:p>
          <a:p>
            <a:r>
              <a:t>[Sources]</a:t>
            </a:r>
          </a:p>
          <a:p>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r>
              <a:t>Speaker: Karthikeyan M | Target: 1:00</a:t>
            </a:r>
          </a:p>
          <a:p>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endParaRPr/>
          </a:p>
          <a:p>
            <a:r>
              <a:t>[Sources]</a:t>
            </a:r>
          </a:p>
          <a:p>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prstGeom prst="rect">
            <a:avLst/>
          </a:prstGeom>
        </p:spPr>
        <p:txBody>
          <a:bodyPr/>
          <a:lstStyle/>
          <a:p>
            <a:endParaRPr/>
          </a:p>
        </p:txBody>
      </p:sp>
      <p:sp>
        <p:nvSpPr>
          <p:cNvPr id="278" name="Shape 278"/>
          <p:cNvSpPr>
            <a:spLocks noGrp="1"/>
          </p:cNvSpPr>
          <p:nvPr>
            <p:ph type="body" sz="quarter" idx="1"/>
          </p:nvPr>
        </p:nvSpPr>
        <p:spPr>
          <a:prstGeom prst="rect">
            <a:avLst/>
          </a:prstGeom>
        </p:spPr>
        <p:txBody>
          <a:bodyPr/>
          <a:lstStyle/>
          <a:p>
            <a:r>
              <a:t>Speaker: Lakshmi Mayuri Kavya N | Target: 1:00</a:t>
            </a:r>
          </a:p>
          <a:p>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endParaRPr/>
          </a:p>
          <a:p>
            <a:r>
              <a:t>[Sources]</a:t>
            </a:r>
          </a:p>
          <a:p>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Speaker: Lakshmi Mayuri Kavya N | Target: 0:55</a:t>
            </a:r>
          </a:p>
          <a:p>
            <a:r>
              <a:t>Resolve the opening question directly. The dataset shows diversification, but technology gains and crisis co-movement make it thinner than the surface suggests. Finish with the boundary: this is descriptive evidence, not causal proof or a forecast.</a:t>
            </a:r>
          </a:p>
          <a:p>
            <a:endParaRPr/>
          </a:p>
          <a:p>
            <a:r>
              <a:t>[Sources]</a:t>
            </a:r>
          </a:p>
          <a:p>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Speaker: Lakshmi Mayuri Kavya N | Target: 0:50</a:t>
            </a:r>
          </a:p>
          <a:p>
            <a:r>
              <a:t>Describe the dashboard as the next analytical interface, not just a prettier report. The filters should let users change the group and period while retaining the same return, correlation, and volatility definitions.</a:t>
            </a:r>
          </a:p>
          <a:p>
            <a:endParaRPr/>
          </a:p>
          <a:p>
            <a:r>
              <a:t>[Sources]</a:t>
            </a:r>
          </a:p>
          <a:p>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499553" y="2545644"/>
            <a:ext cx="9256894" cy="2065871"/>
          </a:xfrm>
          <a:prstGeom prst="rect">
            <a:avLst/>
          </a:prstGeom>
        </p:spPr>
        <p:txBody>
          <a:bodyPr anchor="b"/>
          <a:lstStyle/>
          <a:p>
            <a:r>
              <a:t>Title Text</a:t>
            </a:r>
          </a:p>
        </p:txBody>
      </p:sp>
      <p:sp>
        <p:nvSpPr>
          <p:cNvPr id="12" name="Body Level One…"/>
          <p:cNvSpPr txBox="1">
            <a:spLocks noGrp="1"/>
          </p:cNvSpPr>
          <p:nvPr>
            <p:ph type="body" sz="quarter" idx="1"/>
          </p:nvPr>
        </p:nvSpPr>
        <p:spPr>
          <a:xfrm>
            <a:off x="3499553" y="4667953"/>
            <a:ext cx="9256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sz="half" idx="21"/>
          </p:nvPr>
        </p:nvSpPr>
        <p:spPr>
          <a:xfrm>
            <a:off x="4098652" y="1349022"/>
            <a:ext cx="8060268" cy="5373512"/>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2991554" y="5751688"/>
            <a:ext cx="10272894" cy="891827"/>
          </a:xfrm>
          <a:prstGeom prst="rect">
            <a:avLst/>
          </a:prstGeom>
        </p:spPr>
        <p:txBody>
          <a:bodyPr anchor="b"/>
          <a:lstStyle/>
          <a:p>
            <a:r>
              <a:t>Title Text</a:t>
            </a:r>
          </a:p>
        </p:txBody>
      </p:sp>
      <p:sp>
        <p:nvSpPr>
          <p:cNvPr id="22" name="Body Level One…"/>
          <p:cNvSpPr txBox="1">
            <a:spLocks noGrp="1"/>
          </p:cNvSpPr>
          <p:nvPr>
            <p:ph type="body" sz="quarter" idx="1"/>
          </p:nvPr>
        </p:nvSpPr>
        <p:spPr>
          <a:xfrm>
            <a:off x="2991554" y="6609643"/>
            <a:ext cx="10272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3499553" y="3539066"/>
            <a:ext cx="9256894" cy="2065871"/>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quarter" idx="21"/>
          </p:nvPr>
        </p:nvSpPr>
        <p:spPr>
          <a:xfrm>
            <a:off x="8410222" y="1947333"/>
            <a:ext cx="5096937" cy="5096934"/>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3443108" y="1947333"/>
            <a:ext cx="4543782" cy="2466626"/>
          </a:xfrm>
          <a:prstGeom prst="rect">
            <a:avLst/>
          </a:prstGeom>
        </p:spPr>
        <p:txBody>
          <a:bodyPr anchor="b"/>
          <a:lstStyle>
            <a:lvl1pPr>
              <a:defRPr sz="5600"/>
            </a:lvl1pPr>
          </a:lstStyle>
          <a:p>
            <a:r>
              <a:t>Title Text</a:t>
            </a:r>
          </a:p>
        </p:txBody>
      </p:sp>
      <p:sp>
        <p:nvSpPr>
          <p:cNvPr id="40" name="Body Level One…"/>
          <p:cNvSpPr txBox="1">
            <a:spLocks noGrp="1"/>
          </p:cNvSpPr>
          <p:nvPr>
            <p:ph type="body" sz="quarter" idx="1"/>
          </p:nvPr>
        </p:nvSpPr>
        <p:spPr>
          <a:xfrm>
            <a:off x="3443108" y="4425243"/>
            <a:ext cx="4543782" cy="254564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quarter" idx="21"/>
          </p:nvPr>
        </p:nvSpPr>
        <p:spPr>
          <a:xfrm>
            <a:off x="7580486" y="2923819"/>
            <a:ext cx="6197606" cy="4131738"/>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9509476" y="4656666"/>
            <a:ext cx="3699938" cy="2466627"/>
          </a:xfrm>
          <a:prstGeom prst="rect">
            <a:avLst/>
          </a:prstGeom>
        </p:spPr>
        <p:txBody>
          <a:bodyPr lIns="91439" tIns="45719" rIns="91439" bIns="45719">
            <a:noAutofit/>
          </a:bodyPr>
          <a:lstStyle/>
          <a:p>
            <a:endParaRPr/>
          </a:p>
        </p:txBody>
      </p:sp>
      <p:sp>
        <p:nvSpPr>
          <p:cNvPr id="102" name="Heron flying low over a beach with a short fence in the foreground"/>
          <p:cNvSpPr>
            <a:spLocks noGrp="1"/>
          </p:cNvSpPr>
          <p:nvPr>
            <p:ph type="pic" sz="quarter" idx="22"/>
          </p:nvPr>
        </p:nvSpPr>
        <p:spPr>
          <a:xfrm>
            <a:off x="9714086" y="1907819"/>
            <a:ext cx="3290716" cy="3290717"/>
          </a:xfrm>
          <a:prstGeom prst="rect">
            <a:avLst/>
          </a:prstGeom>
        </p:spPr>
        <p:txBody>
          <a:bodyPr lIns="91439" tIns="45719" rIns="91439" bIns="45719">
            <a:noAutofit/>
          </a:bodyPr>
          <a:lstStyle/>
          <a:p>
            <a:endParaRPr/>
          </a:p>
        </p:txBody>
      </p:sp>
      <p:sp>
        <p:nvSpPr>
          <p:cNvPr id="103" name="View of beach and sea from a grassy sand dune"/>
          <p:cNvSpPr>
            <a:spLocks noGrp="1"/>
          </p:cNvSpPr>
          <p:nvPr>
            <p:ph type="pic" sz="half" idx="23"/>
          </p:nvPr>
        </p:nvSpPr>
        <p:spPr>
          <a:xfrm>
            <a:off x="2269064" y="2026354"/>
            <a:ext cx="7645404" cy="5096937"/>
          </a:xfrm>
          <a:prstGeom prst="rect">
            <a:avLst/>
          </a:prstGeom>
        </p:spPr>
        <p:txBody>
          <a:bodyPr lIns="91439" tIns="45719" rIns="91439" bIns="45719">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Body Level One…"/>
          <p:cNvSpPr txBox="1">
            <a:spLocks noGrp="1"/>
          </p:cNvSpPr>
          <p:nvPr>
            <p:ph type="body" sz="quarter" idx="1"/>
          </p:nvPr>
        </p:nvSpPr>
        <p:spPr>
          <a:xfrm>
            <a:off x="3770488" y="5503333"/>
            <a:ext cx="8720668" cy="342847"/>
          </a:xfrm>
          <a:prstGeom prst="rect">
            <a:avLst/>
          </a:prstGeom>
        </p:spPr>
        <p:txBody>
          <a:bodyPr/>
          <a:lstStyle>
            <a:lvl1pPr>
              <a:defRPr sz="2000" i="1"/>
            </a:lvl1pPr>
            <a:lvl2pPr>
              <a:defRPr sz="2000" i="1"/>
            </a:lvl2pPr>
            <a:lvl3pPr>
              <a:defRPr sz="2000" i="1"/>
            </a:lvl3pPr>
            <a:lvl4pPr>
              <a:defRPr sz="2000" i="1"/>
            </a:lvl4pPr>
            <a:lvl5pPr>
              <a:defRPr sz="2000" i="1"/>
            </a:lvl5pPr>
          </a:lstStyle>
          <a:p>
            <a:r>
              <a:t>Body Level One</a:t>
            </a:r>
          </a:p>
          <a:p>
            <a:pPr lvl="1"/>
            <a:r>
              <a:t>Body Level Two</a:t>
            </a:r>
          </a:p>
          <a:p>
            <a:pPr lvl="2"/>
            <a:r>
              <a:t>Body Level Three</a:t>
            </a:r>
          </a:p>
          <a:p>
            <a:pPr lvl="3"/>
            <a:r>
              <a:t>Body Level Four</a:t>
            </a:r>
          </a:p>
          <a:p>
            <a:pPr lvl="4"/>
            <a:r>
              <a:t>Body Level Five</a:t>
            </a:r>
          </a:p>
        </p:txBody>
      </p:sp>
      <p:sp>
        <p:nvSpPr>
          <p:cNvPr id="112" name="“Type a quote here.”"/>
          <p:cNvSpPr txBox="1">
            <a:spLocks noGrp="1"/>
          </p:cNvSpPr>
          <p:nvPr>
            <p:ph type="body" sz="quarter" idx="21"/>
          </p:nvPr>
        </p:nvSpPr>
        <p:spPr>
          <a:xfrm>
            <a:off x="3770488" y="4143976"/>
            <a:ext cx="8720668" cy="528671"/>
          </a:xfrm>
          <a:prstGeom prst="rect">
            <a:avLst/>
          </a:prstGeom>
        </p:spPr>
        <p:txBody>
          <a:bodyPr anchor="ctr"/>
          <a:lstStyle/>
          <a:p>
            <a:endParaRP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2686754" y="959554"/>
            <a:ext cx="10882494" cy="7254996"/>
          </a:xfrm>
          <a:prstGeom prst="rect">
            <a:avLst/>
          </a:prstGeom>
        </p:spPr>
        <p:txBody>
          <a:bodyPr lIns="91439" tIns="45719" rIns="91439" bIns="45719">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normAutofit/>
          </a:bodyPr>
          <a:lstStyle/>
          <a:p>
            <a:r>
              <a:t>Title Text</a:t>
            </a:r>
          </a:p>
        </p:txBody>
      </p:sp>
      <p:sp>
        <p:nvSpPr>
          <p:cNvPr id="3" name="Body Level One…"/>
          <p:cNvSpPr txBox="1">
            <a:spLocks noGrp="1"/>
          </p:cNvSpPr>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2006-01-02 → 2026-02-20</a:t>
            </a:r>
          </a:p>
        </p:txBody>
      </p:sp>
      <p:graphicFrame>
        <p:nvGraphicFramePr>
          <p:cNvPr id="165" name="Table 1"/>
          <p:cNvGraphicFramePr/>
          <p:nvPr>
            <p:extLst>
              <p:ext uri="{D42A27DB-BD31-4B8C-83A1-F6EECF244321}">
                <p14:modId xmlns:p14="http://schemas.microsoft.com/office/powerpoint/2010/main" val="3482196079"/>
              </p:ext>
            </p:extLst>
          </p:nvPr>
        </p:nvGraphicFramePr>
        <p:xfrm>
          <a:off x="914400" y="3149600"/>
          <a:ext cx="14427197" cy="4013200"/>
        </p:xfrm>
        <a:graphic>
          <a:graphicData uri="http://schemas.openxmlformats.org/drawingml/2006/table">
            <a:tbl>
              <a:tblPr firstRow="1" bandRow="1">
                <a:tableStyleId>{4C3C2611-4C71-4FC5-86AE-919BDF0F9419}</a:tableStyleId>
              </a:tblPr>
              <a:tblGrid>
                <a:gridCol w="190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75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1750000">
                  <a:extLst>
                    <a:ext uri="{9D8B030D-6E8A-4147-A177-3AD203B41FA5}">
                      <a16:colId xmlns:a16="http://schemas.microsoft.com/office/drawing/2014/main" val="20005"/>
                    </a:ext>
                  </a:extLst>
                </a:gridCol>
                <a:gridCol w="1900000">
                  <a:extLst>
                    <a:ext uri="{9D8B030D-6E8A-4147-A177-3AD203B41FA5}">
                      <a16:colId xmlns:a16="http://schemas.microsoft.com/office/drawing/2014/main" val="20006"/>
                    </a:ext>
                  </a:extLst>
                </a:gridCol>
                <a:gridCol w="1977197">
                  <a:extLst>
                    <a:ext uri="{9D8B030D-6E8A-4147-A177-3AD203B41FA5}">
                      <a16:colId xmlns:a16="http://schemas.microsoft.com/office/drawing/2014/main" val="20007"/>
                    </a:ext>
                  </a:extLst>
                </a:gridCol>
              </a:tblGrid>
              <a:tr h="1003300">
                <a:tc>
                  <a:txBody>
                    <a:bodyPr/>
                    <a:lstStyle/>
                    <a:p>
                      <a:pPr lvl="0" algn="ctr" defTabSz="914400">
                        <a:buNone/>
                        <a:defRPr sz="1600"/>
                      </a:pPr>
                      <a:r>
                        <a:rPr lang="en-US" sz="1600">
                          <a:solidFill>
                            <a:srgbClr val="182E48"/>
                          </a:solidFill>
                          <a:latin typeface="Avenir Next Regular"/>
                          <a:ea typeface="Avenir Next Regular"/>
                          <a:cs typeface="Avenir Next Regular"/>
                        </a:rPr>
                        <a:t>Date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Ticker</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Open</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High</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Low</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Adj 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Volume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extLst>
                  <a:ext uri="{0D108BD9-81ED-4DB2-BD59-A6C34878D82A}">
                    <a16:rowId xmlns:a16="http://schemas.microsoft.com/office/drawing/2014/main" val="10000"/>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AAPL</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258.97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264.75</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258.16</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4,20,44,900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1"/>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005930.KS</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1,90,000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1,90,300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1,88,600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2,42,13,880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2"/>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MC.PA</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541.40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559.20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540.10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9,29,807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3"/>
                  </a:ext>
                </a:extLst>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Medium"/>
                <a:ea typeface="Avenir Next Medium"/>
                <a:cs typeface="Avenir Next Medium"/>
                <a:sym typeface="Avenir Next Medium"/>
              </a:defRPr>
            </a:lvl1pPr>
          </a:lstStyle>
          <a:p>
            <a:r>
              <a:t>Open, High, Low, and Close describe the daily price range; Adj Close includes dividend adjustments; Volume is shares traded.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189" name="14"/>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3</a:t>
            </a:r>
          </a:p>
        </p:txBody>
      </p:sp>
      <p:sp>
        <p:nvSpPr>
          <p:cNvPr id="190" name="Definitions behind the headline results"/>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The groups and periods behind each hypothesis</a:t>
            </a:r>
          </a:p>
        </p:txBody>
      </p:sp>
      <p:sp>
        <p:nvSpPr>
          <p:cNvPr id="191" name="These choices keep each claim reproducible and appropriately narrow."/>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Each hypothesis is stated beside the groups or periods used to test it.</a:t>
            </a:r>
          </a:p>
        </p:txBody>
      </p:sp>
      <p:sp>
        <p:nvSpPr>
          <p:cNvPr id="192"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r>
              <a:t>HISTORICAL STOCK ANALYSIS  /  HYPOTHESIS SETUP</a:t>
            </a:r>
          </a:p>
        </p:txBody>
      </p:sp>
      <p:sp>
        <p:nvSpPr>
          <p:cNvPr id="193"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3</a:t>
            </a:r>
          </a:p>
        </p:txBody>
      </p:sp>
      <p:sp>
        <p:nvSpPr>
          <p:cNvPr id="194" name="H1 GROUPS"/>
          <p:cNvSpPr txBox="1"/>
          <p:nvPr/>
        </p:nvSpPr>
        <p:spPr>
          <a:xfrm>
            <a:off x="914398" y="2593620"/>
            <a:ext cx="3302005"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r>
              <a:t>H1 · AI-RALLY CONCENTRATION</a:t>
            </a:r>
          </a:p>
        </p:txBody>
      </p:sp>
      <p:sp>
        <p:nvSpPr>
          <p:cNvPr id="195" name="Chip / AI"/>
          <p:cNvSpPr txBox="1"/>
          <p:nvPr/>
        </p:nvSpPr>
        <p:spPr>
          <a:xfrm>
            <a:off x="914400" y="3095269"/>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Chip / AI</a:t>
            </a:r>
          </a:p>
        </p:txBody>
      </p:sp>
      <p:sp>
        <p:nvSpPr>
          <p:cNvPr id="196"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NVDA · AVGO · TSM · ASML · AMD · MU · LRCX</a:t>
            </a:r>
          </a:p>
        </p:txBody>
      </p:sp>
      <p:sp>
        <p:nvSpPr>
          <p:cNvPr id="197"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Broader tech</a:t>
            </a:r>
          </a:p>
        </p:txBody>
      </p:sp>
      <p:sp>
        <p:nvSpPr>
          <p:cNvPr id="198"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AAPL · MSFT · GOOGL · AMZN · META · NFLX · ORCL · CSCO</a:t>
            </a:r>
          </a:p>
        </p:txBody>
      </p:sp>
      <p:sp>
        <p:nvSpPr>
          <p:cNvPr id="199"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H1: selected chip/AI stocks outperform selected broader tech</a:t>
            </a:r>
          </a:p>
        </p:txBody>
      </p:sp>
      <p:sp>
        <p:nvSpPr>
          <p:cNvPr id="200" name="H2 PERIODS"/>
          <p:cNvSpPr txBox="1"/>
          <p:nvPr/>
        </p:nvSpPr>
        <p:spPr>
          <a:xfrm>
            <a:off x="8407400" y="2593620"/>
            <a:ext cx="3048000"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r>
              <a:t>H2 &amp; H3 · CRISIS HYPOTHESES</a:t>
            </a:r>
          </a:p>
        </p:txBody>
      </p:sp>
      <p:sp>
        <p:nvSpPr>
          <p:cNvPr id="201" name="Calm"/>
          <p:cNvSpPr txBox="1"/>
          <p:nvPr/>
        </p:nvSpPr>
        <p:spPr>
          <a:xfrm>
            <a:off x="8407399" y="2987320"/>
            <a:ext cx="3302003"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Calm baseline</a:t>
            </a:r>
          </a:p>
        </p:txBody>
      </p:sp>
      <p:sp>
        <p:nvSpPr>
          <p:cNvPr id="202" name="2015–2017"/>
          <p:cNvSpPr txBox="1"/>
          <p:nvPr/>
        </p:nvSpPr>
        <p:spPr>
          <a:xfrm>
            <a:off x="8407400" y="3544179"/>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2015–2017 · no major global shock</a:t>
            </a:r>
          </a:p>
        </p:txBody>
      </p:sp>
      <p:sp>
        <p:nvSpPr>
          <p:cNvPr id="203" name="2008 crisis"/>
          <p:cNvSpPr txBox="1"/>
          <p:nvPr/>
        </p:nvSpPr>
        <p:spPr>
          <a:xfrm>
            <a:off x="8407400" y="4003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2008 crisis</a:t>
            </a:r>
          </a:p>
        </p:txBody>
      </p:sp>
      <p:sp>
        <p:nvSpPr>
          <p:cNvPr id="204" name="calendar year 2008"/>
          <p:cNvSpPr txBox="1"/>
          <p:nvPr/>
        </p:nvSpPr>
        <p:spPr>
          <a:xfrm>
            <a:off x="8407400" y="453323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Housing collapse, mortgage losses, and a global banking shock</a:t>
            </a:r>
          </a:p>
        </p:txBody>
      </p:sp>
      <p:sp>
        <p:nvSpPr>
          <p:cNvPr id="205" name="2020 crash"/>
          <p:cNvSpPr txBox="1"/>
          <p:nvPr/>
        </p:nvSpPr>
        <p:spPr>
          <a:xfrm>
            <a:off x="8407400" y="5019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2020 crash</a:t>
            </a:r>
          </a:p>
        </p:txBody>
      </p:sp>
      <p:sp>
        <p:nvSpPr>
          <p:cNvPr id="206" name="February–April 2020"/>
          <p:cNvSpPr txBox="1"/>
          <p:nvPr/>
        </p:nvSpPr>
        <p:spPr>
          <a:xfrm>
            <a:off x="8407400" y="557907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Pandemic lockdowns triggered a sudden global selloff</a:t>
            </a:r>
          </a:p>
        </p:txBody>
      </p:sp>
      <p:sp>
        <p:nvSpPr>
          <p:cNvPr id="207" name="2022 drawdown"/>
          <p:cNvSpPr txBox="1"/>
          <p:nvPr/>
        </p:nvSpPr>
        <p:spPr>
          <a:xfrm>
            <a:off x="8407400" y="6035321"/>
            <a:ext cx="3556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2022 drawdown</a:t>
            </a:r>
          </a:p>
        </p:txBody>
      </p:sp>
      <p:sp>
        <p:nvSpPr>
          <p:cNvPr id="208"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Inflation and rapid rate hikes drove a slower drawdown</a:t>
            </a:r>
          </a:p>
        </p:txBody>
      </p:sp>
      <p:sp>
        <p:nvSpPr>
          <p:cNvPr id="209"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r>
              <a:t>H2: regional correlations rise vs calm · H3: panic volatility and volume rise vs calm</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4</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4</a:t>
            </a:r>
          </a:p>
        </p:txBody>
      </p:sp>
      <p:pic>
        <p:nvPicPr>
          <p:cNvPr id="219" name="figure_a_ai_rally.png" descr="figure_a_ai_rally.png"/>
          <p:cNvPicPr>
            <a:picLocks noChangeAspect="1"/>
          </p:cNvPicPr>
          <p:nvPr/>
        </p:nvPicPr>
        <p:blipFill>
          <a:blip r:embed="rId3"/>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H1 is supported for these selected groups—not for every company linked to 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5</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5</a:t>
            </a:r>
          </a:p>
        </p:txBody>
      </p:sp>
      <p:pic>
        <p:nvPicPr>
          <p:cNvPr id="237" name="ec1_f_widened_basket.png" descr="ec1_f_widened_basket.png"/>
          <p:cNvPicPr>
            <a:picLocks noChangeAspect="1"/>
          </p:cNvPicPr>
          <p:nvPr/>
        </p:nvPicPr>
        <p:blipFill>
          <a:blip r:embed="rId3"/>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H2 is strongly supported for 2020 and directionally supported for 2008.</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6</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6</a:t>
            </a:r>
          </a:p>
        </p:txBody>
      </p:sp>
      <p:pic>
        <p:nvPicPr>
          <p:cNvPr id="255" name="b2_monthly_absolute_return.png" descr="b2_monthly_absolute_return.png"/>
          <p:cNvPicPr>
            <a:picLocks noChangeAspect="1"/>
          </p:cNvPicPr>
          <p:nvPr/>
        </p:nvPicPr>
        <p:blipFill>
          <a:blip r:embed="rId3"/>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r>
              <a:t>Independent monthly aggregation reaches the same crisis conclusion.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7</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7</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AFTER  ·  LOG</a:t>
            </a:r>
          </a:p>
        </p:txBody>
      </p:sp>
      <p:pic>
        <p:nvPicPr>
          <p:cNvPr id="272" name="ec1_a_before.png" descr="ec1_a_before.png"/>
          <p:cNvPicPr>
            <a:picLocks noChangeAspect="1"/>
          </p:cNvPicPr>
          <p:nvPr/>
        </p:nvPicPr>
        <p:blipFill>
          <a:blip r:embed="rId3"/>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Principles applied: appropriate scale  ·  direct labels  ·  less non-data ink  ·  better pre-attentive separation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8</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8</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What we can claim: patterns in this dataset.  What we cannot claim: causality, forecasting, or a universal market law.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9</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9</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r>
              <a:t>Success means the user can reproduce each headline and see where the evidence becomes uncertain.</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cp:revision>
  <dcterms:modified xsi:type="dcterms:W3CDTF">2026-08-26T16:08:13Z</dcterms:modified>
</cp:coreProperties>
</file>