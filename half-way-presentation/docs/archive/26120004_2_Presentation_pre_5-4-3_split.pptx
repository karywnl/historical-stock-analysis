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1pPr>
    <a:lvl2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2pPr>
    <a:lvl3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3pPr>
    <a:lvl4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4pPr>
    <a:lvl5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5pPr>
    <a:lvl6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6pPr>
    <a:lvl7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7pPr>
    <a:lvl8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8pPr>
    <a:lvl9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Speaker: Mirthula M | Target: 0:25</a:t>
            </a:r>
          </a:p>
          <a:p>
            <a:pPr/>
            <a:r>
              <a:t>Open with the umbrella question. Explain that the project is not forecasting prices; it tests whether apparent diversification remains meaningful across technology groups and crisis periods.</a:t>
            </a:r>
          </a:p>
          <a:p>
            <a:pPr/>
          </a:p>
          <a:p>
            <a:pPr/>
            <a:r>
              <a:t>[Sources]</a:t>
            </a:r>
          </a:p>
          <a:p>
            <a:pPr/>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r>
              <a:t>Speaker: Mirthula M | Target: 0:45</a:t>
            </a:r>
          </a:p>
          <a:p>
            <a:pPr/>
            <a:r>
              <a:t>Walk through one row: date, company identifier, a daily opening value, adjusted closing value, and number of shares traded. Point out the Samsung row to show why raw levels across currencies are not comparable.</a:t>
            </a:r>
          </a:p>
          <a:p>
            <a:pPr/>
          </a:p>
          <a:p>
            <a:pPr/>
            <a:r>
              <a:t>[Sources]</a:t>
            </a:r>
          </a:p>
          <a:p>
            <a:pPr/>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Speaker: Mirthula M | Target: 0:45</a:t>
            </a:r>
          </a:p>
          <a:p>
            <a:pPr/>
            <a:r>
              <a:t>Explain why a complete file can still be biased. The United States dominates the row count. Some exchanges have different holidays and some companies list later. We therefore use returns or rebased values, not raw cross-currency prices.</a:t>
            </a:r>
          </a:p>
          <a:p>
            <a:pPr/>
          </a:p>
          <a:p>
            <a:pPr/>
            <a:r>
              <a:t>[Sources]</a:t>
            </a:r>
          </a:p>
          <a:p>
            <a:pPr/>
            <a:r>
              <a:t>Market-count chart: assignment_4/figures/fig2_market_counts.png. Data audit from data/stock_data.csv: 0 missing values, 0 duplicate Date–Ticker pairs, and 1,706 zero-volume rows.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r>
              <a:t>Speaker: Mirthula M | Target: 0:45</a:t>
            </a:r>
          </a:p>
          <a:p>
            <a:pPr/>
            <a:r>
              <a:t>Explain the pipeline in order. The important analytical choice is to compute returns or indexed performance before comparing tickers. R then produces the long-form and monthly tables needed for the dashboard.</a:t>
            </a:r>
          </a:p>
          <a:p>
            <a:pPr/>
          </a:p>
          <a:p>
            <a:pPr/>
            <a:r>
              <a:t>[Sources]</a:t>
            </a:r>
          </a:p>
          <a:p>
            <a:pPr/>
            <a:r>
              <a:t>Python workflow: assignment_2/analysis.ipynb, assignment_3/analysis.ipynb, extra_credit_1/analysis.ipynb. R workflow: assignment_4/analysis.R and assignment_5/part_2/analysis.R.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Speaker: Karthikeyan M | Target: 0:40</a:t>
            </a:r>
          </a:p>
          <a:p>
            <a:pPr/>
            <a:r>
              <a:t>Introduce the definitions that frame all three hypotheses. H1 tests selected chip/AI leadership, H2 tests regional correlation during crises, and H3 tests volatility and volume during panic periods. Briefly connect the tests to the related work before moving to the evidence.</a:t>
            </a:r>
          </a:p>
          <a:p>
            <a:pPr/>
            <a:r>
              <a:t>[Sources]</a:t>
            </a:r>
          </a:p>
          <a:p>
            <a:pPr/>
            <a:r>
              <a:t>Group and period definitions: assignment_3/analysis.ipynb and extra_credit_1/analysis.ipynb.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Shape 253"/>
          <p:cNvSpPr/>
          <p:nvPr>
            <p:ph type="sldImg"/>
          </p:nvPr>
        </p:nvSpPr>
        <p:spPr>
          <a:prstGeom prst="rect">
            <a:avLst/>
          </a:prstGeom>
        </p:spPr>
        <p:txBody>
          <a:bodyPr/>
          <a:lstStyle/>
          <a:p>
            <a:pPr/>
          </a:p>
        </p:txBody>
      </p:sp>
      <p:sp>
        <p:nvSpPr>
          <p:cNvPr id="254" name="Shape 254"/>
          <p:cNvSpPr/>
          <p:nvPr>
            <p:ph type="body" sz="quarter" idx="1"/>
          </p:nvPr>
        </p:nvSpPr>
        <p:spPr>
          <a:prstGeom prst="rect">
            <a:avLst/>
          </a:prstGeom>
        </p:spPr>
        <p:txBody>
          <a:bodyPr/>
          <a:lstStyle/>
          <a:p>
            <a:pPr/>
            <a:r>
              <a:t>Speaker: Karthikeyan M | Target: 0:45</a:t>
            </a:r>
          </a:p>
          <a:p>
            <a:pPr/>
            <a:r>
              <a:t>Lead with the visual gap, then the group-level returns and statistical check. State the boundary carefully: the selected seven chip/AI stocks outperformed the selected eight broader-tech stocks. This does not prove the whole AI economy is narrow.</a:t>
            </a:r>
          </a:p>
          <a:p>
            <a:pPr/>
          </a:p>
          <a:p>
            <a:pPr/>
            <a:r>
              <a:t>[Sources]</a:t>
            </a:r>
          </a:p>
          <a:p>
            <a:pPr/>
            <a:r>
              <a:t>Chart: assignment_3/figures/figure_a_ai_rally.png. Statistical check: extra_credit_1 output. Local dataset: data/stock_data.csv.</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Speaker: Karthikeyan M | Target: 0:45</a:t>
            </a:r>
          </a:p>
          <a:p>
            <a:pPr/>
            <a:r>
              <a:t>Explain correlation in one sentence: values closer to one mean regions move more together. The widened basket lifts 2008 from about 0.25 to 0.326 and leaves 2020 as the clearest diversification failure. Keep the regional-coverage limitation visible.</a:t>
            </a:r>
          </a:p>
          <a:p>
            <a:pPr/>
          </a:p>
          <a:p>
            <a:pPr/>
            <a:r>
              <a:t>[Sources]</a:t>
            </a:r>
          </a:p>
          <a:p>
            <a:pPr/>
            <a:r>
              <a:t>Chart: extra_credit_1/figures/ec1_f_widened_basket.png. Calculations use data/stock_data.csv and the widened-basket method documented in extra_credit_1.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Shape 286"/>
          <p:cNvSpPr/>
          <p:nvPr>
            <p:ph type="sldImg"/>
          </p:nvPr>
        </p:nvSpPr>
        <p:spPr>
          <a:prstGeom prst="rect">
            <a:avLst/>
          </a:prstGeom>
        </p:spPr>
        <p:txBody>
          <a:bodyPr/>
          <a:lstStyle/>
          <a:p>
            <a:pPr/>
          </a:p>
        </p:txBody>
      </p:sp>
      <p:sp>
        <p:nvSpPr>
          <p:cNvPr id="287" name="Shape 287"/>
          <p:cNvSpPr/>
          <p:nvPr>
            <p:ph type="body" sz="quarter" idx="1"/>
          </p:nvPr>
        </p:nvSpPr>
        <p:spPr>
          <a:prstGeom prst="rect">
            <a:avLst/>
          </a:prstGeom>
        </p:spPr>
        <p:txBody>
          <a:bodyPr/>
          <a:lstStyle/>
          <a:p>
            <a:pPr/>
            <a:r>
              <a:t>Speaker: Karthikeyan M | Target: 0:45</a:t>
            </a:r>
          </a:p>
          <a:p>
            <a:pPr/>
            <a:r>
              <a:t>The chart is a separate R-based check. October 2008 and March 2020 are the two largest monthly volatility spikes. This supports the panic-period story without relying on the regional-correlation basket.</a:t>
            </a:r>
          </a:p>
          <a:p>
            <a:pPr/>
          </a:p>
          <a:p>
            <a:pPr/>
            <a:r>
              <a:t>[Sources]</a:t>
            </a:r>
          </a:p>
          <a:p>
            <a:pPr/>
            <a:r>
              <a:t>Chart: assignment_5/part_2/figures/b2_monthly_absolute_return.png. Monthly bins created in R with lubridate::floor_date(); source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Shape 302"/>
          <p:cNvSpPr/>
          <p:nvPr>
            <p:ph type="sldImg"/>
          </p:nvPr>
        </p:nvSpPr>
        <p:spPr>
          <a:prstGeom prst="rect">
            <a:avLst/>
          </a:prstGeom>
        </p:spPr>
        <p:txBody>
          <a:bodyPr/>
          <a:lstStyle/>
          <a:p>
            <a:pPr/>
          </a:p>
        </p:txBody>
      </p:sp>
      <p:sp>
        <p:nvSpPr>
          <p:cNvPr id="303" name="Shape 303"/>
          <p:cNvSpPr/>
          <p:nvPr>
            <p:ph type="body" sz="quarter" idx="1"/>
          </p:nvPr>
        </p:nvSpPr>
        <p:spPr>
          <a:prstGeom prst="rect">
            <a:avLst/>
          </a:prstGeom>
        </p:spPr>
        <p:txBody>
          <a:bodyPr/>
          <a:lstStyle/>
          <a:p>
            <a:pPr/>
            <a:r>
              <a:t>Speaker: Lakshmi Mayuri Kavya N | Target: 0:55</a:t>
            </a:r>
          </a:p>
          <a:p>
            <a:pPr/>
            <a:r>
              <a:t>This slide is explicitly about design principles, not decoration. On a linear axis, extreme absolute growth compresses the other lines. A log axis makes proportional changes comparable. Direct labels and fewer spines reduce search effort and non-data ink.</a:t>
            </a:r>
          </a:p>
          <a:p>
            <a:pPr/>
          </a:p>
          <a:p>
            <a:pPr/>
            <a:r>
              <a:t>[Sources]</a:t>
            </a:r>
          </a:p>
          <a:p>
            <a:pPr/>
            <a:r>
              <a:t>Before/after charts: extra_credit_1/figures/ec1_a_before.png and extra_credit_1/figures/ec1_a_after.png. Both use data/stock_data.csv.</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Shape 321"/>
          <p:cNvSpPr/>
          <p:nvPr>
            <p:ph type="sldImg"/>
          </p:nvPr>
        </p:nvSpPr>
        <p:spPr>
          <a:prstGeom prst="rect">
            <a:avLst/>
          </a:prstGeom>
        </p:spPr>
        <p:txBody>
          <a:bodyPr/>
          <a:lstStyle/>
          <a:p>
            <a:pPr/>
          </a:p>
        </p:txBody>
      </p:sp>
      <p:sp>
        <p:nvSpPr>
          <p:cNvPr id="322" name="Shape 322"/>
          <p:cNvSpPr/>
          <p:nvPr>
            <p:ph type="body" sz="quarter" idx="1"/>
          </p:nvPr>
        </p:nvSpPr>
        <p:spPr>
          <a:prstGeom prst="rect">
            <a:avLst/>
          </a:prstGeom>
        </p:spPr>
        <p:txBody>
          <a:bodyPr/>
          <a:lstStyle/>
          <a:p>
            <a:pPr/>
            <a:r>
              <a:t>Speaker: Lakshmi Mayuri Kavya N | Target: 0:45</a:t>
            </a:r>
          </a:p>
          <a:p>
            <a:pPr/>
            <a:r>
              <a:t>Resolve the opening question directly. The dataset shows diversification, but technology gains and crisis co-movement make it thinner than the surface suggests. Finish with the boundary: this is descriptive evidence, not causal proof or a forecast.</a:t>
            </a:r>
          </a:p>
          <a:p>
            <a:pPr/>
          </a:p>
          <a:p>
            <a:pPr/>
            <a:r>
              <a:t>[Sources]</a:t>
            </a:r>
          </a:p>
          <a:p>
            <a:pPr/>
            <a:r>
              <a:t>Synthesis of slides 7–9 using data/stock_data.csv and the cited project outputs.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hape 340"/>
          <p:cNvSpPr/>
          <p:nvPr>
            <p:ph type="sldImg"/>
          </p:nvPr>
        </p:nvSpPr>
        <p:spPr>
          <a:prstGeom prst="rect">
            <a:avLst/>
          </a:prstGeom>
        </p:spPr>
        <p:txBody>
          <a:bodyPr/>
          <a:lstStyle/>
          <a:p>
            <a:pPr/>
          </a:p>
        </p:txBody>
      </p:sp>
      <p:sp>
        <p:nvSpPr>
          <p:cNvPr id="341" name="Shape 341"/>
          <p:cNvSpPr/>
          <p:nvPr>
            <p:ph type="body" sz="quarter" idx="1"/>
          </p:nvPr>
        </p:nvSpPr>
        <p:spPr>
          <a:prstGeom prst="rect">
            <a:avLst/>
          </a:prstGeom>
        </p:spPr>
        <p:txBody>
          <a:bodyPr/>
          <a:lstStyle/>
          <a:p>
            <a:pPr/>
            <a:r>
              <a:t>Speaker: Lakshmi Mayuri Kavya N | Target: 0:35</a:t>
            </a:r>
          </a:p>
          <a:p>
            <a:pPr/>
            <a:r>
              <a:t>State these as evidence boundaries, not reasons to dismiss the findings. The patterns remain visible, but the claims must stay descriptive and limited to the available companies and periods.</a:t>
            </a:r>
          </a:p>
          <a:p>
            <a:pPr/>
            <a:r>
              <a:t>[Sources]</a:t>
            </a:r>
          </a:p>
          <a:p>
            <a:pPr/>
            <a:r>
              <a:t>Dataset audit and caveats: data/stock_data.csv and AGENTS.md. Regional-basket limitations: extra_credit_1/analysis.ipynb.</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Shape 358"/>
          <p:cNvSpPr/>
          <p:nvPr>
            <p:ph type="sldImg"/>
          </p:nvPr>
        </p:nvSpPr>
        <p:spPr>
          <a:prstGeom prst="rect">
            <a:avLst/>
          </a:prstGeom>
        </p:spPr>
        <p:txBody>
          <a:bodyPr/>
          <a:lstStyle/>
          <a:p>
            <a:pPr/>
          </a:p>
        </p:txBody>
      </p:sp>
      <p:sp>
        <p:nvSpPr>
          <p:cNvPr id="359" name="Shape 359"/>
          <p:cNvSpPr/>
          <p:nvPr>
            <p:ph type="body" sz="quarter" idx="1"/>
          </p:nvPr>
        </p:nvSpPr>
        <p:spPr>
          <a:prstGeom prst="rect">
            <a:avLst/>
          </a:prstGeom>
        </p:spPr>
        <p:txBody>
          <a:bodyPr/>
          <a:lstStyle/>
          <a:p>
            <a:pPr/>
            <a:r>
              <a:t>Speaker: Lakshmi Mayuri Kavya N | Target: 0:40</a:t>
            </a:r>
          </a:p>
          <a:p>
            <a:pPr/>
            <a:r>
              <a:t>Describe the dashboard as the next analytical interface, not just a prettier report. The filters should let users change the group and period while retaining the same return, correlation, and volatility definitions.</a:t>
            </a:r>
          </a:p>
          <a:p>
            <a:pPr/>
          </a:p>
          <a:p>
            <a:pPr/>
            <a:r>
              <a:t>[Sources]</a:t>
            </a:r>
          </a:p>
          <a:p>
            <a:pPr/>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499553" y="2545644"/>
            <a:ext cx="9256894" cy="2065870"/>
          </a:xfrm>
          <a:prstGeom prst="rect">
            <a:avLst/>
          </a:prstGeom>
        </p:spPr>
        <p:txBody>
          <a:bodyPr anchor="b"/>
          <a:lstStyle/>
          <a:p>
            <a:pPr/>
            <a:r>
              <a:t>Title Text</a:t>
            </a:r>
          </a:p>
        </p:txBody>
      </p:sp>
      <p:sp>
        <p:nvSpPr>
          <p:cNvPr id="12" name="Body Level One…"/>
          <p:cNvSpPr txBox="1"/>
          <p:nvPr>
            <p:ph type="body" sz="quarter" idx="1"/>
          </p:nvPr>
        </p:nvSpPr>
        <p:spPr>
          <a:xfrm>
            <a:off x="3499553" y="4667953"/>
            <a:ext cx="9256894" cy="70555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half" idx="21"/>
          </p:nvPr>
        </p:nvSpPr>
        <p:spPr>
          <a:xfrm>
            <a:off x="4098652" y="1349022"/>
            <a:ext cx="8060268" cy="5373512"/>
          </a:xfrm>
          <a:prstGeom prst="rect">
            <a:avLst/>
          </a:prstGeom>
        </p:spPr>
        <p:txBody>
          <a:bodyPr lIns="91439" tIns="45719" rIns="91439" bIns="45719">
            <a:noAutofit/>
          </a:bodyPr>
          <a:lstStyle/>
          <a:p>
            <a:pPr/>
          </a:p>
        </p:txBody>
      </p:sp>
      <p:sp>
        <p:nvSpPr>
          <p:cNvPr id="21" name="Title Text"/>
          <p:cNvSpPr txBox="1"/>
          <p:nvPr>
            <p:ph type="title"/>
          </p:nvPr>
        </p:nvSpPr>
        <p:spPr>
          <a:xfrm>
            <a:off x="2991554" y="5751688"/>
            <a:ext cx="10272893" cy="891826"/>
          </a:xfrm>
          <a:prstGeom prst="rect">
            <a:avLst/>
          </a:prstGeom>
        </p:spPr>
        <p:txBody>
          <a:bodyPr anchor="b"/>
          <a:lstStyle/>
          <a:p>
            <a:pPr/>
            <a:r>
              <a:t>Title Text</a:t>
            </a:r>
          </a:p>
        </p:txBody>
      </p:sp>
      <p:sp>
        <p:nvSpPr>
          <p:cNvPr id="22" name="Body Level One…"/>
          <p:cNvSpPr txBox="1"/>
          <p:nvPr>
            <p:ph type="body" sz="quarter" idx="1"/>
          </p:nvPr>
        </p:nvSpPr>
        <p:spPr>
          <a:xfrm>
            <a:off x="2991554" y="6609643"/>
            <a:ext cx="10272893" cy="70555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3499553" y="3539066"/>
            <a:ext cx="9256894" cy="206587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8410222" y="1947333"/>
            <a:ext cx="5096936" cy="5096934"/>
          </a:xfrm>
          <a:prstGeom prst="rect">
            <a:avLst/>
          </a:prstGeom>
        </p:spPr>
        <p:txBody>
          <a:bodyPr lIns="91439" tIns="45719" rIns="91439" bIns="45719">
            <a:noAutofit/>
          </a:bodyPr>
          <a:lstStyle/>
          <a:p>
            <a:pPr/>
          </a:p>
        </p:txBody>
      </p:sp>
      <p:sp>
        <p:nvSpPr>
          <p:cNvPr id="39" name="Title Text"/>
          <p:cNvSpPr txBox="1"/>
          <p:nvPr>
            <p:ph type="title"/>
          </p:nvPr>
        </p:nvSpPr>
        <p:spPr>
          <a:xfrm>
            <a:off x="3443108" y="1947333"/>
            <a:ext cx="4543781" cy="2466625"/>
          </a:xfrm>
          <a:prstGeom prst="rect">
            <a:avLst/>
          </a:prstGeom>
        </p:spPr>
        <p:txBody>
          <a:bodyPr anchor="b"/>
          <a:lstStyle>
            <a:lvl1pPr>
              <a:defRPr sz="5600"/>
            </a:lvl1pPr>
          </a:lstStyle>
          <a:p>
            <a:pPr/>
            <a:r>
              <a:t>Title Text</a:t>
            </a:r>
          </a:p>
        </p:txBody>
      </p:sp>
      <p:sp>
        <p:nvSpPr>
          <p:cNvPr id="40" name="Body Level One…"/>
          <p:cNvSpPr txBox="1"/>
          <p:nvPr>
            <p:ph type="body" sz="quarter" idx="1"/>
          </p:nvPr>
        </p:nvSpPr>
        <p:spPr>
          <a:xfrm>
            <a:off x="3443108" y="4425243"/>
            <a:ext cx="4543781" cy="254564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sz="half" idx="1"/>
          </p:nvPr>
        </p:nvSpPr>
        <p:spPr>
          <a:xfrm>
            <a:off x="3460043" y="2923820"/>
            <a:ext cx="9335914" cy="4131736"/>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7580486" y="2923820"/>
            <a:ext cx="6197605" cy="4131736"/>
          </a:xfrm>
          <a:prstGeom prst="rect">
            <a:avLst/>
          </a:prstGeom>
        </p:spPr>
        <p:txBody>
          <a:bodyPr lIns="91439" tIns="45719" rIns="91439" bIns="45719">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quarter" idx="1"/>
          </p:nvPr>
        </p:nvSpPr>
        <p:spPr>
          <a:xfrm>
            <a:off x="3460043" y="2923820"/>
            <a:ext cx="4543781" cy="4131736"/>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quarter" idx="1"/>
          </p:nvPr>
        </p:nvSpPr>
        <p:spPr>
          <a:xfrm>
            <a:off x="3460043" y="2923820"/>
            <a:ext cx="4543781" cy="4131736"/>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quarter" idx="1"/>
          </p:nvPr>
        </p:nvSpPr>
        <p:spPr>
          <a:xfrm>
            <a:off x="3460043" y="2923820"/>
            <a:ext cx="4543781" cy="4131736"/>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half" idx="1"/>
          </p:nvPr>
        </p:nvSpPr>
        <p:spPr>
          <a:xfrm>
            <a:off x="3460043" y="2314220"/>
            <a:ext cx="9335914" cy="4515560"/>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9509476" y="4656666"/>
            <a:ext cx="3699937" cy="2466626"/>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9714086" y="1907820"/>
            <a:ext cx="3290715" cy="3290715"/>
          </a:xfrm>
          <a:prstGeom prst="rect">
            <a:avLst/>
          </a:prstGeom>
        </p:spPr>
        <p:txBody>
          <a:bodyPr lIns="91439" tIns="45719" rIns="91439" bIns="45719">
            <a:noAutofit/>
          </a:bodyPr>
          <a:lstStyle/>
          <a:p>
            <a:pPr/>
          </a:p>
        </p:txBody>
      </p:sp>
      <p:sp>
        <p:nvSpPr>
          <p:cNvPr id="103" name="View of beach and sea from a grassy sand dune"/>
          <p:cNvSpPr/>
          <p:nvPr>
            <p:ph type="pic" sz="half" idx="23"/>
          </p:nvPr>
        </p:nvSpPr>
        <p:spPr>
          <a:xfrm>
            <a:off x="2269064" y="2026354"/>
            <a:ext cx="7645404" cy="5096937"/>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Body Level One…"/>
          <p:cNvSpPr txBox="1"/>
          <p:nvPr>
            <p:ph type="body" sz="quarter" idx="1"/>
          </p:nvPr>
        </p:nvSpPr>
        <p:spPr>
          <a:xfrm>
            <a:off x="3770488" y="5503333"/>
            <a:ext cx="8720668" cy="342846"/>
          </a:xfrm>
          <a:prstGeom prst="rect">
            <a:avLst/>
          </a:prstGeom>
        </p:spPr>
        <p:txBody>
          <a:bodyPr/>
          <a:lstStyle>
            <a:lvl1pPr>
              <a:defRPr i="1" sz="2000"/>
            </a:lvl1pPr>
            <a:lvl2pPr>
              <a:defRPr i="1" sz="2000"/>
            </a:lvl2pPr>
            <a:lvl3pPr>
              <a:defRPr i="1" sz="2000"/>
            </a:lvl3pPr>
            <a:lvl4pPr>
              <a:defRPr i="1" sz="2000"/>
            </a:lvl4pPr>
            <a:lvl5pPr>
              <a:defRPr i="1" sz="2000"/>
            </a:lvl5pPr>
          </a:lstStyle>
          <a:p>
            <a:pPr/>
            <a:r>
              <a:t>Body Level One</a:t>
            </a:r>
          </a:p>
          <a:p>
            <a:pPr lvl="1"/>
            <a:r>
              <a:t>Body Level Two</a:t>
            </a:r>
          </a:p>
          <a:p>
            <a:pPr lvl="2"/>
            <a:r>
              <a:t>Body Level Three</a:t>
            </a:r>
          </a:p>
          <a:p>
            <a:pPr lvl="3"/>
            <a:r>
              <a:t>Body Level Four</a:t>
            </a:r>
          </a:p>
          <a:p>
            <a:pPr lvl="4"/>
            <a:r>
              <a:t>Body Level Five</a:t>
            </a:r>
          </a:p>
        </p:txBody>
      </p:sp>
      <p:sp>
        <p:nvSpPr>
          <p:cNvPr id="112" name="“Type a quote here.”"/>
          <p:cNvSpPr txBox="1"/>
          <p:nvPr>
            <p:ph type="body" sz="quarter" idx="21"/>
          </p:nvPr>
        </p:nvSpPr>
        <p:spPr>
          <a:xfrm>
            <a:off x="3770488" y="4143976"/>
            <a:ext cx="8720668" cy="528670"/>
          </a:xfrm>
          <a:prstGeom prst="rect">
            <a:avLst/>
          </a:prstGeom>
        </p:spPr>
        <p:txBody>
          <a:bodyPr anchor="ctr"/>
          <a:lstStyle/>
          <a:p>
            <a:pP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2686754" y="959554"/>
            <a:ext cx="10882493" cy="7254996"/>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460043" y="1682044"/>
            <a:ext cx="9335914" cy="101600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normAutofit fontScale="100000" lnSpcReduction="0"/>
          </a:bodyPr>
          <a:lstStyle/>
          <a:p>
            <a:pPr/>
            <a:r>
              <a:t>Title Text</a:t>
            </a:r>
          </a:p>
        </p:txBody>
      </p:sp>
      <p:sp>
        <p:nvSpPr>
          <p:cNvPr id="3" name="Body Level One…"/>
          <p:cNvSpPr txBox="1"/>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983272" y="7337776"/>
            <a:ext cx="283811"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pPr/>
            <a:r>
              <a:t>Historical Stock Analysis</a:t>
            </a:r>
          </a:p>
        </p:txBody>
      </p:sp>
      <p:sp>
        <p:nvSpPr>
          <p:cNvPr id="139" name="Does diversification survive a closer look?"/>
          <p:cNvSpPr txBox="1"/>
          <p:nvPr/>
        </p:nvSpPr>
        <p:spPr>
          <a:xfrm>
            <a:off x="914398" y="2688870"/>
            <a:ext cx="11684005"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pPr/>
            <a:r>
              <a:t>Does diversification survive a closer look?</a:t>
            </a:r>
          </a:p>
        </p:txBody>
      </p:sp>
      <p:sp>
        <p:nvSpPr>
          <p:cNvPr id="140" name="230,111"/>
          <p:cNvSpPr txBox="1"/>
          <p:nvPr/>
        </p:nvSpPr>
        <p:spPr>
          <a:xfrm>
            <a:off x="914398" y="4358921"/>
            <a:ext cx="3302005"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pPr/>
            <a:r>
              <a:t>20 years</a:t>
            </a:r>
          </a:p>
        </p:txBody>
      </p:sp>
      <p:sp>
        <p:nvSpPr>
          <p:cNvPr id="145" name="2006–2026"/>
          <p:cNvSpPr txBox="1"/>
          <p:nvPr/>
        </p:nvSpPr>
        <p:spPr>
          <a:xfrm>
            <a:off x="8762999" y="5190771"/>
            <a:ext cx="2794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pPr/>
            <a:r>
              <a:t>●</a:t>
            </a:r>
          </a:p>
        </p:txBody>
      </p:sp>
      <p:sp>
        <p:nvSpPr>
          <p:cNvPr id="148" name="●"/>
          <p:cNvSpPr txBox="1"/>
          <p:nvPr/>
        </p:nvSpPr>
        <p:spPr>
          <a:xfrm>
            <a:off x="14909800" y="2009420"/>
            <a:ext cx="508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pPr/>
            <a:r>
              <a:t>●</a:t>
            </a:r>
          </a:p>
        </p:txBody>
      </p:sp>
      <p:sp>
        <p:nvSpPr>
          <p:cNvPr id="149" name="●"/>
          <p:cNvSpPr txBox="1"/>
          <p:nvPr/>
        </p:nvSpPr>
        <p:spPr>
          <a:xfrm>
            <a:off x="14325598" y="2542820"/>
            <a:ext cx="508003"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pPr/>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INTRODUCTION</a:t>
            </a:r>
          </a:p>
        </p:txBody>
      </p:sp>
      <p:sp>
        <p:nvSpPr>
          <p:cNvPr id="156" name="2"/>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Each row is one company on one trading day</a:t>
            </a:r>
          </a:p>
        </p:txBody>
      </p:sp>
      <p:sp>
        <p:nvSpPr>
          <p:cNvPr id="158" name="The file combines price, return-ready closing values, and trading activity."/>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The file combines price, return-ready closing values, and trading activity.</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2</a:t>
            </a:r>
          </a:p>
        </p:txBody>
      </p:sp>
      <p:sp>
        <p:nvSpPr>
          <p:cNvPr id="161" name="230,111 rows"/>
          <p:cNvSpPr txBox="1"/>
          <p:nvPr/>
        </p:nvSpPr>
        <p:spPr>
          <a:xfrm>
            <a:off x="914400" y="2320570"/>
            <a:ext cx="3048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pPr/>
            <a:r>
              <a:t>230,111 rows</a:t>
            </a:r>
          </a:p>
        </p:txBody>
      </p:sp>
      <p:sp>
        <p:nvSpPr>
          <p:cNvPr id="162" name="8 columns"/>
          <p:cNvSpPr txBox="1"/>
          <p:nvPr/>
        </p:nvSpPr>
        <p:spPr>
          <a:xfrm>
            <a:off x="4445000" y="2320570"/>
            <a:ext cx="2286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pPr/>
            <a:r>
              <a:t>8 columns</a:t>
            </a:r>
          </a:p>
        </p:txBody>
      </p:sp>
      <p:sp>
        <p:nvSpPr>
          <p:cNvPr id="163" name="0 missing values"/>
          <p:cNvSpPr txBox="1"/>
          <p:nvPr/>
        </p:nvSpPr>
        <p:spPr>
          <a:xfrm>
            <a:off x="7239000" y="2320570"/>
            <a:ext cx="3048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pPr/>
            <a:r>
              <a:t>0 missing values</a:t>
            </a:r>
          </a:p>
        </p:txBody>
      </p:sp>
      <p:sp>
        <p:nvSpPr>
          <p:cNvPr id="164" name="2006-01-02 → 2026-02-20"/>
          <p:cNvSpPr txBox="1"/>
          <p:nvPr/>
        </p:nvSpPr>
        <p:spPr>
          <a:xfrm>
            <a:off x="10795000" y="2403120"/>
            <a:ext cx="4445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2006-01-02 → 2026-02-20</a:t>
            </a:r>
          </a:p>
        </p:txBody>
      </p:sp>
      <p:graphicFrame>
        <p:nvGraphicFramePr>
          <p:cNvPr id="165" name="Table 1"/>
          <p:cNvGraphicFramePr/>
          <p:nvPr/>
        </p:nvGraphicFramePr>
        <p:xfrm>
          <a:off x="914400" y="3149600"/>
          <a:ext cx="14427200" cy="401320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048000"/>
                <a:gridCol w="2667000"/>
                <a:gridCol w="2667000"/>
                <a:gridCol w="2997200"/>
                <a:gridCol w="3048000"/>
              </a:tblGrid>
              <a:tr h="1003300">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solidFill>
                      <a:srgbClr val="FFFFFF"/>
                    </a:solidFill>
                  </a:tcPr>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AAPL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258.97</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264.58</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4,20,44,900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005930.KS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1,90,000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1,90,100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2,42,13,880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MC.PA</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541.40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554.70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9,29,807</a:t>
                      </a:r>
                    </a:p>
                  </a:txBody>
                  <a:tcPr marL="50800" marR="50800" marT="50800" marB="50800" anchor="ctr" anchorCtr="0" horzOverflow="overflow"/>
                </a:tc>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D06F21"/>
                </a:solidFill>
                <a:latin typeface="Avenir Next Medium"/>
                <a:ea typeface="Avenir Next Medium"/>
                <a:cs typeface="Avenir Next Medium"/>
                <a:sym typeface="Avenir Next Medium"/>
              </a:defRPr>
            </a:lvl1pPr>
          </a:lstStyle>
          <a:p>
            <a:pPr/>
            <a:r>
              <a:t>Same columns, different exchanges and currencies—so the analysis cannot compare raw prices directly.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INTRODUCTION</a:t>
            </a:r>
          </a:p>
        </p:txBody>
      </p:sp>
      <p:sp>
        <p:nvSpPr>
          <p:cNvPr id="171" name="4"/>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3</a:t>
            </a:r>
          </a:p>
        </p:txBody>
      </p:sp>
      <p:sp>
        <p:nvSpPr>
          <p:cNvPr id="172" name="The file is complete, but the coverage is not balanced"/>
          <p:cNvSpPr txBox="1"/>
          <p:nvPr/>
        </p:nvSpPr>
        <p:spPr>
          <a:xfrm>
            <a:off x="914400" y="948970"/>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The file is complete, but coverage is uneven</a:t>
            </a:r>
          </a:p>
        </p:txBody>
      </p:sp>
      <p:sp>
        <p:nvSpPr>
          <p:cNvPr id="173" name="Data quality is more than missing values: currencies, calendars, listing dates, and representation all matter."/>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Currencies, calendars, listing dates, and representation still affect comparison.</a:t>
            </a:r>
          </a:p>
        </p:txBody>
      </p:sp>
      <p:sp>
        <p:nvSpPr>
          <p:cNvPr id="174"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75" name="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3</a:t>
            </a:r>
          </a:p>
        </p:txBody>
      </p:sp>
      <p:pic>
        <p:nvPicPr>
          <p:cNvPr id="176" name="fig2_market_counts.png" descr="fig2_market_counts.png"/>
          <p:cNvPicPr>
            <a:picLocks noChangeAspect="1"/>
          </p:cNvPicPr>
          <p:nvPr/>
        </p:nvPicPr>
        <p:blipFill>
          <a:blip r:embed="rId3">
            <a:extLst/>
          </a:blip>
          <a:stretch>
            <a:fillRect/>
          </a:stretch>
        </p:blipFill>
        <p:spPr>
          <a:xfrm>
            <a:off x="914400" y="2616200"/>
            <a:ext cx="7437120" cy="4648200"/>
          </a:xfrm>
          <a:prstGeom prst="rect">
            <a:avLst/>
          </a:prstGeom>
          <a:ln w="12700">
            <a:miter lim="400000"/>
          </a:ln>
        </p:spPr>
      </p:pic>
      <p:sp>
        <p:nvSpPr>
          <p:cNvPr id="177" name="0"/>
          <p:cNvSpPr txBox="1"/>
          <p:nvPr/>
        </p:nvSpPr>
        <p:spPr>
          <a:xfrm>
            <a:off x="9652000" y="2580920"/>
            <a:ext cx="1143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0B856E"/>
                </a:solidFill>
                <a:latin typeface="Avenir Next Demi Bold"/>
                <a:ea typeface="Avenir Next Demi Bold"/>
                <a:cs typeface="Avenir Next Demi Bold"/>
                <a:sym typeface="Avenir Next Demi Bold"/>
              </a:defRPr>
            </a:lvl1pPr>
          </a:lstStyle>
          <a:p>
            <a:pPr/>
            <a:r>
              <a:t>0</a:t>
            </a:r>
          </a:p>
        </p:txBody>
      </p:sp>
      <p:sp>
        <p:nvSpPr>
          <p:cNvPr id="178" name="missing fields"/>
          <p:cNvSpPr txBox="1"/>
          <p:nvPr/>
        </p:nvSpPr>
        <p:spPr>
          <a:xfrm>
            <a:off x="10795000" y="2809520"/>
            <a:ext cx="3302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missing fields</a:t>
            </a:r>
          </a:p>
        </p:txBody>
      </p:sp>
      <p:sp>
        <p:nvSpPr>
          <p:cNvPr id="179" name="0"/>
          <p:cNvSpPr txBox="1"/>
          <p:nvPr/>
        </p:nvSpPr>
        <p:spPr>
          <a:xfrm>
            <a:off x="9652000" y="3495321"/>
            <a:ext cx="1143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0B856E"/>
                </a:solidFill>
                <a:latin typeface="Avenir Next Demi Bold"/>
                <a:ea typeface="Avenir Next Demi Bold"/>
                <a:cs typeface="Avenir Next Demi Bold"/>
                <a:sym typeface="Avenir Next Demi Bold"/>
              </a:defRPr>
            </a:lvl1pPr>
          </a:lstStyle>
          <a:p>
            <a:pPr/>
            <a:r>
              <a:t>0</a:t>
            </a:r>
          </a:p>
        </p:txBody>
      </p:sp>
      <p:sp>
        <p:nvSpPr>
          <p:cNvPr id="180" name="duplicate Date–Ticker pairs"/>
          <p:cNvSpPr txBox="1"/>
          <p:nvPr/>
        </p:nvSpPr>
        <p:spPr>
          <a:xfrm>
            <a:off x="10795000" y="3723921"/>
            <a:ext cx="3937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duplicate Date–Ticker pairs</a:t>
            </a:r>
          </a:p>
        </p:txBody>
      </p:sp>
      <p:sp>
        <p:nvSpPr>
          <p:cNvPr id="181" name="1,706"/>
          <p:cNvSpPr txBox="1"/>
          <p:nvPr/>
        </p:nvSpPr>
        <p:spPr>
          <a:xfrm>
            <a:off x="9652000" y="4409721"/>
            <a:ext cx="18415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D06F21"/>
                </a:solidFill>
                <a:latin typeface="Avenir Next Demi Bold"/>
                <a:ea typeface="Avenir Next Demi Bold"/>
                <a:cs typeface="Avenir Next Demi Bold"/>
                <a:sym typeface="Avenir Next Demi Bold"/>
              </a:defRPr>
            </a:lvl1pPr>
          </a:lstStyle>
          <a:p>
            <a:pPr/>
            <a:r>
              <a:t>1,706</a:t>
            </a:r>
          </a:p>
        </p:txBody>
      </p:sp>
      <p:sp>
        <p:nvSpPr>
          <p:cNvPr id="182" name="zero-volume rows"/>
          <p:cNvSpPr txBox="1"/>
          <p:nvPr/>
        </p:nvSpPr>
        <p:spPr>
          <a:xfrm>
            <a:off x="11684000" y="4638321"/>
            <a:ext cx="31115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zero-volume rows</a:t>
            </a:r>
          </a:p>
        </p:txBody>
      </p:sp>
      <p:sp>
        <p:nvSpPr>
          <p:cNvPr id="183" name="US rows dominate; Paris and Saudi Arabia each represent one company."/>
          <p:cNvSpPr txBox="1"/>
          <p:nvPr/>
        </p:nvSpPr>
        <p:spPr>
          <a:xfrm>
            <a:off x="9652000" y="5692421"/>
            <a:ext cx="5334000"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US rows dominate; Paris and Saudi Arabia each represent one company.</a:t>
            </a:r>
          </a:p>
        </p:txBody>
      </p:sp>
      <p:sp>
        <p:nvSpPr>
          <p:cNvPr id="184" name="Decision: compare returns or index every series to 100 on a shared valid date."/>
          <p:cNvSpPr txBox="1"/>
          <p:nvPr/>
        </p:nvSpPr>
        <p:spPr>
          <a:xfrm>
            <a:off x="9652000" y="6721122"/>
            <a:ext cx="5334000"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973B7"/>
                </a:solidFill>
                <a:latin typeface="Avenir Next Demi Bold"/>
                <a:ea typeface="Avenir Next Demi Bold"/>
                <a:cs typeface="Avenir Next Demi Bold"/>
                <a:sym typeface="Avenir Next Demi Bold"/>
              </a:defRPr>
            </a:lvl1pPr>
          </a:lstStyle>
          <a:p>
            <a:pPr/>
            <a:r>
              <a:t>Decision: compare returns or index every series to 100 on a shared valid date.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  APPROACH"/>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INTRODUCTION</a:t>
            </a:r>
          </a:p>
        </p:txBody>
      </p:sp>
      <p:sp>
        <p:nvSpPr>
          <p:cNvPr id="189" name="6"/>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4</a:t>
            </a:r>
          </a:p>
        </p:txBody>
      </p:sp>
      <p:sp>
        <p:nvSpPr>
          <p:cNvPr id="190" name="We separated cleaning, transformation, testing, and communication"/>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We separated cleaning, transformation, testing, and communication</a:t>
            </a:r>
          </a:p>
        </p:txBody>
      </p:sp>
      <p:sp>
        <p:nvSpPr>
          <p:cNvPr id="191" name="Python explored and tested the hypotheses; R replicated the EDA and prepared long-form monthly data."/>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Python explored and tested the hypotheses; R replicated the EDA and prepared long-form monthly data.</a:t>
            </a:r>
          </a:p>
        </p:txBody>
      </p:sp>
      <p:sp>
        <p:nvSpPr>
          <p:cNvPr id="192" name="HISTORICAL STOCK ANALYSIS  /  APPROACH"/>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93" name="6"/>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4</a:t>
            </a:r>
          </a:p>
        </p:txBody>
      </p:sp>
      <p:sp>
        <p:nvSpPr>
          <p:cNvPr id="194" name="01"/>
          <p:cNvSpPr txBox="1"/>
          <p:nvPr/>
        </p:nvSpPr>
        <p:spPr>
          <a:xfrm>
            <a:off x="914399" y="2631720"/>
            <a:ext cx="1016003"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01</a:t>
            </a:r>
          </a:p>
        </p:txBody>
      </p:sp>
      <p:sp>
        <p:nvSpPr>
          <p:cNvPr id="195" name="Clean"/>
          <p:cNvSpPr txBox="1"/>
          <p:nvPr/>
        </p:nvSpPr>
        <p:spPr>
          <a:xfrm>
            <a:off x="1905000" y="2669820"/>
            <a:ext cx="2286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Clean</a:t>
            </a:r>
          </a:p>
        </p:txBody>
      </p:sp>
      <p:sp>
        <p:nvSpPr>
          <p:cNvPr id="196" name="parse dates · sort by ticker · audit missing and duplicate rows"/>
          <p:cNvSpPr txBox="1"/>
          <p:nvPr/>
        </p:nvSpPr>
        <p:spPr>
          <a:xfrm>
            <a:off x="1905000" y="3336571"/>
            <a:ext cx="5080000" cy="680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parse dates · sort by ticker · audit missing and duplicate rows</a:t>
            </a:r>
          </a:p>
        </p:txBody>
      </p:sp>
      <p:sp>
        <p:nvSpPr>
          <p:cNvPr id="197" name="02"/>
          <p:cNvSpPr txBox="1"/>
          <p:nvPr/>
        </p:nvSpPr>
        <p:spPr>
          <a:xfrm>
            <a:off x="8407399" y="2631720"/>
            <a:ext cx="1016003"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02</a:t>
            </a:r>
          </a:p>
        </p:txBody>
      </p:sp>
      <p:sp>
        <p:nvSpPr>
          <p:cNvPr id="198" name="Transform"/>
          <p:cNvSpPr txBox="1"/>
          <p:nvPr/>
        </p:nvSpPr>
        <p:spPr>
          <a:xfrm>
            <a:off x="9398000" y="2669820"/>
            <a:ext cx="2794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Transform</a:t>
            </a:r>
          </a:p>
        </p:txBody>
      </p:sp>
      <p:sp>
        <p:nvSpPr>
          <p:cNvPr id="199" name="daily returns · index-to-100 · monthly absolute returns"/>
          <p:cNvSpPr txBox="1"/>
          <p:nvPr/>
        </p:nvSpPr>
        <p:spPr>
          <a:xfrm>
            <a:off x="9398000" y="3336571"/>
            <a:ext cx="5080000" cy="680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daily returns · index-to-100 · monthly absolute returns</a:t>
            </a:r>
          </a:p>
        </p:txBody>
      </p:sp>
      <p:sp>
        <p:nvSpPr>
          <p:cNvPr id="200" name="03"/>
          <p:cNvSpPr txBox="1"/>
          <p:nvPr/>
        </p:nvSpPr>
        <p:spPr>
          <a:xfrm>
            <a:off x="914399" y="4739921"/>
            <a:ext cx="1016003"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03</a:t>
            </a:r>
          </a:p>
        </p:txBody>
      </p:sp>
      <p:sp>
        <p:nvSpPr>
          <p:cNvPr id="201" name="Test"/>
          <p:cNvSpPr txBox="1"/>
          <p:nvPr/>
        </p:nvSpPr>
        <p:spPr>
          <a:xfrm>
            <a:off x="1905000" y="4778021"/>
            <a:ext cx="2286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Test</a:t>
            </a:r>
          </a:p>
        </p:txBody>
      </p:sp>
      <p:sp>
        <p:nvSpPr>
          <p:cNvPr id="202" name="group performance · Welch t-test · crisis correlations"/>
          <p:cNvSpPr txBox="1"/>
          <p:nvPr/>
        </p:nvSpPr>
        <p:spPr>
          <a:xfrm>
            <a:off x="1905000" y="5444771"/>
            <a:ext cx="5080000" cy="680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group performance · Welch t-test · crisis correlations</a:t>
            </a:r>
          </a:p>
        </p:txBody>
      </p:sp>
      <p:sp>
        <p:nvSpPr>
          <p:cNvPr id="203" name="04"/>
          <p:cNvSpPr txBox="1"/>
          <p:nvPr/>
        </p:nvSpPr>
        <p:spPr>
          <a:xfrm>
            <a:off x="8407399" y="4739921"/>
            <a:ext cx="1016003"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04</a:t>
            </a:r>
          </a:p>
        </p:txBody>
      </p:sp>
      <p:sp>
        <p:nvSpPr>
          <p:cNvPr id="204" name="Communicate"/>
          <p:cNvSpPr txBox="1"/>
          <p:nvPr/>
        </p:nvSpPr>
        <p:spPr>
          <a:xfrm>
            <a:off x="9398000" y="4778021"/>
            <a:ext cx="3048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Communicate</a:t>
            </a:r>
          </a:p>
        </p:txBody>
      </p:sp>
      <p:sp>
        <p:nvSpPr>
          <p:cNvPr id="205" name="takeaway titles · direct labels · honest limitations"/>
          <p:cNvSpPr txBox="1"/>
          <p:nvPr/>
        </p:nvSpPr>
        <p:spPr>
          <a:xfrm>
            <a:off x="9398000" y="5603521"/>
            <a:ext cx="50800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takeaway titles · direct labels · honest limitations</a:t>
            </a:r>
          </a:p>
        </p:txBody>
      </p:sp>
      <p:sp>
        <p:nvSpPr>
          <p:cNvPr id="206" name="PYTHON"/>
          <p:cNvSpPr txBox="1"/>
          <p:nvPr/>
        </p:nvSpPr>
        <p:spPr>
          <a:xfrm>
            <a:off x="914400" y="7076722"/>
            <a:ext cx="1524000"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pPr/>
            <a:r>
              <a:t>PYTHON</a:t>
            </a:r>
          </a:p>
        </p:txBody>
      </p:sp>
      <p:sp>
        <p:nvSpPr>
          <p:cNvPr id="207" name="EDA, visualization, hypothesis testing, interactive prototypes"/>
          <p:cNvSpPr txBox="1"/>
          <p:nvPr/>
        </p:nvSpPr>
        <p:spPr>
          <a:xfrm>
            <a:off x="2476500" y="6911622"/>
            <a:ext cx="5461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EDA, visualization, hypothesis testing, interactive prototypes</a:t>
            </a:r>
          </a:p>
        </p:txBody>
      </p:sp>
      <p:sp>
        <p:nvSpPr>
          <p:cNvPr id="208" name="R"/>
          <p:cNvSpPr txBox="1"/>
          <p:nvPr/>
        </p:nvSpPr>
        <p:spPr>
          <a:xfrm>
            <a:off x="8635999" y="7076722"/>
            <a:ext cx="571503"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pPr/>
            <a:r>
              <a:t>R</a:t>
            </a:r>
          </a:p>
        </p:txBody>
      </p:sp>
      <p:sp>
        <p:nvSpPr>
          <p:cNvPr id="209" name="replication, reshaping, lubridate monthly bins, dplyr/data.table"/>
          <p:cNvSpPr txBox="1"/>
          <p:nvPr/>
        </p:nvSpPr>
        <p:spPr>
          <a:xfrm>
            <a:off x="9271000" y="7000522"/>
            <a:ext cx="5969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replication, reshaping, lubridate monthly bins, dplyr/data.table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SETUP</a:t>
            </a:r>
          </a:p>
        </p:txBody>
      </p:sp>
      <p:sp>
        <p:nvSpPr>
          <p:cNvPr id="214" name="14"/>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5</a:t>
            </a:r>
          </a:p>
        </p:txBody>
      </p:sp>
      <p:sp>
        <p:nvSpPr>
          <p:cNvPr id="215" name="Definitions behind the headline results"/>
          <p:cNvSpPr txBox="1"/>
          <p:nvPr/>
        </p:nvSpPr>
        <p:spPr>
          <a:xfrm>
            <a:off x="914400" y="948970"/>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Three hypotheses compare two groups across four periods</a:t>
            </a:r>
          </a:p>
        </p:txBody>
      </p:sp>
      <p:sp>
        <p:nvSpPr>
          <p:cNvPr id="216" name="These choices keep each claim reproducible and appropriately narrow."/>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H1 technology concentration  ·  H2 regional correlation  ·  H3 panic volatility and volume</a:t>
            </a:r>
          </a:p>
        </p:txBody>
      </p:sp>
      <p:sp>
        <p:nvSpPr>
          <p:cNvPr id="217"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pPr/>
            <a:r>
              <a:t>HISTORICAL STOCK ANALYSIS  /  HYPOTHESIS SETUP</a:t>
            </a:r>
          </a:p>
        </p:txBody>
      </p:sp>
      <p:sp>
        <p:nvSpPr>
          <p:cNvPr id="218"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5</a:t>
            </a:r>
          </a:p>
        </p:txBody>
      </p:sp>
      <p:sp>
        <p:nvSpPr>
          <p:cNvPr id="219" name="H1 GROUPS"/>
          <p:cNvSpPr txBox="1"/>
          <p:nvPr/>
        </p:nvSpPr>
        <p:spPr>
          <a:xfrm>
            <a:off x="914399" y="2593621"/>
            <a:ext cx="3302003"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pPr/>
            <a:r>
              <a:t>TECHNOLOGY GROUPS</a:t>
            </a:r>
          </a:p>
        </p:txBody>
      </p:sp>
      <p:sp>
        <p:nvSpPr>
          <p:cNvPr id="220" name="Chip / AI"/>
          <p:cNvSpPr txBox="1"/>
          <p:nvPr/>
        </p:nvSpPr>
        <p:spPr>
          <a:xfrm>
            <a:off x="914400" y="3095270"/>
            <a:ext cx="2667000" cy="438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Chip / AI</a:t>
            </a:r>
          </a:p>
        </p:txBody>
      </p:sp>
      <p:sp>
        <p:nvSpPr>
          <p:cNvPr id="221"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NVDA · AVGO · TSM · ASML · AMD · MU · LRCX</a:t>
            </a:r>
          </a:p>
        </p:txBody>
      </p:sp>
      <p:sp>
        <p:nvSpPr>
          <p:cNvPr id="222"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Broader tech</a:t>
            </a:r>
          </a:p>
        </p:txBody>
      </p:sp>
      <p:sp>
        <p:nvSpPr>
          <p:cNvPr id="223"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AAPL · MSFT · GOOGL · AMZN · META · NFLX · ORCL · CSCO</a:t>
            </a:r>
          </a:p>
        </p:txBody>
      </p:sp>
      <p:sp>
        <p:nvSpPr>
          <p:cNvPr id="224"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Indexed value = 100 × Adj Close / starting Adj Close</a:t>
            </a:r>
          </a:p>
        </p:txBody>
      </p:sp>
      <p:sp>
        <p:nvSpPr>
          <p:cNvPr id="225" name="H2 PERIODS"/>
          <p:cNvSpPr txBox="1"/>
          <p:nvPr/>
        </p:nvSpPr>
        <p:spPr>
          <a:xfrm>
            <a:off x="8407400" y="2593621"/>
            <a:ext cx="3048000"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pPr/>
            <a:r>
              <a:t>MARKET PERIODS</a:t>
            </a:r>
          </a:p>
        </p:txBody>
      </p:sp>
      <p:sp>
        <p:nvSpPr>
          <p:cNvPr id="226" name="Calm"/>
          <p:cNvSpPr txBox="1"/>
          <p:nvPr/>
        </p:nvSpPr>
        <p:spPr>
          <a:xfrm>
            <a:off x="8407399" y="2987321"/>
            <a:ext cx="3302002"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Calm</a:t>
            </a:r>
          </a:p>
        </p:txBody>
      </p:sp>
      <p:sp>
        <p:nvSpPr>
          <p:cNvPr id="227" name="2015–2017"/>
          <p:cNvSpPr txBox="1"/>
          <p:nvPr/>
        </p:nvSpPr>
        <p:spPr>
          <a:xfrm>
            <a:off x="8407400" y="380012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2015–2017 · comparison baseline without a major global shock</a:t>
            </a:r>
          </a:p>
        </p:txBody>
      </p:sp>
      <p:sp>
        <p:nvSpPr>
          <p:cNvPr id="228" name="2008 crisis"/>
          <p:cNvSpPr txBox="1"/>
          <p:nvPr/>
        </p:nvSpPr>
        <p:spPr>
          <a:xfrm>
            <a:off x="8407399" y="4003321"/>
            <a:ext cx="3302003"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2008 crisis</a:t>
            </a:r>
          </a:p>
        </p:txBody>
      </p:sp>
      <p:sp>
        <p:nvSpPr>
          <p:cNvPr id="229" name="calendar year 2008"/>
          <p:cNvSpPr txBox="1"/>
          <p:nvPr/>
        </p:nvSpPr>
        <p:spPr>
          <a:xfrm>
            <a:off x="8407400" y="481612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Global financial crisis after a housing and banking collapse</a:t>
            </a:r>
          </a:p>
        </p:txBody>
      </p:sp>
      <p:sp>
        <p:nvSpPr>
          <p:cNvPr id="230" name="2020 crash"/>
          <p:cNvSpPr txBox="1"/>
          <p:nvPr/>
        </p:nvSpPr>
        <p:spPr>
          <a:xfrm>
            <a:off x="8407399" y="5019321"/>
            <a:ext cx="3302003"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2020 crash</a:t>
            </a:r>
          </a:p>
        </p:txBody>
      </p:sp>
      <p:sp>
        <p:nvSpPr>
          <p:cNvPr id="231" name="February–April 2020"/>
          <p:cNvSpPr txBox="1"/>
          <p:nvPr/>
        </p:nvSpPr>
        <p:spPr>
          <a:xfrm>
            <a:off x="8407400" y="567337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Rapid COVID-19 selloff during the first global lockdowns</a:t>
            </a:r>
          </a:p>
        </p:txBody>
      </p:sp>
      <p:sp>
        <p:nvSpPr>
          <p:cNvPr id="232" name="2022 drawdown"/>
          <p:cNvSpPr txBox="1"/>
          <p:nvPr/>
        </p:nvSpPr>
        <p:spPr>
          <a:xfrm>
            <a:off x="8407399" y="6035321"/>
            <a:ext cx="3556003"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2022 drawdown</a:t>
            </a:r>
          </a:p>
        </p:txBody>
      </p:sp>
      <p:sp>
        <p:nvSpPr>
          <p:cNvPr id="233"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Slower decline amid inflation and aggressive interest-rate hikes</a:t>
            </a:r>
          </a:p>
        </p:txBody>
      </p:sp>
      <p:sp>
        <p:nvSpPr>
          <p:cNvPr id="234"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pPr/>
            <a:r>
              <a:t>Correlation: 0 means independent movement; 1 means moving together</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1</a:t>
            </a:r>
          </a:p>
        </p:txBody>
      </p:sp>
      <p:sp>
        <p:nvSpPr>
          <p:cNvPr id="239" name="7"/>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6</a:t>
            </a:r>
          </a:p>
        </p:txBody>
      </p:sp>
      <p:sp>
        <p:nvSpPr>
          <p:cNvPr id="240"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The selected chip/AI group pulled decisively ahead</a:t>
            </a:r>
          </a:p>
        </p:txBody>
      </p:sp>
      <p:sp>
        <p:nvSpPr>
          <p:cNvPr id="241" name="Indexed group averages from 2023-01-03 to 2026-02-20."/>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Indexed group averages from 2023-01-03 to 2026-02-20.</a:t>
            </a:r>
          </a:p>
        </p:txBody>
      </p:sp>
      <p:sp>
        <p:nvSpPr>
          <p:cNvPr id="242"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1</a:t>
            </a:r>
          </a:p>
        </p:txBody>
      </p:sp>
      <p:sp>
        <p:nvSpPr>
          <p:cNvPr id="243"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6</a:t>
            </a:r>
          </a:p>
        </p:txBody>
      </p:sp>
      <p:pic>
        <p:nvPicPr>
          <p:cNvPr id="244" name="figure_a_ai_rally.png" descr="figure_a_ai_rally.png"/>
          <p:cNvPicPr>
            <a:picLocks noChangeAspect="1"/>
          </p:cNvPicPr>
          <p:nvPr/>
        </p:nvPicPr>
        <p:blipFill>
          <a:blip r:embed="rId3">
            <a:extLst/>
          </a:blip>
          <a:stretch>
            <a:fillRect/>
          </a:stretch>
        </p:blipFill>
        <p:spPr>
          <a:xfrm>
            <a:off x="914400" y="2387599"/>
            <a:ext cx="9849044" cy="5803902"/>
          </a:xfrm>
          <a:prstGeom prst="rect">
            <a:avLst/>
          </a:prstGeom>
          <a:ln w="12700">
            <a:miter lim="400000"/>
          </a:ln>
        </p:spPr>
      </p:pic>
      <p:sp>
        <p:nvSpPr>
          <p:cNvPr id="245" name="+549%"/>
          <p:cNvSpPr txBox="1"/>
          <p:nvPr/>
        </p:nvSpPr>
        <p:spPr>
          <a:xfrm>
            <a:off x="11810999" y="2771420"/>
            <a:ext cx="3175003"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+549%</a:t>
            </a:r>
          </a:p>
        </p:txBody>
      </p:sp>
      <p:sp>
        <p:nvSpPr>
          <p:cNvPr id="246"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chip / AI group</a:t>
            </a:r>
          </a:p>
        </p:txBody>
      </p:sp>
      <p:sp>
        <p:nvSpPr>
          <p:cNvPr id="247" name="+168%"/>
          <p:cNvSpPr txBox="1"/>
          <p:nvPr/>
        </p:nvSpPr>
        <p:spPr>
          <a:xfrm>
            <a:off x="11810999" y="4295421"/>
            <a:ext cx="3175003"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+168%</a:t>
            </a:r>
          </a:p>
        </p:txBody>
      </p:sp>
      <p:sp>
        <p:nvSpPr>
          <p:cNvPr id="248" name="broader-tech group"/>
          <p:cNvSpPr txBox="1"/>
          <p:nvPr/>
        </p:nvSpPr>
        <p:spPr>
          <a:xfrm>
            <a:off x="11861799" y="5101871"/>
            <a:ext cx="3175003"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broader-tech group</a:t>
            </a:r>
          </a:p>
        </p:txBody>
      </p:sp>
      <p:sp>
        <p:nvSpPr>
          <p:cNvPr id="249"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0.26% vs 0.14%</a:t>
            </a:r>
          </a:p>
        </p:txBody>
      </p:sp>
      <p:sp>
        <p:nvSpPr>
          <p:cNvPr id="250" name="mean daily return"/>
          <p:cNvSpPr txBox="1"/>
          <p:nvPr/>
        </p:nvSpPr>
        <p:spPr>
          <a:xfrm>
            <a:off x="11861799" y="6498871"/>
            <a:ext cx="3175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mean daily return</a:t>
            </a:r>
          </a:p>
        </p:txBody>
      </p:sp>
      <p:sp>
        <p:nvSpPr>
          <p:cNvPr id="251"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pPr/>
            <a:r>
              <a:t>Welch p = 0.0073</a:t>
            </a:r>
          </a:p>
        </p:txBody>
      </p:sp>
      <p:sp>
        <p:nvSpPr>
          <p:cNvPr id="252"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H1 is supported for these selected groups—not for every company linked to AI.</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2</a:t>
            </a:r>
          </a:p>
        </p:txBody>
      </p:sp>
      <p:sp>
        <p:nvSpPr>
          <p:cNvPr id="257" name="8"/>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7</a:t>
            </a:r>
          </a:p>
        </p:txBody>
      </p:sp>
      <p:sp>
        <p:nvSpPr>
          <p:cNvPr id="258"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Regional diversification weakened most in the 2020 crash</a:t>
            </a:r>
          </a:p>
        </p:txBody>
      </p:sp>
      <p:sp>
        <p:nvSpPr>
          <p:cNvPr id="259" name="Average pairwise correlations after widening the available regional baskets."/>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Average pairwise correlations after widening the available regional baskets.</a:t>
            </a:r>
          </a:p>
        </p:txBody>
      </p:sp>
      <p:sp>
        <p:nvSpPr>
          <p:cNvPr id="260"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2</a:t>
            </a:r>
          </a:p>
        </p:txBody>
      </p:sp>
      <p:sp>
        <p:nvSpPr>
          <p:cNvPr id="261"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7</a:t>
            </a:r>
          </a:p>
        </p:txBody>
      </p:sp>
      <p:pic>
        <p:nvPicPr>
          <p:cNvPr id="262" name="ec1_f_widened_basket.png" descr="ec1_f_widened_basket.png"/>
          <p:cNvPicPr>
            <a:picLocks noChangeAspect="1"/>
          </p:cNvPicPr>
          <p:nvPr/>
        </p:nvPicPr>
        <p:blipFill>
          <a:blip r:embed="rId3">
            <a:extLst/>
          </a:blip>
          <a:stretch>
            <a:fillRect/>
          </a:stretch>
        </p:blipFill>
        <p:spPr>
          <a:xfrm>
            <a:off x="914400" y="2540000"/>
            <a:ext cx="10625247" cy="3898900"/>
          </a:xfrm>
          <a:prstGeom prst="rect">
            <a:avLst/>
          </a:prstGeom>
          <a:ln w="12700">
            <a:miter lim="400000"/>
          </a:ln>
        </p:spPr>
      </p:pic>
      <p:sp>
        <p:nvSpPr>
          <p:cNvPr id="263" name="0.282"/>
          <p:cNvSpPr txBox="1"/>
          <p:nvPr/>
        </p:nvSpPr>
        <p:spPr>
          <a:xfrm>
            <a:off x="12700000" y="2777770"/>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pPr/>
            <a:r>
              <a:t>0.282</a:t>
            </a:r>
          </a:p>
        </p:txBody>
      </p:sp>
      <p:sp>
        <p:nvSpPr>
          <p:cNvPr id="264"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calm</a:t>
            </a:r>
          </a:p>
        </p:txBody>
      </p:sp>
      <p:sp>
        <p:nvSpPr>
          <p:cNvPr id="265"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pPr/>
            <a:r>
              <a:t>0.326</a:t>
            </a:r>
          </a:p>
        </p:txBody>
      </p:sp>
      <p:sp>
        <p:nvSpPr>
          <p:cNvPr id="266"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2008</a:t>
            </a:r>
          </a:p>
        </p:txBody>
      </p:sp>
      <p:sp>
        <p:nvSpPr>
          <p:cNvPr id="267"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pPr/>
            <a:r>
              <a:t>0.539</a:t>
            </a:r>
          </a:p>
        </p:txBody>
      </p:sp>
      <p:sp>
        <p:nvSpPr>
          <p:cNvPr id="268"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2020</a:t>
            </a:r>
          </a:p>
        </p:txBody>
      </p:sp>
      <p:sp>
        <p:nvSpPr>
          <p:cNvPr id="269"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The 2008 estimate became more crisis-like after widening the basket, but Paris still has one stock and Korea/Switzerland remain sector-narrow.</a:t>
            </a:r>
          </a:p>
        </p:txBody>
      </p:sp>
      <p:sp>
        <p:nvSpPr>
          <p:cNvPr id="270"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H2 is strongly supported for 2020 and directionally supported for 2008.</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3</a:t>
            </a:r>
          </a:p>
        </p:txBody>
      </p:sp>
      <p:sp>
        <p:nvSpPr>
          <p:cNvPr id="275" name="9"/>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8</a:t>
            </a:r>
          </a:p>
        </p:txBody>
      </p:sp>
      <p:sp>
        <p:nvSpPr>
          <p:cNvPr id="276"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Panic months produced the largest volatility spikes</a:t>
            </a:r>
          </a:p>
        </p:txBody>
      </p:sp>
      <p:sp>
        <p:nvSpPr>
          <p:cNvPr id="277" name="Equal-weighted mean absolute daily return by month across available tickers."/>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Equal-weighted mean absolute daily return by month across available tickers.</a:t>
            </a:r>
          </a:p>
        </p:txBody>
      </p:sp>
      <p:sp>
        <p:nvSpPr>
          <p:cNvPr id="278"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3</a:t>
            </a:r>
          </a:p>
        </p:txBody>
      </p:sp>
      <p:sp>
        <p:nvSpPr>
          <p:cNvPr id="279"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8</a:t>
            </a:r>
          </a:p>
        </p:txBody>
      </p:sp>
      <p:pic>
        <p:nvPicPr>
          <p:cNvPr id="280" name="b2_monthly_absolute_return.png" descr="b2_monthly_absolute_return.png"/>
          <p:cNvPicPr>
            <a:picLocks noChangeAspect="1"/>
          </p:cNvPicPr>
          <p:nvPr/>
        </p:nvPicPr>
        <p:blipFill>
          <a:blip r:embed="rId3">
            <a:extLst/>
          </a:blip>
          <a:stretch>
            <a:fillRect/>
          </a:stretch>
        </p:blipFill>
        <p:spPr>
          <a:xfrm>
            <a:off x="914400" y="2362200"/>
            <a:ext cx="10916223" cy="6261100"/>
          </a:xfrm>
          <a:prstGeom prst="rect">
            <a:avLst/>
          </a:prstGeom>
          <a:ln w="12700">
            <a:miter lim="400000"/>
          </a:ln>
        </p:spPr>
      </p:pic>
      <p:sp>
        <p:nvSpPr>
          <p:cNvPr id="281" name="OCT 2008"/>
          <p:cNvSpPr txBox="1"/>
          <p:nvPr/>
        </p:nvSpPr>
        <p:spPr>
          <a:xfrm>
            <a:off x="12522200" y="3088920"/>
            <a:ext cx="2413001"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OCT 2008</a:t>
            </a:r>
          </a:p>
        </p:txBody>
      </p:sp>
      <p:sp>
        <p:nvSpPr>
          <p:cNvPr id="282"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4.82%</a:t>
            </a:r>
          </a:p>
        </p:txBody>
      </p:sp>
      <p:sp>
        <p:nvSpPr>
          <p:cNvPr id="283"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MAR 2020</a:t>
            </a:r>
          </a:p>
        </p:txBody>
      </p:sp>
      <p:sp>
        <p:nvSpPr>
          <p:cNvPr id="284"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4.67%</a:t>
            </a:r>
          </a:p>
        </p:txBody>
      </p:sp>
      <p:sp>
        <p:nvSpPr>
          <p:cNvPr id="285" name="Independent monthly aggregation reaches the same crisis conclusion."/>
          <p:cNvSpPr txBox="1"/>
          <p:nvPr/>
        </p:nvSpPr>
        <p:spPr>
          <a:xfrm>
            <a:off x="12471399" y="6479821"/>
            <a:ext cx="2794003" cy="1035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pPr/>
            <a:r>
              <a:t>Independent monthly aggregation reaches the same crisis conclusion.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290" name="10"/>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9</a:t>
            </a:r>
          </a:p>
        </p:txBody>
      </p:sp>
      <p:sp>
        <p:nvSpPr>
          <p:cNvPr id="291"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A log scale reveals the growth stories hidden by the linear chart</a:t>
            </a:r>
          </a:p>
        </p:txBody>
      </p:sp>
      <p:sp>
        <p:nvSpPr>
          <p:cNvPr id="292" name="Same data and rebasing; only the visual encoding changes."/>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Same data and rebasing; only the visual encoding changes.</a:t>
            </a:r>
          </a:p>
        </p:txBody>
      </p:sp>
      <p:sp>
        <p:nvSpPr>
          <p:cNvPr id="293"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294"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9</a:t>
            </a:r>
          </a:p>
        </p:txBody>
      </p:sp>
      <p:sp>
        <p:nvSpPr>
          <p:cNvPr id="295" name="BEFORE  ·  LINEAR"/>
          <p:cNvSpPr txBox="1"/>
          <p:nvPr/>
        </p:nvSpPr>
        <p:spPr>
          <a:xfrm>
            <a:off x="914400" y="2269770"/>
            <a:ext cx="508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pPr/>
            <a:r>
              <a:t>BEFORE  ·  LINEAR</a:t>
            </a:r>
          </a:p>
        </p:txBody>
      </p:sp>
      <p:sp>
        <p:nvSpPr>
          <p:cNvPr id="296" name="AFTER  ·  LOG"/>
          <p:cNvSpPr txBox="1"/>
          <p:nvPr/>
        </p:nvSpPr>
        <p:spPr>
          <a:xfrm>
            <a:off x="8255000" y="2269770"/>
            <a:ext cx="508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AFTER  ·  LOG</a:t>
            </a:r>
          </a:p>
        </p:txBody>
      </p:sp>
      <p:pic>
        <p:nvPicPr>
          <p:cNvPr id="297" name="ec1_a_before.png" descr="ec1_a_before.png"/>
          <p:cNvPicPr>
            <a:picLocks noChangeAspect="1"/>
          </p:cNvPicPr>
          <p:nvPr/>
        </p:nvPicPr>
        <p:blipFill>
          <a:blip r:embed="rId3">
            <a:extLst/>
          </a:blip>
          <a:stretch>
            <a:fillRect/>
          </a:stretch>
        </p:blipFill>
        <p:spPr>
          <a:xfrm>
            <a:off x="914400" y="2641600"/>
            <a:ext cx="6962258" cy="4178300"/>
          </a:xfrm>
          <a:prstGeom prst="rect">
            <a:avLst/>
          </a:prstGeom>
          <a:ln w="12700">
            <a:miter lim="400000"/>
          </a:ln>
        </p:spPr>
      </p:pic>
      <p:pic>
        <p:nvPicPr>
          <p:cNvPr id="298" name="ec1_a_after.png" descr="ec1_a_after.png"/>
          <p:cNvPicPr>
            <a:picLocks noChangeAspect="1"/>
          </p:cNvPicPr>
          <p:nvPr/>
        </p:nvPicPr>
        <p:blipFill>
          <a:blip r:embed="rId4">
            <a:extLst/>
          </a:blip>
          <a:stretch>
            <a:fillRect/>
          </a:stretch>
        </p:blipFill>
        <p:spPr>
          <a:xfrm>
            <a:off x="8255000" y="2641600"/>
            <a:ext cx="6966985" cy="4178300"/>
          </a:xfrm>
          <a:prstGeom prst="rect">
            <a:avLst/>
          </a:prstGeom>
          <a:ln w="12700">
            <a:miter lim="400000"/>
          </a:ln>
        </p:spPr>
      </p:pic>
      <p:sp>
        <p:nvSpPr>
          <p:cNvPr id="299"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NVDA and AVGO dominate the absolute range, compressing four lines near the baseline.</a:t>
            </a:r>
          </a:p>
        </p:txBody>
      </p:sp>
      <p:sp>
        <p:nvSpPr>
          <p:cNvPr id="300"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Equal vertical distance now represents equal proportional change; all six series remain legible.</a:t>
            </a:r>
          </a:p>
        </p:txBody>
      </p:sp>
      <p:sp>
        <p:nvSpPr>
          <p:cNvPr id="301"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Principles applied: appropriate scale  ·  direct labels  ·  less non-data ink  ·  better pre-attentive separation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306" name="11"/>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10</a:t>
            </a:r>
          </a:p>
        </p:txBody>
      </p:sp>
      <p:sp>
        <p:nvSpPr>
          <p:cNvPr id="307" name="Diversification is present—but thinner when it matters most"/>
          <p:cNvSpPr txBox="1"/>
          <p:nvPr/>
        </p:nvSpPr>
        <p:spPr>
          <a:xfrm>
            <a:off x="914400" y="948970"/>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Diversification is thinner when it matters most</a:t>
            </a:r>
          </a:p>
        </p:txBody>
      </p:sp>
      <p:sp>
        <p:nvSpPr>
          <p:cNvPr id="308" name="The three hypotheses agree on the central story while keeping their boundaries visible."/>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All three hypotheses support the central story, within clear limits.</a:t>
            </a:r>
          </a:p>
        </p:txBody>
      </p:sp>
      <p:sp>
        <p:nvSpPr>
          <p:cNvPr id="309"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310"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10</a:t>
            </a:r>
          </a:p>
        </p:txBody>
      </p:sp>
      <p:sp>
        <p:nvSpPr>
          <p:cNvPr id="311" name="01"/>
          <p:cNvSpPr txBox="1"/>
          <p:nvPr/>
        </p:nvSpPr>
        <p:spPr>
          <a:xfrm>
            <a:off x="914399" y="2587270"/>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pPr/>
            <a:r>
              <a:t>01</a:t>
            </a:r>
          </a:p>
        </p:txBody>
      </p:sp>
      <p:sp>
        <p:nvSpPr>
          <p:cNvPr id="312" name="Technology leadership was concentrated"/>
          <p:cNvSpPr txBox="1"/>
          <p:nvPr/>
        </p:nvSpPr>
        <p:spPr>
          <a:xfrm>
            <a:off x="2006600" y="2561870"/>
            <a:ext cx="8255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Technology leadership was concentrated</a:t>
            </a:r>
          </a:p>
        </p:txBody>
      </p:sp>
      <p:sp>
        <p:nvSpPr>
          <p:cNvPr id="313" name="The selected chip/AI group gained 549% versus 168% for broader tech."/>
          <p:cNvSpPr txBox="1"/>
          <p:nvPr/>
        </p:nvSpPr>
        <p:spPr>
          <a:xfrm>
            <a:off x="2006600" y="3152420"/>
            <a:ext cx="11049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The selected chip/AI group gained 549% versus 168% for broader tech.</a:t>
            </a:r>
          </a:p>
        </p:txBody>
      </p:sp>
      <p:sp>
        <p:nvSpPr>
          <p:cNvPr id="314" name="02"/>
          <p:cNvSpPr txBox="1"/>
          <p:nvPr/>
        </p:nvSpPr>
        <p:spPr>
          <a:xfrm>
            <a:off x="914399" y="4174771"/>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pPr/>
            <a:r>
              <a:t>02</a:t>
            </a:r>
          </a:p>
        </p:txBody>
      </p:sp>
      <p:sp>
        <p:nvSpPr>
          <p:cNvPr id="315"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Regional protection weakened in sudden stress</a:t>
            </a:r>
          </a:p>
        </p:txBody>
      </p:sp>
      <p:sp>
        <p:nvSpPr>
          <p:cNvPr id="316"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Average correlation peaked at 0.539 in the 2020 crash.</a:t>
            </a:r>
          </a:p>
        </p:txBody>
      </p:sp>
      <p:sp>
        <p:nvSpPr>
          <p:cNvPr id="317" name="03"/>
          <p:cNvSpPr txBox="1"/>
          <p:nvPr/>
        </p:nvSpPr>
        <p:spPr>
          <a:xfrm>
            <a:off x="914399" y="5762271"/>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pPr/>
            <a:r>
              <a:t>03</a:t>
            </a:r>
          </a:p>
        </p:txBody>
      </p:sp>
      <p:sp>
        <p:nvSpPr>
          <p:cNvPr id="318"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Volatility independently confirmed the panic signal</a:t>
            </a:r>
          </a:p>
        </p:txBody>
      </p:sp>
      <p:sp>
        <p:nvSpPr>
          <p:cNvPr id="319"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defRPr>
            </a:lvl1pPr>
          </a:lstStyle>
          <a:p>
            <a:pPr/>
            <a:r>
              <a:t>October 2008 and March 2020 were the largest monthly spikes.</a:t>
            </a:r>
          </a:p>
        </p:txBody>
      </p:sp>
      <p:sp>
        <p:nvSpPr>
          <p:cNvPr id="320"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pPr/>
            <a:r>
              <a:t>What we can claim: patterns in this dataset.  What we cannot claim: causality, forecasting, or a universal market law.</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325" name="11"/>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11</a:t>
            </a:r>
          </a:p>
        </p:txBody>
      </p:sp>
      <p:sp>
        <p:nvSpPr>
          <p:cNvPr id="326" name="Diversification is present—but thinner when it matters most"/>
          <p:cNvSpPr txBox="1"/>
          <p:nvPr/>
        </p:nvSpPr>
        <p:spPr>
          <a:xfrm>
            <a:off x="914400" y="948970"/>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The evidence is strong, but deliberately narrow</a:t>
            </a:r>
          </a:p>
        </p:txBody>
      </p:sp>
      <p:sp>
        <p:nvSpPr>
          <p:cNvPr id="327" name="The three hypotheses agree on the central story while keeping their boundaries visible."/>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Coverage and measurement limits define what the findings can support.</a:t>
            </a:r>
          </a:p>
        </p:txBody>
      </p:sp>
      <p:sp>
        <p:nvSpPr>
          <p:cNvPr id="328"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329"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11</a:t>
            </a:r>
          </a:p>
        </p:txBody>
      </p:sp>
      <p:sp>
        <p:nvSpPr>
          <p:cNvPr id="330" name="01"/>
          <p:cNvSpPr txBox="1"/>
          <p:nvPr/>
        </p:nvSpPr>
        <p:spPr>
          <a:xfrm>
            <a:off x="914399" y="2587270"/>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pPr/>
            <a:r>
              <a:t>01</a:t>
            </a:r>
          </a:p>
        </p:txBody>
      </p:sp>
      <p:sp>
        <p:nvSpPr>
          <p:cNvPr id="331" name="Technology leadership was concentrated"/>
          <p:cNvSpPr txBox="1"/>
          <p:nvPr/>
        </p:nvSpPr>
        <p:spPr>
          <a:xfrm>
            <a:off x="2006600" y="2561870"/>
            <a:ext cx="8255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Regional coverage remains uneven</a:t>
            </a:r>
          </a:p>
        </p:txBody>
      </p:sp>
      <p:sp>
        <p:nvSpPr>
          <p:cNvPr id="332" name="The selected chip/AI group gained 549% versus 168% for broader tech."/>
          <p:cNvSpPr txBox="1"/>
          <p:nvPr/>
        </p:nvSpPr>
        <p:spPr>
          <a:xfrm>
            <a:off x="2006600" y="2987322"/>
            <a:ext cx="11049000" cy="705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The United States dominates; Paris has one stock, while Korea and Switzerland remain sector-narrow.</a:t>
            </a:r>
          </a:p>
        </p:txBody>
      </p:sp>
      <p:sp>
        <p:nvSpPr>
          <p:cNvPr id="333" name="02"/>
          <p:cNvSpPr txBox="1"/>
          <p:nvPr/>
        </p:nvSpPr>
        <p:spPr>
          <a:xfrm>
            <a:off x="914399" y="4174771"/>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pPr/>
            <a:r>
              <a:t>02</a:t>
            </a:r>
          </a:p>
        </p:txBody>
      </p:sp>
      <p:sp>
        <p:nvSpPr>
          <p:cNvPr id="334"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Volume is activity, not market value</a:t>
            </a:r>
          </a:p>
        </p:txBody>
      </p:sp>
      <p:sp>
        <p:nvSpPr>
          <p:cNvPr id="335"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Share-count volume is affected by splits and is not directly comparable across companies.</a:t>
            </a:r>
          </a:p>
        </p:txBody>
      </p:sp>
      <p:sp>
        <p:nvSpPr>
          <p:cNvPr id="336" name="03"/>
          <p:cNvSpPr txBox="1"/>
          <p:nvPr/>
        </p:nvSpPr>
        <p:spPr>
          <a:xfrm>
            <a:off x="914399" y="5762271"/>
            <a:ext cx="889003"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pPr/>
            <a:r>
              <a:t>03</a:t>
            </a:r>
          </a:p>
        </p:txBody>
      </p:sp>
      <p:sp>
        <p:nvSpPr>
          <p:cNvPr id="337"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The results are descriptive</a:t>
            </a:r>
          </a:p>
        </p:txBody>
      </p:sp>
      <p:sp>
        <p:nvSpPr>
          <p:cNvPr id="338"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defRPr>
            </a:lvl1pPr>
          </a:lstStyle>
          <a:p>
            <a:pPr/>
            <a:r>
              <a:t>They support patterns in this dataset—not causality, forecasting, or a universal market law.</a:t>
            </a:r>
          </a:p>
        </p:txBody>
      </p:sp>
      <p:sp>
        <p:nvSpPr>
          <p:cNvPr id="339"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pPr/>
            <a:r>
              <a:t>These limits qualify the scope, not the observed crisis and concentration patterns.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344" name="12"/>
          <p:cNvSpPr txBox="1"/>
          <p:nvPr/>
        </p:nvSpPr>
        <p:spPr>
          <a:xfrm>
            <a:off x="14351000" y="339371"/>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12</a:t>
            </a:r>
          </a:p>
        </p:txBody>
      </p:sp>
      <p:sp>
        <p:nvSpPr>
          <p:cNvPr id="345"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Make the evidence explorable</a:t>
            </a:r>
          </a:p>
        </p:txBody>
      </p:sp>
      <p:sp>
        <p:nvSpPr>
          <p:cNvPr id="346" name="The dashboard keeps every assumption visible as a filter."/>
          <p:cNvSpPr txBox="1"/>
          <p:nvPr/>
        </p:nvSpPr>
        <p:spPr>
          <a:xfrm>
            <a:off x="914400" y="1749070"/>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The dashboard keeps every assumption visible as a filter.</a:t>
            </a:r>
          </a:p>
        </p:txBody>
      </p:sp>
      <p:sp>
        <p:nvSpPr>
          <p:cNvPr id="347"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348"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12</a:t>
            </a:r>
          </a:p>
        </p:txBody>
      </p:sp>
      <p:sp>
        <p:nvSpPr>
          <p:cNvPr id="349" name="POWER BI / TABLEAU"/>
          <p:cNvSpPr txBox="1"/>
          <p:nvPr/>
        </p:nvSpPr>
        <p:spPr>
          <a:xfrm>
            <a:off x="914400" y="2695220"/>
            <a:ext cx="4572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pPr/>
            <a:r>
              <a:t>POWER BI / TABLEAU</a:t>
            </a:r>
          </a:p>
        </p:txBody>
      </p:sp>
      <p:sp>
        <p:nvSpPr>
          <p:cNvPr id="350" name="One overview"/>
          <p:cNvSpPr txBox="1"/>
          <p:nvPr/>
        </p:nvSpPr>
        <p:spPr>
          <a:xfrm>
            <a:off x="914399" y="3190520"/>
            <a:ext cx="5207002" cy="553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One overview</a:t>
            </a:r>
          </a:p>
        </p:txBody>
      </p:sp>
      <p:sp>
        <p:nvSpPr>
          <p:cNvPr id="351"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Filter by ticker group, region, and crisis period; compare indexed performance, correlations, and monthly volatility.</a:t>
            </a:r>
          </a:p>
        </p:txBody>
      </p:sp>
      <p:sp>
        <p:nvSpPr>
          <p:cNvPr id="352" name="R WRANGLING"/>
          <p:cNvSpPr txBox="1"/>
          <p:nvPr/>
        </p:nvSpPr>
        <p:spPr>
          <a:xfrm>
            <a:off x="8254999" y="2695220"/>
            <a:ext cx="3810003"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pPr/>
            <a:r>
              <a:t>R WRANGLING</a:t>
            </a:r>
          </a:p>
        </p:txBody>
      </p:sp>
      <p:sp>
        <p:nvSpPr>
          <p:cNvPr id="353" name="Long-form by design"/>
          <p:cNvSpPr txBox="1"/>
          <p:nvPr/>
        </p:nvSpPr>
        <p:spPr>
          <a:xfrm>
            <a:off x="8255000" y="3190520"/>
            <a:ext cx="5715000" cy="553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Long-form by design</a:t>
            </a:r>
          </a:p>
        </p:txBody>
      </p:sp>
      <p:sp>
        <p:nvSpPr>
          <p:cNvPr id="354"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Use parsed dates, month bins, and one Ticker field so color, grouping, and filters remain consistent.</a:t>
            </a:r>
          </a:p>
        </p:txBody>
      </p:sp>
      <p:sp>
        <p:nvSpPr>
          <p:cNvPr id="355"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pPr/>
            <a:r>
              <a:t>OPEN RISKS</a:t>
            </a:r>
          </a:p>
        </p:txBody>
      </p:sp>
      <p:sp>
        <p:nvSpPr>
          <p:cNvPr id="356"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pPr/>
            <a:r>
              <a:t>unequal regional coverage  ·  share-count volume  ·  removed original Kaggle page  ·  no causal interpretation</a:t>
            </a:r>
          </a:p>
        </p:txBody>
      </p:sp>
      <p:sp>
        <p:nvSpPr>
          <p:cNvPr id="357"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pPr/>
            <a:r>
              <a:t>Success means the user can reproduce each headline and see where the evidence becomes uncertain.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