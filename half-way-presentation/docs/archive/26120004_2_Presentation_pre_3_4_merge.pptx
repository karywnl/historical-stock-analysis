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6256000" cy="9144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1pPr>
    <a:lvl2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2pPr>
    <a:lvl3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3pPr>
    <a:lvl4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4pPr>
    <a:lvl5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5pPr>
    <a:lvl6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6pPr>
    <a:lvl7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7pPr>
    <a:lvl8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8pPr>
    <a:lvl9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6" dt="2026-08-26T13:11:10.555"/>
    <p1510:client id="{82749425-D721-A27C-FF4A-A6060BC351AA}" v="56" dt="2026-08-26T16:07:47.879"/>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76BA"/>
          </a:solidFill>
        </a:fill>
      </a:tcStyle>
    </a:firstCol>
    <a:lastRow>
      <a:tcTxStyle b="off" i="off">
        <a:fontRef idx="major">
          <a:srgbClr val="000000"/>
        </a:fontRef>
        <a:srgbClr val="000000"/>
      </a:tcTxStyle>
      <a:tcStyle>
        <a:tcBdr>
          <a:left>
            <a:ln w="12700" cap="flat">
              <a:noFill/>
              <a:miter lim="400000"/>
            </a:ln>
          </a:left>
          <a:right>
            <a:ln w="12700" cap="flat">
              <a:noFill/>
              <a:miter lim="400000"/>
            </a:ln>
          </a:right>
          <a:top>
            <a:ln w="3175"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4D80"/>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FFF"/>
          </a:solidFill>
        </a:fill>
      </a:tcStyle>
    </a:wholeTbl>
    <a:band2H>
      <a:tcTxStyle/>
      <a:tcStyle>
        <a:tcBdr/>
        <a:fill>
          <a:solidFill>
            <a:srgbClr val="E6F0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F0CC"/>
          </a:solidFill>
        </a:fill>
      </a:tcStyle>
    </a:wholeTbl>
    <a:band2H>
      <a:tcTxStyle/>
      <a:tcStyle>
        <a:tcBdr/>
        <a:fill>
          <a:solidFill>
            <a:srgbClr val="EAF8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9D1E1"/>
          </a:solidFill>
        </a:fill>
      </a:tcStyle>
    </a:wholeTbl>
    <a:band2H>
      <a:tcTxStyle/>
      <a:tcStyle>
        <a:tcBdr/>
        <a:fill>
          <a:solidFill>
            <a:srgbClr val="FCE9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4" name="Shape 134"/>
          <p:cNvSpPr>
            <a:spLocks noGrp="1" noRot="1" noChangeAspect="1"/>
          </p:cNvSpPr>
          <p:nvPr>
            <p:ph type="sldImg"/>
          </p:nvPr>
        </p:nvSpPr>
        <p:spPr>
          <a:xfrm>
            <a:off x="1143000" y="685800"/>
            <a:ext cx="4572000" cy="3429000"/>
          </a:xfrm>
          <a:prstGeom prst="rect">
            <a:avLst/>
          </a:prstGeom>
        </p:spPr>
        <p:txBody>
          <a:bodyPr/>
          <a:lstStyle/>
          <a:p>
            <a:endParaRPr/>
          </a:p>
        </p:txBody>
      </p:sp>
      <p:sp>
        <p:nvSpPr>
          <p:cNvPr id="135" name="Shape 13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j-lt"/>
        <a:ea typeface="+mj-ea"/>
        <a:cs typeface="+mj-cs"/>
        <a:sym typeface="Helvetica Neue"/>
      </a:defRPr>
    </a:lvl1pPr>
    <a:lvl2pPr indent="228600" defTabSz="457200" latinLnBrk="0">
      <a:lnSpc>
        <a:spcPct val="117999"/>
      </a:lnSpc>
      <a:defRPr sz="2200">
        <a:latin typeface="+mj-lt"/>
        <a:ea typeface="+mj-ea"/>
        <a:cs typeface="+mj-cs"/>
        <a:sym typeface="Helvetica Neue"/>
      </a:defRPr>
    </a:lvl2pPr>
    <a:lvl3pPr indent="457200" defTabSz="457200" latinLnBrk="0">
      <a:lnSpc>
        <a:spcPct val="117999"/>
      </a:lnSpc>
      <a:defRPr sz="2200">
        <a:latin typeface="+mj-lt"/>
        <a:ea typeface="+mj-ea"/>
        <a:cs typeface="+mj-cs"/>
        <a:sym typeface="Helvetica Neue"/>
      </a:defRPr>
    </a:lvl3pPr>
    <a:lvl4pPr indent="685800" defTabSz="457200" latinLnBrk="0">
      <a:lnSpc>
        <a:spcPct val="117999"/>
      </a:lnSpc>
      <a:defRPr sz="2200">
        <a:latin typeface="+mj-lt"/>
        <a:ea typeface="+mj-ea"/>
        <a:cs typeface="+mj-cs"/>
        <a:sym typeface="Helvetica Neue"/>
      </a:defRPr>
    </a:lvl4pPr>
    <a:lvl5pPr indent="914400" defTabSz="457200" latinLnBrk="0">
      <a:lnSpc>
        <a:spcPct val="117999"/>
      </a:lnSpc>
      <a:defRPr sz="2200">
        <a:latin typeface="+mj-lt"/>
        <a:ea typeface="+mj-ea"/>
        <a:cs typeface="+mj-cs"/>
        <a:sym typeface="Helvetica Neue"/>
      </a:defRPr>
    </a:lvl5pPr>
    <a:lvl6pPr indent="1143000" defTabSz="457200" latinLnBrk="0">
      <a:lnSpc>
        <a:spcPct val="117999"/>
      </a:lnSpc>
      <a:defRPr sz="2200">
        <a:latin typeface="+mj-lt"/>
        <a:ea typeface="+mj-ea"/>
        <a:cs typeface="+mj-cs"/>
        <a:sym typeface="Helvetica Neue"/>
      </a:defRPr>
    </a:lvl6pPr>
    <a:lvl7pPr indent="1371600" defTabSz="457200" latinLnBrk="0">
      <a:lnSpc>
        <a:spcPct val="117999"/>
      </a:lnSpc>
      <a:defRPr sz="2200">
        <a:latin typeface="+mj-lt"/>
        <a:ea typeface="+mj-ea"/>
        <a:cs typeface="+mj-cs"/>
        <a:sym typeface="Helvetica Neue"/>
      </a:defRPr>
    </a:lvl7pPr>
    <a:lvl8pPr indent="1600200" defTabSz="457200" latinLnBrk="0">
      <a:lnSpc>
        <a:spcPct val="117999"/>
      </a:lnSpc>
      <a:defRPr sz="2200">
        <a:latin typeface="+mj-lt"/>
        <a:ea typeface="+mj-ea"/>
        <a:cs typeface="+mj-cs"/>
        <a:sym typeface="Helvetica Neue"/>
      </a:defRPr>
    </a:lvl8pPr>
    <a:lvl9pPr indent="1828800" defTabSz="457200" latinLnBrk="0">
      <a:lnSpc>
        <a:spcPct val="117999"/>
      </a:lnSpc>
      <a:defRPr sz="2200">
        <a:latin typeface="+mj-lt"/>
        <a:ea typeface="+mj-ea"/>
        <a:cs typeface="+mj-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Shape 152"/>
          <p:cNvSpPr>
            <a:spLocks noGrp="1" noRot="1" noChangeAspect="1"/>
          </p:cNvSpPr>
          <p:nvPr>
            <p:ph type="sldImg"/>
          </p:nvPr>
        </p:nvSpPr>
        <p:spPr>
          <a:prstGeom prst="rect">
            <a:avLst/>
          </a:prstGeom>
        </p:spPr>
        <p:txBody>
          <a:bodyPr/>
          <a:lstStyle/>
          <a:p>
            <a:endParaRPr/>
          </a:p>
        </p:txBody>
      </p:sp>
      <p:sp>
        <p:nvSpPr>
          <p:cNvPr id="153" name="Shape 153"/>
          <p:cNvSpPr>
            <a:spLocks noGrp="1"/>
          </p:cNvSpPr>
          <p:nvPr>
            <p:ph type="body" sz="quarter" idx="1"/>
          </p:nvPr>
        </p:nvSpPr>
        <p:spPr>
          <a:prstGeom prst="rect">
            <a:avLst/>
          </a:prstGeom>
        </p:spPr>
        <p:txBody>
          <a:bodyPr/>
          <a:lstStyle/>
          <a:p>
            <a:r>
              <a:t>Speaker: Mirthula M | Target: 0:20</a:t>
            </a:r>
          </a:p>
          <a:p>
            <a:r>
              <a:t>Open with the umbrella question. Explain that the project is not forecasting prices; it tests whether apparent diversification remains meaningful across technology groups and crisis periods.</a:t>
            </a:r>
          </a:p>
          <a:p>
            <a:endParaRPr/>
          </a:p>
          <a:p>
            <a:r>
              <a:t>[Sources]</a:t>
            </a:r>
          </a:p>
          <a:p>
            <a:r>
              <a:t>Local dataset: data/stock_data.csv. Assignment brief: half-way-presentation/docs/assignment/Project_Status_Presentation.pdf</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Shape 167"/>
          <p:cNvSpPr>
            <a:spLocks noGrp="1" noRot="1" noChangeAspect="1"/>
          </p:cNvSpPr>
          <p:nvPr>
            <p:ph type="sldImg"/>
          </p:nvPr>
        </p:nvSpPr>
        <p:spPr>
          <a:xfrm>
            <a:off x="381000" y="685800"/>
            <a:ext cx="6096000" cy="3429000"/>
          </a:xfrm>
          <a:prstGeom prst="rect">
            <a:avLst/>
          </a:prstGeom>
        </p:spPr>
        <p:txBody>
          <a:bodyPr/>
          <a:lstStyle/>
          <a:p>
            <a:endParaRPr/>
          </a:p>
        </p:txBody>
      </p:sp>
      <p:sp>
        <p:nvSpPr>
          <p:cNvPr id="168" name="Shape 168"/>
          <p:cNvSpPr>
            <a:spLocks noGrp="1"/>
          </p:cNvSpPr>
          <p:nvPr>
            <p:ph type="body" sz="quarter" idx="1"/>
          </p:nvPr>
        </p:nvSpPr>
        <p:spPr>
          <a:prstGeom prst="rect">
            <a:avLst/>
          </a:prstGeom>
        </p:spPr>
        <p:txBody>
          <a:bodyPr/>
          <a:lstStyle/>
          <a:p>
            <a:r>
              <a:t>Speaker: Mirthula M | Target: 0:50</a:t>
            </a:r>
          </a:p>
          <a:p>
            <a:r>
              <a:t>Introduce the dataset through one row: date, ticker, opening price, adjusted closing price, and volume. Then explain the workflow briefly: Python cleaned, transformed, visualized, and tested the hypotheses; R replicated the analysis and prepared monthly summaries. Because currencies and price scales differ, comparisons use returns or index-to-100 values rather than raw prices.</a:t>
            </a:r>
          </a:p>
          <a:p>
            <a:endParaRPr/>
          </a:p>
          <a:p>
            <a:r>
              <a:t>[Sources]</a:t>
            </a:r>
          </a:p>
          <a:p>
            <a:r>
              <a:t>Local dataset: data/stock_data.csv. Shape, date range, missing-value count, and example rows verified directly from the CSV on 2026-08-25.</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Shape 185"/>
          <p:cNvSpPr>
            <a:spLocks noGrp="1" noRot="1" noChangeAspect="1"/>
          </p:cNvSpPr>
          <p:nvPr>
            <p:ph type="sldImg"/>
          </p:nvPr>
        </p:nvSpPr>
        <p:spPr>
          <a:prstGeom prst="rect">
            <a:avLst/>
          </a:prstGeom>
        </p:spPr>
        <p:txBody>
          <a:bodyPr/>
          <a:lstStyle/>
          <a:p>
            <a:endParaRPr/>
          </a:p>
        </p:txBody>
      </p:sp>
      <p:sp>
        <p:nvSpPr>
          <p:cNvPr id="186" name="Shape 186"/>
          <p:cNvSpPr>
            <a:spLocks noGrp="1"/>
          </p:cNvSpPr>
          <p:nvPr>
            <p:ph type="body" sz="quarter" idx="1"/>
          </p:nvPr>
        </p:nvSpPr>
        <p:spPr>
          <a:prstGeom prst="rect">
            <a:avLst/>
          </a:prstGeom>
        </p:spPr>
        <p:txBody>
          <a:bodyPr/>
          <a:lstStyle/>
          <a:p>
            <a:r>
              <a:t>Speaker: Mirthula M | Target: 0:55</a:t>
            </a:r>
          </a:p>
          <a:p>
            <a:r>
              <a:t>State each hypothesis before discussing the tests. H1 asks whether the selected chip/AI group outperformed the selected broader-tech group during the AI rally. H2 asks whether regional correlations increased during crises compared with calm years. H3 asks whether volatility and volume rose during panic periods. Together, they test whether apparent diversification becomes thinner during concentrated rallies and market stress.</a:t>
            </a:r>
          </a:p>
          <a:p>
            <a:r>
              <a:t>[Sources]</a:t>
            </a:r>
          </a:p>
          <a:p>
            <a:r>
              <a:t>Hypothesis definitions: assignment_3/analysis.ipynb, extra_credit_1/analysis.ipynb, and AGENTS.md.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Shape 210"/>
          <p:cNvSpPr>
            <a:spLocks noGrp="1" noRot="1" noChangeAspect="1"/>
          </p:cNvSpPr>
          <p:nvPr>
            <p:ph type="sldImg"/>
          </p:nvPr>
        </p:nvSpPr>
        <p:spPr>
          <a:xfrm>
            <a:off x="381000" y="685800"/>
            <a:ext cx="6096000" cy="3429000"/>
          </a:xfrm>
          <a:prstGeom prst="rect">
            <a:avLst/>
          </a:prstGeom>
        </p:spPr>
        <p:txBody>
          <a:bodyPr/>
          <a:lstStyle/>
          <a:p>
            <a:endParaRPr/>
          </a:p>
        </p:txBody>
      </p:sp>
      <p:sp>
        <p:nvSpPr>
          <p:cNvPr id="211" name="Shape 211"/>
          <p:cNvSpPr>
            <a:spLocks noGrp="1"/>
          </p:cNvSpPr>
          <p:nvPr>
            <p:ph type="body" sz="quarter" idx="1"/>
          </p:nvPr>
        </p:nvSpPr>
        <p:spPr>
          <a:prstGeom prst="rect">
            <a:avLst/>
          </a:prstGeom>
        </p:spPr>
        <p:txBody>
          <a:bodyPr/>
          <a:lstStyle/>
          <a:p>
            <a:r>
              <a:t>Speaker: Mirthula M | Target: 0:55</a:t>
            </a:r>
          </a:p>
          <a:p>
            <a:r>
              <a:t>Explain the periods in plain language. The 2008 crisis followed a housing boom: falling home prices created mortgage losses, damaged banks, and disrupted credit markets worldwide. The 2020 crash was the sudden market selloff around the first COVID-19 lockdowns. The 2022 drawdown was slower and occurred amid high inflation and rapid interest-rate increases. We compare all three with calm 2015–2017. Correlation means how closely markets move together; volatility means the size of price movements; volume means the number of shares traded. H1 separately compares the selected technology baskets using indexed adjusted prices and mean daily returns. Then hand over to Karthikeyan.</a:t>
            </a:r>
          </a:p>
          <a:p>
            <a:r>
              <a:t>[Sources]</a:t>
            </a:r>
          </a:p>
          <a:p>
            <a:r>
              <a:t>Group and period definitions: assignment_3/analysis.ipynb and extra_credit_1/analysis.ipynb. 2008 crisis context: Federal Reserve History, https://www.federalreservehistory.org/essays/great-recession-and-its-aftermath. Preis et al. (2012): https://www.nature.com/articles/srep00752. Morningstar (2026): https://www.morningstar.com/stocks/three-years-ai-stock-market-boom-charts. J.P. Morgan (2026): https://www.jpmorgan.com/insights/markets-and-economy/top-market-takeaways/tmt-is-it-all-one-big-ai-trade.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Shape 228"/>
          <p:cNvSpPr>
            <a:spLocks noGrp="1" noRot="1" noChangeAspect="1"/>
          </p:cNvSpPr>
          <p:nvPr>
            <p:ph type="sldImg"/>
          </p:nvPr>
        </p:nvSpPr>
        <p:spPr>
          <a:prstGeom prst="rect">
            <a:avLst/>
          </a:prstGeom>
        </p:spPr>
        <p:txBody>
          <a:bodyPr/>
          <a:lstStyle/>
          <a:p>
            <a:endParaRPr/>
          </a:p>
        </p:txBody>
      </p:sp>
      <p:sp>
        <p:nvSpPr>
          <p:cNvPr id="229" name="Shape 229"/>
          <p:cNvSpPr>
            <a:spLocks noGrp="1"/>
          </p:cNvSpPr>
          <p:nvPr>
            <p:ph type="body" sz="quarter" idx="1"/>
          </p:nvPr>
        </p:nvSpPr>
        <p:spPr>
          <a:prstGeom prst="rect">
            <a:avLst/>
          </a:prstGeom>
        </p:spPr>
        <p:txBody>
          <a:bodyPr/>
          <a:lstStyle/>
          <a:p>
            <a:r>
              <a:t>Speaker: Karthikeyan M | Target: 1:00</a:t>
            </a:r>
          </a:p>
          <a:p>
            <a:r>
              <a:t>Start with index-to-100: every stock begins at the same value, so the chart compares percentage growth rather than currencies or raw share prices. Adjusted Close is used because it accounts for splits and dividends. Then give the result: the selected chip/AI group gained about 549% on average versus about 168% for the selected broader-tech group. Mean daily returns were 0.26% versus 0.14%, and Welch p = 0.0073 indicates a statistically meaningful difference under this test. State the boundary carefully: this supports H1 for these selected groups; it does not prove the entire AI economy is narrow or establish causality.</a:t>
            </a:r>
          </a:p>
          <a:p>
            <a:endParaRPr/>
          </a:p>
          <a:p>
            <a:r>
              <a:t>[Sources]</a:t>
            </a:r>
          </a:p>
          <a:p>
            <a:r>
              <a:t>Chart: assignment_3/figures/figure_a_ai_rally.png. Statistical check: extra_credit_1 output. Local dataset: data/stock_data.csv.</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Shape 246"/>
          <p:cNvSpPr>
            <a:spLocks noGrp="1" noRot="1" noChangeAspect="1"/>
          </p:cNvSpPr>
          <p:nvPr>
            <p:ph type="sldImg"/>
          </p:nvPr>
        </p:nvSpPr>
        <p:spPr>
          <a:prstGeom prst="rect">
            <a:avLst/>
          </a:prstGeom>
        </p:spPr>
        <p:txBody>
          <a:bodyPr/>
          <a:lstStyle/>
          <a:p>
            <a:endParaRPr/>
          </a:p>
        </p:txBody>
      </p:sp>
      <p:sp>
        <p:nvSpPr>
          <p:cNvPr id="247" name="Shape 247"/>
          <p:cNvSpPr>
            <a:spLocks noGrp="1"/>
          </p:cNvSpPr>
          <p:nvPr>
            <p:ph type="body" sz="quarter" idx="1"/>
          </p:nvPr>
        </p:nvSpPr>
        <p:spPr>
          <a:prstGeom prst="rect">
            <a:avLst/>
          </a:prstGeom>
        </p:spPr>
        <p:txBody>
          <a:bodyPr/>
          <a:lstStyle/>
          <a:p>
            <a:r>
              <a:t>Speaker: Karthikeyan M | Target: 1:00</a:t>
            </a:r>
          </a:p>
          <a:p>
            <a:r>
              <a:t>Explain correlation simply: a value closer to 1 means regional returns move together, so they provide less protection from one another. The widened regional basket averaged about 0.282 in calm years, 0.326 in 2008, 0.539 in 2020, and 0.196 in 2022. Therefore, the evidence is strongest for the sudden 2020 crash. The higher 2008 value is supportive but more qualified. Keep the limitation visible: Paris still has one stock, while Korea and Switzerland remain sector-narrow, so this is not a universal law about every regional market.</a:t>
            </a:r>
          </a:p>
          <a:p>
            <a:endParaRPr/>
          </a:p>
          <a:p>
            <a:r>
              <a:t>[Sources]</a:t>
            </a:r>
          </a:p>
          <a:p>
            <a:r>
              <a:t>Chart: extra_credit_1/figures/ec1_f_widened_basket.png. Calculations use data/stock_data.csv and the widened-basket method documented in extra_credit_1.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Shape 261"/>
          <p:cNvSpPr>
            <a:spLocks noGrp="1" noRot="1" noChangeAspect="1"/>
          </p:cNvSpPr>
          <p:nvPr>
            <p:ph type="sldImg"/>
          </p:nvPr>
        </p:nvSpPr>
        <p:spPr>
          <a:prstGeom prst="rect">
            <a:avLst/>
          </a:prstGeom>
        </p:spPr>
        <p:txBody>
          <a:bodyPr/>
          <a:lstStyle/>
          <a:p>
            <a:endParaRPr/>
          </a:p>
        </p:txBody>
      </p:sp>
      <p:sp>
        <p:nvSpPr>
          <p:cNvPr id="262" name="Shape 262"/>
          <p:cNvSpPr>
            <a:spLocks noGrp="1"/>
          </p:cNvSpPr>
          <p:nvPr>
            <p:ph type="body" sz="quarter" idx="1"/>
          </p:nvPr>
        </p:nvSpPr>
        <p:spPr>
          <a:prstGeom prst="rect">
            <a:avLst/>
          </a:prstGeom>
        </p:spPr>
        <p:txBody>
          <a:bodyPr/>
          <a:lstStyle/>
          <a:p>
            <a:r>
              <a:t>Speaker: Karthikeyan M | Target: 1:00</a:t>
            </a:r>
          </a:p>
          <a:p>
            <a:r>
              <a:t>Define volatility here as the average absolute daily return within each month: larger values mean larger day-to-day price movements, regardless of direction. The R-based check found the largest monthly spikes in October 2008 at 4.82% and March 2020 at 4.67%. The regional analysis also found volume around 2.7 times the calm level in 2008 and 1.7 times in 2020, but only 0.9 times in 2022. Treat volume as supporting evidence because share-count volume is affected by splits and is not directly comparable across companies.</a:t>
            </a:r>
          </a:p>
          <a:p>
            <a:endParaRPr/>
          </a:p>
          <a:p>
            <a:r>
              <a:t>[Sources]</a:t>
            </a:r>
          </a:p>
          <a:p>
            <a:r>
              <a:t>Chart: assignment_5/part_2/figures/b2_monthly_absolute_return.png. Monthly bins created in R with lubridate::floor_date(); source data/stock_data.csv.</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Shape 277"/>
          <p:cNvSpPr>
            <a:spLocks noGrp="1" noRot="1" noChangeAspect="1"/>
          </p:cNvSpPr>
          <p:nvPr>
            <p:ph type="sldImg"/>
          </p:nvPr>
        </p:nvSpPr>
        <p:spPr>
          <a:prstGeom prst="rect">
            <a:avLst/>
          </a:prstGeom>
        </p:spPr>
        <p:txBody>
          <a:bodyPr/>
          <a:lstStyle/>
          <a:p>
            <a:endParaRPr/>
          </a:p>
        </p:txBody>
      </p:sp>
      <p:sp>
        <p:nvSpPr>
          <p:cNvPr id="278" name="Shape 278"/>
          <p:cNvSpPr>
            <a:spLocks noGrp="1"/>
          </p:cNvSpPr>
          <p:nvPr>
            <p:ph type="body" sz="quarter" idx="1"/>
          </p:nvPr>
        </p:nvSpPr>
        <p:spPr>
          <a:prstGeom prst="rect">
            <a:avLst/>
          </a:prstGeom>
        </p:spPr>
        <p:txBody>
          <a:bodyPr/>
          <a:lstStyle/>
          <a:p>
            <a:r>
              <a:t>Speaker: Lakshmi Mayuri Kavya N | Target: 1:00</a:t>
            </a:r>
          </a:p>
          <a:p>
            <a:r>
              <a:t>This is a design lesson, not a new calculation. On a linear axis, equal vertical distances represent equal point changes, so the fastest-growing series compresses the others. On a log axis, equal vertical distances represent equal proportional changes, making percentage growth easier to compare. The underlying data and index-to-100 rebasing do not change. Direct labels also reduce the need to search between lines and a legend.</a:t>
            </a:r>
          </a:p>
          <a:p>
            <a:endParaRPr/>
          </a:p>
          <a:p>
            <a:r>
              <a:t>[Sources]</a:t>
            </a:r>
          </a:p>
          <a:p>
            <a:r>
              <a:t>Before/after charts: extra_credit_1/figures/ec1_a_before.png and extra_credit_1/figures/ec1_a_after.png. Both use data/stock_data.csv.</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Shape 296"/>
          <p:cNvSpPr>
            <a:spLocks noGrp="1" noRot="1" noChangeAspect="1"/>
          </p:cNvSpPr>
          <p:nvPr>
            <p:ph type="sldImg"/>
          </p:nvPr>
        </p:nvSpPr>
        <p:spPr>
          <a:prstGeom prst="rect">
            <a:avLst/>
          </a:prstGeom>
        </p:spPr>
        <p:txBody>
          <a:bodyPr/>
          <a:lstStyle/>
          <a:p>
            <a:endParaRPr/>
          </a:p>
        </p:txBody>
      </p:sp>
      <p:sp>
        <p:nvSpPr>
          <p:cNvPr id="297" name="Shape 297"/>
          <p:cNvSpPr>
            <a:spLocks noGrp="1"/>
          </p:cNvSpPr>
          <p:nvPr>
            <p:ph type="body" sz="quarter" idx="1"/>
          </p:nvPr>
        </p:nvSpPr>
        <p:spPr>
          <a:prstGeom prst="rect">
            <a:avLst/>
          </a:prstGeom>
        </p:spPr>
        <p:txBody>
          <a:bodyPr/>
          <a:lstStyle/>
          <a:p>
            <a:r>
              <a:t>Speaker: Lakshmi Mayuri Kavya N | Target: 0:55</a:t>
            </a:r>
          </a:p>
          <a:p>
            <a:r>
              <a:t>Resolve the opening question directly. The dataset shows diversification, but technology gains and crisis co-movement make it thinner than the surface suggests. Finish with the boundary: this is descriptive evidence, not causal proof or a forecast.</a:t>
            </a:r>
          </a:p>
          <a:p>
            <a:endParaRPr/>
          </a:p>
          <a:p>
            <a:r>
              <a:t>[Sources]</a:t>
            </a:r>
          </a:p>
          <a:p>
            <a:r>
              <a:t>Synthesis of slides 7–9 using data/stock_data.csv and the cited project outputs.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 name="Shape 314"/>
          <p:cNvSpPr>
            <a:spLocks noGrp="1" noRot="1" noChangeAspect="1"/>
          </p:cNvSpPr>
          <p:nvPr>
            <p:ph type="sldImg"/>
          </p:nvPr>
        </p:nvSpPr>
        <p:spPr>
          <a:prstGeom prst="rect">
            <a:avLst/>
          </a:prstGeom>
        </p:spPr>
        <p:txBody>
          <a:bodyPr/>
          <a:lstStyle/>
          <a:p>
            <a:endParaRPr/>
          </a:p>
        </p:txBody>
      </p:sp>
      <p:sp>
        <p:nvSpPr>
          <p:cNvPr id="315" name="Shape 315"/>
          <p:cNvSpPr>
            <a:spLocks noGrp="1"/>
          </p:cNvSpPr>
          <p:nvPr>
            <p:ph type="body" sz="quarter" idx="1"/>
          </p:nvPr>
        </p:nvSpPr>
        <p:spPr>
          <a:prstGeom prst="rect">
            <a:avLst/>
          </a:prstGeom>
        </p:spPr>
        <p:txBody>
          <a:bodyPr/>
          <a:lstStyle/>
          <a:p>
            <a:r>
              <a:t>Speaker: Lakshmi Mayuri Kavya N | Target: 0:50</a:t>
            </a:r>
          </a:p>
          <a:p>
            <a:r>
              <a:t>Describe the dashboard as the next analytical interface, not just a prettier report. The filters should let users change the group and period while retaining the same return, correlation, and volatility definitions.</a:t>
            </a:r>
          </a:p>
          <a:p>
            <a:endParaRPr/>
          </a:p>
          <a:p>
            <a:r>
              <a:t>[Sources]</a:t>
            </a:r>
          </a:p>
          <a:p>
            <a:r>
              <a:t>Dashboard plan derived from assignment_5/part_2 long-form outputs and the Assignment 6 brief. Kaggle source caveat documented in AGENTS.md.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3499553" y="2545644"/>
            <a:ext cx="9256894" cy="2065871"/>
          </a:xfrm>
          <a:prstGeom prst="rect">
            <a:avLst/>
          </a:prstGeom>
        </p:spPr>
        <p:txBody>
          <a:bodyPr anchor="b"/>
          <a:lstStyle/>
          <a:p>
            <a:r>
              <a:t>Title Text</a:t>
            </a:r>
          </a:p>
        </p:txBody>
      </p:sp>
      <p:sp>
        <p:nvSpPr>
          <p:cNvPr id="12" name="Body Level One…"/>
          <p:cNvSpPr txBox="1">
            <a:spLocks noGrp="1"/>
          </p:cNvSpPr>
          <p:nvPr>
            <p:ph type="body" sz="quarter" idx="1"/>
          </p:nvPr>
        </p:nvSpPr>
        <p:spPr>
          <a:xfrm>
            <a:off x="3499553" y="4667953"/>
            <a:ext cx="9256894" cy="70556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View of beach and sea from a grassy sand dune"/>
          <p:cNvSpPr>
            <a:spLocks noGrp="1"/>
          </p:cNvSpPr>
          <p:nvPr>
            <p:ph type="pic" sz="half" idx="21"/>
          </p:nvPr>
        </p:nvSpPr>
        <p:spPr>
          <a:xfrm>
            <a:off x="4098652" y="1349022"/>
            <a:ext cx="8060268" cy="5373512"/>
          </a:xfrm>
          <a:prstGeom prst="rect">
            <a:avLst/>
          </a:prstGeom>
        </p:spPr>
        <p:txBody>
          <a:bodyPr lIns="91439" tIns="45719" rIns="91439" bIns="45719">
            <a:noAutofit/>
          </a:bodyPr>
          <a:lstStyle/>
          <a:p>
            <a:endParaRPr/>
          </a:p>
        </p:txBody>
      </p:sp>
      <p:sp>
        <p:nvSpPr>
          <p:cNvPr id="21" name="Title Text"/>
          <p:cNvSpPr txBox="1">
            <a:spLocks noGrp="1"/>
          </p:cNvSpPr>
          <p:nvPr>
            <p:ph type="title"/>
          </p:nvPr>
        </p:nvSpPr>
        <p:spPr>
          <a:xfrm>
            <a:off x="2991554" y="5751688"/>
            <a:ext cx="10272894" cy="891827"/>
          </a:xfrm>
          <a:prstGeom prst="rect">
            <a:avLst/>
          </a:prstGeom>
        </p:spPr>
        <p:txBody>
          <a:bodyPr anchor="b"/>
          <a:lstStyle/>
          <a:p>
            <a:r>
              <a:t>Title Text</a:t>
            </a:r>
          </a:p>
        </p:txBody>
      </p:sp>
      <p:sp>
        <p:nvSpPr>
          <p:cNvPr id="22" name="Body Level One…"/>
          <p:cNvSpPr txBox="1">
            <a:spLocks noGrp="1"/>
          </p:cNvSpPr>
          <p:nvPr>
            <p:ph type="body" sz="quarter" idx="1"/>
          </p:nvPr>
        </p:nvSpPr>
        <p:spPr>
          <a:xfrm>
            <a:off x="2991554" y="6609643"/>
            <a:ext cx="10272894" cy="705560"/>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re">
    <p:spTree>
      <p:nvGrpSpPr>
        <p:cNvPr id="1" name=""/>
        <p:cNvGrpSpPr/>
        <p:nvPr/>
      </p:nvGrpSpPr>
      <p:grpSpPr>
        <a:xfrm>
          <a:off x="0" y="0"/>
          <a:ext cx="0" cy="0"/>
          <a:chOff x="0" y="0"/>
          <a:chExt cx="0" cy="0"/>
        </a:xfrm>
      </p:grpSpPr>
      <p:sp>
        <p:nvSpPr>
          <p:cNvPr id="30" name="Title Text"/>
          <p:cNvSpPr txBox="1">
            <a:spLocks noGrp="1"/>
          </p:cNvSpPr>
          <p:nvPr>
            <p:ph type="title"/>
          </p:nvPr>
        </p:nvSpPr>
        <p:spPr>
          <a:xfrm>
            <a:off x="3499553" y="3539066"/>
            <a:ext cx="9256894" cy="2065871"/>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Heron flying low over a beach with a short fence in the foreground"/>
          <p:cNvSpPr>
            <a:spLocks noGrp="1"/>
          </p:cNvSpPr>
          <p:nvPr>
            <p:ph type="pic" sz="quarter" idx="21"/>
          </p:nvPr>
        </p:nvSpPr>
        <p:spPr>
          <a:xfrm>
            <a:off x="8410222" y="1947333"/>
            <a:ext cx="5096937" cy="5096934"/>
          </a:xfrm>
          <a:prstGeom prst="rect">
            <a:avLst/>
          </a:prstGeom>
        </p:spPr>
        <p:txBody>
          <a:bodyPr lIns="91439" tIns="45719" rIns="91439" bIns="45719">
            <a:noAutofit/>
          </a:bodyPr>
          <a:lstStyle/>
          <a:p>
            <a:endParaRPr/>
          </a:p>
        </p:txBody>
      </p:sp>
      <p:sp>
        <p:nvSpPr>
          <p:cNvPr id="39" name="Title Text"/>
          <p:cNvSpPr txBox="1">
            <a:spLocks noGrp="1"/>
          </p:cNvSpPr>
          <p:nvPr>
            <p:ph type="title"/>
          </p:nvPr>
        </p:nvSpPr>
        <p:spPr>
          <a:xfrm>
            <a:off x="3443108" y="1947333"/>
            <a:ext cx="4543782" cy="2466626"/>
          </a:xfrm>
          <a:prstGeom prst="rect">
            <a:avLst/>
          </a:prstGeom>
        </p:spPr>
        <p:txBody>
          <a:bodyPr anchor="b"/>
          <a:lstStyle>
            <a:lvl1pPr>
              <a:defRPr sz="5600"/>
            </a:lvl1pPr>
          </a:lstStyle>
          <a:p>
            <a:r>
              <a:t>Title Text</a:t>
            </a:r>
          </a:p>
        </p:txBody>
      </p:sp>
      <p:sp>
        <p:nvSpPr>
          <p:cNvPr id="40" name="Body Level One…"/>
          <p:cNvSpPr txBox="1">
            <a:spLocks noGrp="1"/>
          </p:cNvSpPr>
          <p:nvPr>
            <p:ph type="body" sz="quarter" idx="1"/>
          </p:nvPr>
        </p:nvSpPr>
        <p:spPr>
          <a:xfrm>
            <a:off x="3443108" y="4425243"/>
            <a:ext cx="4543782" cy="254564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sz="half" idx="1"/>
          </p:nvPr>
        </p:nvSpPr>
        <p:spPr>
          <a:xfrm>
            <a:off x="3460043" y="2923819"/>
            <a:ext cx="9335914" cy="4131738"/>
          </a:xfrm>
          <a:prstGeom prst="rect">
            <a:avLst/>
          </a:prstGeom>
        </p:spPr>
        <p:txBody>
          <a:bodyPr anchor="ctr"/>
          <a:lstStyle>
            <a:lvl1pPr marL="423332" indent="-423332" algn="l">
              <a:spcBef>
                <a:spcPts val="3900"/>
              </a:spcBef>
              <a:buSzPct val="125000"/>
              <a:buChar char="•"/>
              <a:defRPr sz="3200"/>
            </a:lvl1pPr>
            <a:lvl2pPr marL="1058332" indent="-423332" algn="l">
              <a:spcBef>
                <a:spcPts val="3900"/>
              </a:spcBef>
              <a:buSzPct val="125000"/>
              <a:buChar char="•"/>
              <a:defRPr sz="3200"/>
            </a:lvl2pPr>
            <a:lvl3pPr marL="1693333" indent="-423332"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Sandy path between two hills leading to the ocean"/>
          <p:cNvSpPr>
            <a:spLocks noGrp="1"/>
          </p:cNvSpPr>
          <p:nvPr>
            <p:ph type="pic" sz="quarter" idx="21"/>
          </p:nvPr>
        </p:nvSpPr>
        <p:spPr>
          <a:xfrm>
            <a:off x="7580486" y="2923819"/>
            <a:ext cx="6197606" cy="4131738"/>
          </a:xfrm>
          <a:prstGeom prst="rect">
            <a:avLst/>
          </a:prstGeom>
        </p:spPr>
        <p:txBody>
          <a:bodyPr lIns="91439" tIns="45719" rIns="91439" bIns="45719">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quarter" idx="1"/>
          </p:nvPr>
        </p:nvSpPr>
        <p:spPr>
          <a:xfrm>
            <a:off x="3460043" y="2923819"/>
            <a:ext cx="4543782" cy="4131738"/>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4" indent="-352924" algn="l">
              <a:spcBef>
                <a:spcPts val="3000"/>
              </a:spcBef>
              <a:buSzPct val="125000"/>
              <a:buChar char="•"/>
              <a:defRPr sz="2400"/>
            </a:lvl4pPr>
            <a:lvl5pPr marL="2588124" indent="-352924" algn="l">
              <a:spcBef>
                <a:spcPts val="3000"/>
              </a:spcBef>
              <a:buSzPct val="125000"/>
              <a:buChar char="•"/>
              <a:defRPr sz="2400"/>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Bullets &amp; Live Video Small">
    <p:spTree>
      <p:nvGrpSpPr>
        <p:cNvPr id="1" name=""/>
        <p:cNvGrpSpPr/>
        <p:nvPr/>
      </p:nvGrpSpPr>
      <p:grpSpPr>
        <a:xfrm>
          <a:off x="0" y="0"/>
          <a:ext cx="0" cy="0"/>
          <a:chOff x="0" y="0"/>
          <a:chExt cx="0" cy="0"/>
        </a:xfrm>
      </p:grpSpPr>
      <p:sp>
        <p:nvSpPr>
          <p:cNvPr id="75" name="Title Text"/>
          <p:cNvSpPr txBox="1">
            <a:spLocks noGrp="1"/>
          </p:cNvSpPr>
          <p:nvPr>
            <p:ph type="title"/>
          </p:nvPr>
        </p:nvSpPr>
        <p:spPr>
          <a:prstGeom prst="rect">
            <a:avLst/>
          </a:prstGeom>
        </p:spPr>
        <p:txBody>
          <a:bodyPr/>
          <a:lstStyle/>
          <a:p>
            <a:r>
              <a:t>Title Text</a:t>
            </a:r>
          </a:p>
        </p:txBody>
      </p:sp>
      <p:sp>
        <p:nvSpPr>
          <p:cNvPr id="76" name="Body Level One…"/>
          <p:cNvSpPr txBox="1">
            <a:spLocks noGrp="1"/>
          </p:cNvSpPr>
          <p:nvPr>
            <p:ph type="body" sz="quarter" idx="1"/>
          </p:nvPr>
        </p:nvSpPr>
        <p:spPr>
          <a:xfrm>
            <a:off x="3460043" y="2923819"/>
            <a:ext cx="4543782" cy="4131738"/>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4" indent="-352924" algn="l">
              <a:spcBef>
                <a:spcPts val="3000"/>
              </a:spcBef>
              <a:buSzPct val="125000"/>
              <a:buChar char="•"/>
              <a:defRPr sz="2400"/>
            </a:lvl4pPr>
            <a:lvl5pPr marL="2588124" indent="-352924" algn="l">
              <a:spcBef>
                <a:spcPts val="3000"/>
              </a:spcBef>
              <a:buSzPct val="125000"/>
              <a:buChar char="•"/>
              <a:defRPr sz="2400"/>
            </a:lvl5pPr>
          </a:lstStyle>
          <a:p>
            <a:r>
              <a:t>Body Level One</a:t>
            </a:r>
          </a:p>
          <a:p>
            <a:pPr lvl="1"/>
            <a:r>
              <a:t>Body Level Two</a:t>
            </a:r>
          </a:p>
          <a:p>
            <a:pPr lvl="2"/>
            <a:r>
              <a:t>Body Level Three</a:t>
            </a:r>
          </a:p>
          <a:p>
            <a:pPr lvl="3"/>
            <a:r>
              <a:t>Body Level Four</a:t>
            </a:r>
          </a:p>
          <a:p>
            <a:pPr lvl="4"/>
            <a:r>
              <a:t>Body Level Five</a:t>
            </a:r>
          </a:p>
        </p:txBody>
      </p:sp>
      <p:sp>
        <p:nvSpPr>
          <p:cNvPr id="7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itle, Bullets &amp; Live Video Large">
    <p:spTree>
      <p:nvGrpSpPr>
        <p:cNvPr id="1" name=""/>
        <p:cNvGrpSpPr/>
        <p:nvPr/>
      </p:nvGrpSpPr>
      <p:grpSpPr>
        <a:xfrm>
          <a:off x="0" y="0"/>
          <a:ext cx="0" cy="0"/>
          <a:chOff x="0" y="0"/>
          <a:chExt cx="0" cy="0"/>
        </a:xfrm>
      </p:grpSpPr>
      <p:sp>
        <p:nvSpPr>
          <p:cNvPr id="84" name="Title Text"/>
          <p:cNvSpPr txBox="1">
            <a:spLocks noGrp="1"/>
          </p:cNvSpPr>
          <p:nvPr>
            <p:ph type="title"/>
          </p:nvPr>
        </p:nvSpPr>
        <p:spPr>
          <a:prstGeom prst="rect">
            <a:avLst/>
          </a:prstGeom>
        </p:spPr>
        <p:txBody>
          <a:bodyPr/>
          <a:lstStyle/>
          <a:p>
            <a:r>
              <a:t>Title Text</a:t>
            </a:r>
          </a:p>
        </p:txBody>
      </p:sp>
      <p:sp>
        <p:nvSpPr>
          <p:cNvPr id="85" name="Body Level One…"/>
          <p:cNvSpPr txBox="1">
            <a:spLocks noGrp="1"/>
          </p:cNvSpPr>
          <p:nvPr>
            <p:ph type="body" sz="quarter" idx="1"/>
          </p:nvPr>
        </p:nvSpPr>
        <p:spPr>
          <a:xfrm>
            <a:off x="3460043" y="2923819"/>
            <a:ext cx="4543782" cy="4131738"/>
          </a:xfrm>
          <a:prstGeom prst="rect">
            <a:avLst/>
          </a:prstGeom>
        </p:spPr>
        <p:txBody>
          <a:bodyPr anchor="ctr"/>
          <a:lstStyle>
            <a:lvl1pPr marL="352926" indent="-352926" algn="l">
              <a:spcBef>
                <a:spcPts val="3000"/>
              </a:spcBef>
              <a:buSzPct val="125000"/>
              <a:buChar char="•"/>
              <a:defRPr sz="2400"/>
            </a:lvl1pPr>
            <a:lvl2pPr marL="911726" indent="-352926" algn="l">
              <a:spcBef>
                <a:spcPts val="3000"/>
              </a:spcBef>
              <a:buSzPct val="125000"/>
              <a:buChar char="•"/>
              <a:defRPr sz="2400"/>
            </a:lvl2pPr>
            <a:lvl3pPr marL="1470526" indent="-352926" algn="l">
              <a:spcBef>
                <a:spcPts val="3000"/>
              </a:spcBef>
              <a:buSzPct val="125000"/>
              <a:buChar char="•"/>
              <a:defRPr sz="2400"/>
            </a:lvl3pPr>
            <a:lvl4pPr marL="2029324" indent="-352924" algn="l">
              <a:spcBef>
                <a:spcPts val="3000"/>
              </a:spcBef>
              <a:buSzPct val="125000"/>
              <a:buChar char="•"/>
              <a:defRPr sz="2400"/>
            </a:lvl4pPr>
            <a:lvl5pPr marL="2588124" indent="-352924" algn="l">
              <a:spcBef>
                <a:spcPts val="3000"/>
              </a:spcBef>
              <a:buSzPct val="125000"/>
              <a:buChar char="•"/>
              <a:defRPr sz="24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93" name="Body Level One…"/>
          <p:cNvSpPr txBox="1">
            <a:spLocks noGrp="1"/>
          </p:cNvSpPr>
          <p:nvPr>
            <p:ph type="body" sz="half" idx="1"/>
          </p:nvPr>
        </p:nvSpPr>
        <p:spPr>
          <a:xfrm>
            <a:off x="3460043" y="2314219"/>
            <a:ext cx="9335914" cy="4515562"/>
          </a:xfrm>
          <a:prstGeom prst="rect">
            <a:avLst/>
          </a:prstGeom>
        </p:spPr>
        <p:txBody>
          <a:bodyPr anchor="ctr"/>
          <a:lstStyle>
            <a:lvl1pPr marL="423332" indent="-423332" algn="l">
              <a:spcBef>
                <a:spcPts val="3900"/>
              </a:spcBef>
              <a:buSzPct val="125000"/>
              <a:buChar char="•"/>
              <a:defRPr sz="3200"/>
            </a:lvl1pPr>
            <a:lvl2pPr marL="1058332" indent="-423332" algn="l">
              <a:spcBef>
                <a:spcPts val="3900"/>
              </a:spcBef>
              <a:buSzPct val="125000"/>
              <a:buChar char="•"/>
              <a:defRPr sz="3200"/>
            </a:lvl2pPr>
            <a:lvl3pPr marL="1693333" indent="-423332" algn="l">
              <a:spcBef>
                <a:spcPts val="3900"/>
              </a:spcBef>
              <a:buSzPct val="125000"/>
              <a:buChar char="•"/>
              <a:defRPr sz="3200"/>
            </a:lvl3pPr>
            <a:lvl4pPr marL="2328333" indent="-423333" algn="l">
              <a:spcBef>
                <a:spcPts val="3900"/>
              </a:spcBef>
              <a:buSzPct val="125000"/>
              <a:buChar char="•"/>
              <a:defRPr sz="3200"/>
            </a:lvl4pPr>
            <a:lvl5pPr marL="2963333" indent="-423333" algn="l">
              <a:spcBef>
                <a:spcPts val="3900"/>
              </a:spcBef>
              <a:buSzPct val="125000"/>
              <a:buChar char="•"/>
              <a:defRPr sz="3200"/>
            </a:lvl5pPr>
          </a:lstStyle>
          <a:p>
            <a:r>
              <a:t>Body Level One</a:t>
            </a:r>
          </a:p>
          <a:p>
            <a:pPr lvl="1"/>
            <a:r>
              <a:t>Body Level Two</a:t>
            </a:r>
          </a:p>
          <a:p>
            <a:pPr lvl="2"/>
            <a:r>
              <a:t>Body Level Three</a:t>
            </a:r>
          </a:p>
          <a:p>
            <a:pPr lvl="3"/>
            <a:r>
              <a:t>Body Level Four</a:t>
            </a:r>
          </a:p>
          <a:p>
            <a:pPr lvl="4"/>
            <a:r>
              <a:t>Body Level Five</a:t>
            </a:r>
          </a:p>
        </p:txBody>
      </p:sp>
      <p:sp>
        <p:nvSpPr>
          <p:cNvPr id="9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101" name="Sandy path between two hills leading to the ocean"/>
          <p:cNvSpPr>
            <a:spLocks noGrp="1"/>
          </p:cNvSpPr>
          <p:nvPr>
            <p:ph type="pic" sz="quarter" idx="21"/>
          </p:nvPr>
        </p:nvSpPr>
        <p:spPr>
          <a:xfrm>
            <a:off x="9509476" y="4656666"/>
            <a:ext cx="3699938" cy="2466627"/>
          </a:xfrm>
          <a:prstGeom prst="rect">
            <a:avLst/>
          </a:prstGeom>
        </p:spPr>
        <p:txBody>
          <a:bodyPr lIns="91439" tIns="45719" rIns="91439" bIns="45719">
            <a:noAutofit/>
          </a:bodyPr>
          <a:lstStyle/>
          <a:p>
            <a:endParaRPr/>
          </a:p>
        </p:txBody>
      </p:sp>
      <p:sp>
        <p:nvSpPr>
          <p:cNvPr id="102" name="Heron flying low over a beach with a short fence in the foreground"/>
          <p:cNvSpPr>
            <a:spLocks noGrp="1"/>
          </p:cNvSpPr>
          <p:nvPr>
            <p:ph type="pic" sz="quarter" idx="22"/>
          </p:nvPr>
        </p:nvSpPr>
        <p:spPr>
          <a:xfrm>
            <a:off x="9714086" y="1907819"/>
            <a:ext cx="3290716" cy="3290717"/>
          </a:xfrm>
          <a:prstGeom prst="rect">
            <a:avLst/>
          </a:prstGeom>
        </p:spPr>
        <p:txBody>
          <a:bodyPr lIns="91439" tIns="45719" rIns="91439" bIns="45719">
            <a:noAutofit/>
          </a:bodyPr>
          <a:lstStyle/>
          <a:p>
            <a:endParaRPr/>
          </a:p>
        </p:txBody>
      </p:sp>
      <p:sp>
        <p:nvSpPr>
          <p:cNvPr id="103" name="View of beach and sea from a grassy sand dune"/>
          <p:cNvSpPr>
            <a:spLocks noGrp="1"/>
          </p:cNvSpPr>
          <p:nvPr>
            <p:ph type="pic" sz="half" idx="23"/>
          </p:nvPr>
        </p:nvSpPr>
        <p:spPr>
          <a:xfrm>
            <a:off x="2269064" y="2026354"/>
            <a:ext cx="7645404" cy="5096937"/>
          </a:xfrm>
          <a:prstGeom prst="rect">
            <a:avLst/>
          </a:prstGeom>
        </p:spPr>
        <p:txBody>
          <a:bodyPr lIns="91439" tIns="45719" rIns="91439" bIns="45719">
            <a:noAutofit/>
          </a:bodyPr>
          <a:lstStyle/>
          <a:p>
            <a:endParaRPr/>
          </a:p>
        </p:txBody>
      </p:sp>
      <p:sp>
        <p:nvSpPr>
          <p:cNvPr id="10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11" name="Body Level One…"/>
          <p:cNvSpPr txBox="1">
            <a:spLocks noGrp="1"/>
          </p:cNvSpPr>
          <p:nvPr>
            <p:ph type="body" sz="quarter" idx="1"/>
          </p:nvPr>
        </p:nvSpPr>
        <p:spPr>
          <a:xfrm>
            <a:off x="3770488" y="5503333"/>
            <a:ext cx="8720668" cy="342847"/>
          </a:xfrm>
          <a:prstGeom prst="rect">
            <a:avLst/>
          </a:prstGeom>
        </p:spPr>
        <p:txBody>
          <a:bodyPr/>
          <a:lstStyle>
            <a:lvl1pPr>
              <a:defRPr sz="2000" i="1"/>
            </a:lvl1pPr>
            <a:lvl2pPr>
              <a:defRPr sz="2000" i="1"/>
            </a:lvl2pPr>
            <a:lvl3pPr>
              <a:defRPr sz="2000" i="1"/>
            </a:lvl3pPr>
            <a:lvl4pPr>
              <a:defRPr sz="2000" i="1"/>
            </a:lvl4pPr>
            <a:lvl5pPr>
              <a:defRPr sz="2000" i="1"/>
            </a:lvl5pPr>
          </a:lstStyle>
          <a:p>
            <a:r>
              <a:t>Body Level One</a:t>
            </a:r>
          </a:p>
          <a:p>
            <a:pPr lvl="1"/>
            <a:r>
              <a:t>Body Level Two</a:t>
            </a:r>
          </a:p>
          <a:p>
            <a:pPr lvl="2"/>
            <a:r>
              <a:t>Body Level Three</a:t>
            </a:r>
          </a:p>
          <a:p>
            <a:pPr lvl="3"/>
            <a:r>
              <a:t>Body Level Four</a:t>
            </a:r>
          </a:p>
          <a:p>
            <a:pPr lvl="4"/>
            <a:r>
              <a:t>Body Level Five</a:t>
            </a:r>
          </a:p>
        </p:txBody>
      </p:sp>
      <p:sp>
        <p:nvSpPr>
          <p:cNvPr id="112" name="“Type a quote here.”"/>
          <p:cNvSpPr txBox="1">
            <a:spLocks noGrp="1"/>
          </p:cNvSpPr>
          <p:nvPr>
            <p:ph type="body" sz="quarter" idx="21"/>
          </p:nvPr>
        </p:nvSpPr>
        <p:spPr>
          <a:xfrm>
            <a:off x="3770488" y="4143976"/>
            <a:ext cx="8720668" cy="528671"/>
          </a:xfrm>
          <a:prstGeom prst="rect">
            <a:avLst/>
          </a:prstGeom>
        </p:spPr>
        <p:txBody>
          <a:bodyPr anchor="ctr"/>
          <a:lstStyle/>
          <a:p>
            <a:endParaRPr/>
          </a:p>
        </p:txBody>
      </p:sp>
      <p:sp>
        <p:nvSpPr>
          <p:cNvPr id="1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20" name="View of beach and sea from a grassy sand dune"/>
          <p:cNvSpPr>
            <a:spLocks noGrp="1"/>
          </p:cNvSpPr>
          <p:nvPr>
            <p:ph type="pic" idx="21"/>
          </p:nvPr>
        </p:nvSpPr>
        <p:spPr>
          <a:xfrm>
            <a:off x="2686754" y="959554"/>
            <a:ext cx="10882494" cy="7254996"/>
          </a:xfrm>
          <a:prstGeom prst="rect">
            <a:avLst/>
          </a:prstGeom>
        </p:spPr>
        <p:txBody>
          <a:bodyPr lIns="91439" tIns="45719" rIns="91439" bIns="45719">
            <a:noAutofit/>
          </a:bodyPr>
          <a:lstStyle/>
          <a:p>
            <a:endParaRPr/>
          </a:p>
        </p:txBody>
      </p:sp>
      <p:sp>
        <p:nvSpPr>
          <p:cNvPr id="12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3460043" y="1682044"/>
            <a:ext cx="9335914" cy="101600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normAutofit/>
          </a:bodyPr>
          <a:lstStyle/>
          <a:p>
            <a:r>
              <a:t>Title Text</a:t>
            </a:r>
          </a:p>
        </p:txBody>
      </p:sp>
      <p:sp>
        <p:nvSpPr>
          <p:cNvPr id="3" name="Body Level One…"/>
          <p:cNvSpPr txBox="1">
            <a:spLocks noGrp="1"/>
          </p:cNvSpPr>
          <p:nvPr>
            <p:ph type="body" idx="1"/>
          </p:nvPr>
        </p:nvSpPr>
        <p:spPr>
          <a:xfrm>
            <a:off x="9073444" y="3251200"/>
            <a:ext cx="6366934" cy="58928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7983271" y="7337776"/>
            <a:ext cx="283812" cy="267858"/>
          </a:xfrm>
          <a:prstGeom prst="rect">
            <a:avLst/>
          </a:prstGeom>
          <a:ln w="12700">
            <a:miter lim="400000"/>
          </a:ln>
        </p:spPr>
        <p:txBody>
          <a:bodyPr wrap="none" lIns="22576" tIns="22576" rIns="22576" bIns="22576">
            <a:spAutoFit/>
          </a:bodyPr>
          <a:lstStyle>
            <a:lvl1pPr algn="ctr">
              <a:spcBef>
                <a:spcPts val="0"/>
              </a:spcBef>
              <a:defRPr sz="1600">
                <a:latin typeface="Helvetica Neue Light"/>
                <a:ea typeface="Helvetica Neue Light"/>
                <a:cs typeface="Helvetica Neue Light"/>
                <a:sym typeface="Helvetica Neue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med"/>
  <p:txStyles>
    <p:titleStyle>
      <a:lvl1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1pPr>
      <a:lvl2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2pPr>
      <a:lvl3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3pPr>
      <a:lvl4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4pPr>
      <a:lvl5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5pPr>
      <a:lvl6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6pPr>
      <a:lvl7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7pPr>
      <a:lvl8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8pPr>
      <a:lvl9pPr marL="0" marR="0" indent="0" algn="ctr" defTabSz="550332" rtl="0" latinLnBrk="0">
        <a:lnSpc>
          <a:spcPct val="100000"/>
        </a:lnSpc>
        <a:spcBef>
          <a:spcPts val="0"/>
        </a:spcBef>
        <a:spcAft>
          <a:spcPts val="0"/>
        </a:spcAft>
        <a:buClrTx/>
        <a:buSzTx/>
        <a:buFontTx/>
        <a:buNone/>
        <a:tabLst/>
        <a:defRPr sz="7400" b="0" i="0" u="none" strike="noStrike" cap="none" spc="0" baseline="0">
          <a:solidFill>
            <a:srgbClr val="000000"/>
          </a:solidFill>
          <a:uFillTx/>
          <a:latin typeface="Helvetica Neue Medium"/>
          <a:ea typeface="Helvetica Neue Medium"/>
          <a:cs typeface="Helvetica Neue Medium"/>
          <a:sym typeface="Helvetica Neue Medium"/>
        </a:defRPr>
      </a:lvl9pPr>
    </p:titleStyle>
    <p:bodyStyle>
      <a:lvl1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1pPr>
      <a:lvl2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2pPr>
      <a:lvl3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3pPr>
      <a:lvl4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4pPr>
      <a:lvl5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5pPr>
      <a:lvl6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6pPr>
      <a:lvl7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7pPr>
      <a:lvl8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8pPr>
      <a:lvl9pPr marL="0" marR="0" indent="0" algn="ctr" defTabSz="550332" rtl="0" latinLnBrk="0">
        <a:lnSpc>
          <a:spcPct val="100000"/>
        </a:lnSpc>
        <a:spcBef>
          <a:spcPts val="0"/>
        </a:spcBef>
        <a:spcAft>
          <a:spcPts val="0"/>
        </a:spcAft>
        <a:buClrTx/>
        <a:buSzTx/>
        <a:buFontTx/>
        <a:buNone/>
        <a:tabLst/>
        <a:defRPr sz="3600" b="0" i="0" u="none" strike="noStrike" cap="none" spc="0" baseline="0">
          <a:solidFill>
            <a:srgbClr val="000000"/>
          </a:solidFill>
          <a:uFillTx/>
          <a:latin typeface="+mj-lt"/>
          <a:ea typeface="+mj-ea"/>
          <a:cs typeface="+mj-cs"/>
          <a:sym typeface="Helvetica Neue"/>
        </a:defRPr>
      </a:lvl9pPr>
    </p:bodyStyle>
    <p:otherStyle>
      <a:lvl1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1pPr>
      <a:lvl2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2pPr>
      <a:lvl3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3pPr>
      <a:lvl4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4pPr>
      <a:lvl5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5pPr>
      <a:lvl6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6pPr>
      <a:lvl7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7pPr>
      <a:lvl8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8pPr>
      <a:lvl9pPr marL="0" marR="0" indent="0" algn="ctr" defTabSz="550332"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Helvetica Neue Ligh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ROJECT STATUS  /  TEAM 2"/>
          <p:cNvSpPr txBox="1"/>
          <p:nvPr/>
        </p:nvSpPr>
        <p:spPr>
          <a:xfrm>
            <a:off x="914400" y="606072"/>
            <a:ext cx="6350000" cy="286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400">
                <a:solidFill>
                  <a:srgbClr val="1973B7"/>
                </a:solidFill>
                <a:latin typeface="Avenir Next Demi Bold"/>
                <a:ea typeface="Avenir Next Demi Bold"/>
                <a:cs typeface="Avenir Next Demi Bold"/>
                <a:sym typeface="Avenir Next Demi Bold"/>
              </a:defRPr>
            </a:lvl1pPr>
          </a:lstStyle>
          <a:p>
            <a:r>
              <a:t>INTRODUCTION  /  TEAM 2</a:t>
            </a:r>
          </a:p>
        </p:txBody>
      </p:sp>
      <p:sp>
        <p:nvSpPr>
          <p:cNvPr id="138" name="Historical Stock Analysis"/>
          <p:cNvSpPr txBox="1"/>
          <p:nvPr/>
        </p:nvSpPr>
        <p:spPr>
          <a:xfrm>
            <a:off x="914400" y="1501422"/>
            <a:ext cx="12065000" cy="984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5400">
                <a:solidFill>
                  <a:srgbClr val="182E48"/>
                </a:solidFill>
                <a:latin typeface="Avenir Next Demi Bold"/>
                <a:ea typeface="Avenir Next Demi Bold"/>
                <a:cs typeface="Avenir Next Demi Bold"/>
                <a:sym typeface="Avenir Next Demi Bold"/>
              </a:defRPr>
            </a:lvl1pPr>
          </a:lstStyle>
          <a:p>
            <a:r>
              <a:t>Historical Stock Analysis</a:t>
            </a:r>
          </a:p>
        </p:txBody>
      </p:sp>
      <p:sp>
        <p:nvSpPr>
          <p:cNvPr id="139" name="Does diversification survive a closer look?"/>
          <p:cNvSpPr txBox="1"/>
          <p:nvPr/>
        </p:nvSpPr>
        <p:spPr>
          <a:xfrm>
            <a:off x="914397" y="2688869"/>
            <a:ext cx="11684007"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58657C"/>
                </a:solidFill>
                <a:latin typeface="Avenir Next Medium"/>
                <a:ea typeface="Avenir Next Medium"/>
                <a:cs typeface="Avenir Next Medium"/>
                <a:sym typeface="Avenir Next Medium"/>
              </a:defRPr>
            </a:lvl1pPr>
          </a:lstStyle>
          <a:p>
            <a:r>
              <a:t>Does diversification survive a closer look?</a:t>
            </a:r>
          </a:p>
        </p:txBody>
      </p:sp>
      <p:sp>
        <p:nvSpPr>
          <p:cNvPr id="140" name="230,111"/>
          <p:cNvSpPr txBox="1"/>
          <p:nvPr/>
        </p:nvSpPr>
        <p:spPr>
          <a:xfrm>
            <a:off x="914397" y="4358921"/>
            <a:ext cx="3302006"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1973B7"/>
                </a:solidFill>
                <a:latin typeface="Avenir Next Demi Bold"/>
                <a:ea typeface="Avenir Next Demi Bold"/>
                <a:cs typeface="Avenir Next Demi Bold"/>
                <a:sym typeface="Avenir Next Demi Bold"/>
              </a:defRPr>
            </a:lvl1pPr>
          </a:lstStyle>
          <a:p>
            <a:r>
              <a:t>230,111</a:t>
            </a:r>
          </a:p>
        </p:txBody>
      </p:sp>
      <p:sp>
        <p:nvSpPr>
          <p:cNvPr id="141" name="ticker-days"/>
          <p:cNvSpPr txBox="1"/>
          <p:nvPr/>
        </p:nvSpPr>
        <p:spPr>
          <a:xfrm>
            <a:off x="965200" y="5190771"/>
            <a:ext cx="2794000"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ticker-days</a:t>
            </a:r>
          </a:p>
        </p:txBody>
      </p:sp>
      <p:sp>
        <p:nvSpPr>
          <p:cNvPr id="142" name="49"/>
          <p:cNvSpPr txBox="1"/>
          <p:nvPr/>
        </p:nvSpPr>
        <p:spPr>
          <a:xfrm>
            <a:off x="4775200" y="4358921"/>
            <a:ext cx="1524000"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D06F21"/>
                </a:solidFill>
                <a:latin typeface="Avenir Next Demi Bold"/>
                <a:ea typeface="Avenir Next Demi Bold"/>
                <a:cs typeface="Avenir Next Demi Bold"/>
                <a:sym typeface="Avenir Next Demi Bold"/>
              </a:defRPr>
            </a:lvl1pPr>
          </a:lstStyle>
          <a:p>
            <a:r>
              <a:t>49</a:t>
            </a:r>
          </a:p>
        </p:txBody>
      </p:sp>
      <p:sp>
        <p:nvSpPr>
          <p:cNvPr id="143" name="global tickers"/>
          <p:cNvSpPr txBox="1"/>
          <p:nvPr/>
        </p:nvSpPr>
        <p:spPr>
          <a:xfrm>
            <a:off x="4826000" y="5190771"/>
            <a:ext cx="2794000"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global tickers</a:t>
            </a:r>
          </a:p>
        </p:txBody>
      </p:sp>
      <p:sp>
        <p:nvSpPr>
          <p:cNvPr id="144" name="20 years"/>
          <p:cNvSpPr txBox="1"/>
          <p:nvPr/>
        </p:nvSpPr>
        <p:spPr>
          <a:xfrm>
            <a:off x="8712200" y="4358921"/>
            <a:ext cx="2794000"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0B856E"/>
                </a:solidFill>
                <a:latin typeface="Avenir Next Demi Bold"/>
                <a:ea typeface="Avenir Next Demi Bold"/>
                <a:cs typeface="Avenir Next Demi Bold"/>
                <a:sym typeface="Avenir Next Demi Bold"/>
              </a:defRPr>
            </a:lvl1pPr>
          </a:lstStyle>
          <a:p>
            <a:r>
              <a:t>20 years</a:t>
            </a:r>
          </a:p>
        </p:txBody>
      </p:sp>
      <p:sp>
        <p:nvSpPr>
          <p:cNvPr id="145" name="2006–2026"/>
          <p:cNvSpPr txBox="1"/>
          <p:nvPr/>
        </p:nvSpPr>
        <p:spPr>
          <a:xfrm>
            <a:off x="8762999" y="5190771"/>
            <a:ext cx="2794004"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2006–2026</a:t>
            </a:r>
          </a:p>
        </p:txBody>
      </p:sp>
      <p:sp>
        <p:nvSpPr>
          <p:cNvPr id="146" name="Karthikeyan M  ·  Mirthula M  ·  Lakshmi Mayuri Kavya N"/>
          <p:cNvSpPr txBox="1"/>
          <p:nvPr/>
        </p:nvSpPr>
        <p:spPr>
          <a:xfrm>
            <a:off x="914400" y="7330722"/>
            <a:ext cx="11811000" cy="388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182E48"/>
                </a:solidFill>
                <a:latin typeface="Avenir Next Medium"/>
                <a:ea typeface="Avenir Next Medium"/>
                <a:cs typeface="Avenir Next Medium"/>
                <a:sym typeface="Avenir Next Medium"/>
              </a:defRPr>
            </a:lvl1pPr>
          </a:lstStyle>
          <a:p>
            <a:r>
              <a:t>Karthikeyan M  ·  Mirthula M  ·  Lakshmi Mayuri Kavya N</a:t>
            </a:r>
          </a:p>
        </p:txBody>
      </p:sp>
      <p:sp>
        <p:nvSpPr>
          <p:cNvPr id="147" name="●"/>
          <p:cNvSpPr txBox="1"/>
          <p:nvPr/>
        </p:nvSpPr>
        <p:spPr>
          <a:xfrm>
            <a:off x="14478000" y="1501422"/>
            <a:ext cx="508000"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800">
                <a:solidFill>
                  <a:srgbClr val="1973B7"/>
                </a:solidFill>
                <a:latin typeface="Avenir Next Demi Bold"/>
                <a:ea typeface="Avenir Next Demi Bold"/>
                <a:cs typeface="Avenir Next Demi Bold"/>
                <a:sym typeface="Avenir Next Demi Bold"/>
              </a:defRPr>
            </a:lvl1pPr>
          </a:lstStyle>
          <a:p>
            <a:r>
              <a:t>●</a:t>
            </a:r>
          </a:p>
        </p:txBody>
      </p:sp>
      <p:sp>
        <p:nvSpPr>
          <p:cNvPr id="148" name="●"/>
          <p:cNvSpPr txBox="1"/>
          <p:nvPr/>
        </p:nvSpPr>
        <p:spPr>
          <a:xfrm>
            <a:off x="14909800" y="2009419"/>
            <a:ext cx="508000"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800">
                <a:solidFill>
                  <a:srgbClr val="D06F21"/>
                </a:solidFill>
                <a:latin typeface="Avenir Next Demi Bold"/>
                <a:ea typeface="Avenir Next Demi Bold"/>
                <a:cs typeface="Avenir Next Demi Bold"/>
                <a:sym typeface="Avenir Next Demi Bold"/>
              </a:defRPr>
            </a:lvl1pPr>
          </a:lstStyle>
          <a:p>
            <a:r>
              <a:t>●</a:t>
            </a:r>
          </a:p>
        </p:txBody>
      </p:sp>
      <p:sp>
        <p:nvSpPr>
          <p:cNvPr id="149" name="●"/>
          <p:cNvSpPr txBox="1"/>
          <p:nvPr/>
        </p:nvSpPr>
        <p:spPr>
          <a:xfrm>
            <a:off x="14325598" y="2542819"/>
            <a:ext cx="508004"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800">
                <a:solidFill>
                  <a:srgbClr val="0B856E"/>
                </a:solidFill>
                <a:latin typeface="Avenir Next Demi Bold"/>
                <a:ea typeface="Avenir Next Demi Bold"/>
                <a:cs typeface="Avenir Next Demi Bold"/>
                <a:sym typeface="Avenir Next Demi Bold"/>
              </a:defRPr>
            </a:lvl1pPr>
          </a:lstStyle>
          <a:p>
            <a:r>
              <a:t>●</a:t>
            </a:r>
          </a:p>
        </p:txBody>
      </p:sp>
      <p:sp>
        <p:nvSpPr>
          <p:cNvPr id="150" name="HISTORICAL STOCK ANALYSIS  /  OPENING"/>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INTRODUCTION</a:t>
            </a:r>
          </a:p>
        </p:txBody>
      </p:sp>
      <p:sp>
        <p:nvSpPr>
          <p:cNvPr id="151" name="1"/>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1</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  DATA"/>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INTRODUCTION</a:t>
            </a:r>
          </a:p>
        </p:txBody>
      </p:sp>
      <p:sp>
        <p:nvSpPr>
          <p:cNvPr id="156" name="2"/>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2</a:t>
            </a:r>
          </a:p>
        </p:txBody>
      </p:sp>
      <p:sp>
        <p:nvSpPr>
          <p:cNvPr id="157" name="Each row is one company on one trading day"/>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What we analyzed and how</a:t>
            </a:r>
          </a:p>
        </p:txBody>
      </p:sp>
      <p:sp>
        <p:nvSpPr>
          <p:cNvPr id="158" name="The file combines price, return-ready closing values, and trading activity."/>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230,111 daily company records; Python tested the hypotheses and R replicated the monthly analysis.</a:t>
            </a:r>
          </a:p>
        </p:txBody>
      </p:sp>
      <p:sp>
        <p:nvSpPr>
          <p:cNvPr id="159" name="HISTORICAL STOCK ANALYSIS  /  DATA"/>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INTRODUCTION</a:t>
            </a:r>
          </a:p>
        </p:txBody>
      </p:sp>
      <p:sp>
        <p:nvSpPr>
          <p:cNvPr id="160" name="2"/>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2</a:t>
            </a:r>
          </a:p>
        </p:txBody>
      </p:sp>
      <p:sp>
        <p:nvSpPr>
          <p:cNvPr id="161" name="230,111 rows"/>
          <p:cNvSpPr txBox="1"/>
          <p:nvPr/>
        </p:nvSpPr>
        <p:spPr>
          <a:xfrm>
            <a:off x="914400" y="2320569"/>
            <a:ext cx="3048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973B7"/>
                </a:solidFill>
                <a:latin typeface="Avenir Next Demi Bold"/>
                <a:ea typeface="Avenir Next Demi Bold"/>
                <a:cs typeface="Avenir Next Demi Bold"/>
                <a:sym typeface="Avenir Next Demi Bold"/>
              </a:defRPr>
            </a:lvl1pPr>
          </a:lstStyle>
          <a:p>
            <a:r>
              <a:t>230,111 rows</a:t>
            </a:r>
          </a:p>
        </p:txBody>
      </p:sp>
      <p:sp>
        <p:nvSpPr>
          <p:cNvPr id="162" name="8 columns"/>
          <p:cNvSpPr txBox="1"/>
          <p:nvPr/>
        </p:nvSpPr>
        <p:spPr>
          <a:xfrm>
            <a:off x="4445000" y="2320569"/>
            <a:ext cx="2286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D06F21"/>
                </a:solidFill>
                <a:latin typeface="Avenir Next Demi Bold"/>
                <a:ea typeface="Avenir Next Demi Bold"/>
                <a:cs typeface="Avenir Next Demi Bold"/>
                <a:sym typeface="Avenir Next Demi Bold"/>
              </a:defRPr>
            </a:lvl1pPr>
          </a:lstStyle>
          <a:p>
            <a:r>
              <a:t>8 columns</a:t>
            </a:r>
          </a:p>
        </p:txBody>
      </p:sp>
      <p:sp>
        <p:nvSpPr>
          <p:cNvPr id="163" name="0 missing values"/>
          <p:cNvSpPr txBox="1"/>
          <p:nvPr/>
        </p:nvSpPr>
        <p:spPr>
          <a:xfrm>
            <a:off x="7239000" y="2320569"/>
            <a:ext cx="3048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0B856E"/>
                </a:solidFill>
                <a:latin typeface="Avenir Next Demi Bold"/>
                <a:ea typeface="Avenir Next Demi Bold"/>
                <a:cs typeface="Avenir Next Demi Bold"/>
                <a:sym typeface="Avenir Next Demi Bold"/>
              </a:defRPr>
            </a:lvl1pPr>
          </a:lstStyle>
          <a:p>
            <a:r>
              <a:t>0 missing values</a:t>
            </a:r>
          </a:p>
        </p:txBody>
      </p:sp>
      <p:sp>
        <p:nvSpPr>
          <p:cNvPr id="164" name="2006-01-02 → 2026-02-20"/>
          <p:cNvSpPr txBox="1"/>
          <p:nvPr/>
        </p:nvSpPr>
        <p:spPr>
          <a:xfrm>
            <a:off x="10795000" y="2403119"/>
            <a:ext cx="44450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r>
              <a:t>2006-01-02 → 2026-02-20</a:t>
            </a:r>
          </a:p>
        </p:txBody>
      </p:sp>
      <p:graphicFrame>
        <p:nvGraphicFramePr>
          <p:cNvPr id="165" name="Table 1"/>
          <p:cNvGraphicFramePr/>
          <p:nvPr>
            <p:extLst>
              <p:ext uri="{D42A27DB-BD31-4B8C-83A1-F6EECF244321}">
                <p14:modId xmlns:p14="http://schemas.microsoft.com/office/powerpoint/2010/main" val="3482196079"/>
              </p:ext>
            </p:extLst>
          </p:nvPr>
        </p:nvGraphicFramePr>
        <p:xfrm>
          <a:off x="914400" y="3149600"/>
          <a:ext cx="14427197" cy="4013200"/>
        </p:xfrm>
        <a:graphic>
          <a:graphicData uri="http://schemas.openxmlformats.org/drawingml/2006/table">
            <a:tbl>
              <a:tblPr firstRow="1" bandRow="1">
                <a:tableStyleId>{4C3C2611-4C71-4FC5-86AE-919BDF0F9419}</a:tableStyleId>
              </a:tblPr>
              <a:tblGrid>
                <a:gridCol w="1900000">
                  <a:extLst>
                    <a:ext uri="{9D8B030D-6E8A-4147-A177-3AD203B41FA5}">
                      <a16:colId xmlns:a16="http://schemas.microsoft.com/office/drawing/2014/main" val="20000"/>
                    </a:ext>
                  </a:extLst>
                </a:gridCol>
                <a:gridCol w="1650000">
                  <a:extLst>
                    <a:ext uri="{9D8B030D-6E8A-4147-A177-3AD203B41FA5}">
                      <a16:colId xmlns:a16="http://schemas.microsoft.com/office/drawing/2014/main" val="20001"/>
                    </a:ext>
                  </a:extLst>
                </a:gridCol>
                <a:gridCol w="1750000">
                  <a:extLst>
                    <a:ext uri="{9D8B030D-6E8A-4147-A177-3AD203B41FA5}">
                      <a16:colId xmlns:a16="http://schemas.microsoft.com/office/drawing/2014/main" val="20002"/>
                    </a:ext>
                  </a:extLst>
                </a:gridCol>
                <a:gridCol w="1750000">
                  <a:extLst>
                    <a:ext uri="{9D8B030D-6E8A-4147-A177-3AD203B41FA5}">
                      <a16:colId xmlns:a16="http://schemas.microsoft.com/office/drawing/2014/main" val="20003"/>
                    </a:ext>
                  </a:extLst>
                </a:gridCol>
                <a:gridCol w="1750000">
                  <a:extLst>
                    <a:ext uri="{9D8B030D-6E8A-4147-A177-3AD203B41FA5}">
                      <a16:colId xmlns:a16="http://schemas.microsoft.com/office/drawing/2014/main" val="20004"/>
                    </a:ext>
                  </a:extLst>
                </a:gridCol>
                <a:gridCol w="1750000">
                  <a:extLst>
                    <a:ext uri="{9D8B030D-6E8A-4147-A177-3AD203B41FA5}">
                      <a16:colId xmlns:a16="http://schemas.microsoft.com/office/drawing/2014/main" val="20005"/>
                    </a:ext>
                  </a:extLst>
                </a:gridCol>
                <a:gridCol w="1900000">
                  <a:extLst>
                    <a:ext uri="{9D8B030D-6E8A-4147-A177-3AD203B41FA5}">
                      <a16:colId xmlns:a16="http://schemas.microsoft.com/office/drawing/2014/main" val="20006"/>
                    </a:ext>
                  </a:extLst>
                </a:gridCol>
                <a:gridCol w="1977197">
                  <a:extLst>
                    <a:ext uri="{9D8B030D-6E8A-4147-A177-3AD203B41FA5}">
                      <a16:colId xmlns:a16="http://schemas.microsoft.com/office/drawing/2014/main" val="20007"/>
                    </a:ext>
                  </a:extLst>
                </a:gridCol>
              </a:tblGrid>
              <a:tr h="1003300">
                <a:tc>
                  <a:txBody>
                    <a:bodyPr/>
                    <a:lstStyle/>
                    <a:p>
                      <a:pPr lvl="0" algn="ctr" defTabSz="914400">
                        <a:buNone/>
                        <a:defRPr sz="1600"/>
                      </a:pPr>
                      <a:r>
                        <a:rPr lang="en-US" sz="1600">
                          <a:solidFill>
                            <a:srgbClr val="182E48"/>
                          </a:solidFill>
                          <a:latin typeface="Avenir Next Regular"/>
                          <a:ea typeface="Avenir Next Regular"/>
                          <a:cs typeface="Avenir Next Regular"/>
                        </a:rPr>
                        <a:t>Date</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Ticker</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Open</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High</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Low</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Close</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Adj Close</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tc>
                  <a:txBody>
                    <a:bodyPr/>
                    <a:lstStyle/>
                    <a:p>
                      <a:pPr lvl="0" algn="ctr" defTabSz="914400">
                        <a:buNone/>
                        <a:defRPr sz="1600"/>
                      </a:pPr>
                      <a:r>
                        <a:rPr lang="en-US" sz="1600">
                          <a:solidFill>
                            <a:srgbClr val="182E48"/>
                          </a:solidFill>
                          <a:latin typeface="Avenir Next Regular"/>
                          <a:ea typeface="Avenir Next Regular"/>
                          <a:cs typeface="Avenir Next Regular"/>
                        </a:rPr>
                        <a:t>Volume</a:t>
                      </a:r>
                      <a:endParaRPr sz="1600">
                        <a:solidFill>
                          <a:srgbClr val="182E48"/>
                        </a:solidFill>
                        <a:latin typeface="Avenir Next Regular"/>
                        <a:ea typeface="Avenir Next Regular"/>
                        <a:cs typeface="Avenir Next Regular"/>
                        <a:sym typeface="Avenir Next Regular"/>
                      </a:endParaRPr>
                    </a:p>
                  </a:txBody>
                  <a:tcPr marL="25400" marR="25400" marT="50800" marB="50800" anchor="ctr" horzOverflow="overflow">
                    <a:solidFill>
                      <a:srgbClr val="FFFFFF"/>
                    </a:solidFill>
                  </a:tcPr>
                </a:tc>
                <a:extLst>
                  <a:ext uri="{0D108BD9-81ED-4DB2-BD59-A6C34878D82A}">
                    <a16:rowId xmlns:a16="http://schemas.microsoft.com/office/drawing/2014/main" val="10000"/>
                  </a:ext>
                </a:extLst>
              </a:tr>
              <a:tr h="1003300">
                <a:tc>
                  <a:txBody>
                    <a:bodyPr/>
                    <a:lstStyle/>
                    <a:p>
                      <a:pPr lvl="0" algn="ctr" defTabSz="914400">
                        <a:buNone/>
                        <a:defRPr sz="1450"/>
                      </a:pPr>
                      <a:r>
                        <a:rPr lang="en-US" sz="1450">
                          <a:solidFill>
                            <a:srgbClr val="182E48"/>
                          </a:solidFill>
                          <a:latin typeface="Avenir Next Regular"/>
                          <a:ea typeface="Avenir Next Regular"/>
                          <a:cs typeface="Avenir Next Regular"/>
                        </a:rPr>
                        <a:t>2026-02-20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AAPL</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258.97</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264.75</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258.16</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264.58</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264.58</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4,20,44,900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extLst>
                  <a:ext uri="{0D108BD9-81ED-4DB2-BD59-A6C34878D82A}">
                    <a16:rowId xmlns:a16="http://schemas.microsoft.com/office/drawing/2014/main" val="10001"/>
                  </a:ext>
                </a:extLst>
              </a:tr>
              <a:tr h="1003300">
                <a:tc>
                  <a:txBody>
                    <a:bodyPr/>
                    <a:lstStyle/>
                    <a:p>
                      <a:pPr lvl="0" algn="ctr" defTabSz="914400">
                        <a:buNone/>
                        <a:defRPr sz="1450"/>
                      </a:pPr>
                      <a:r>
                        <a:rPr lang="en-US" sz="1450">
                          <a:solidFill>
                            <a:srgbClr val="182E48"/>
                          </a:solidFill>
                          <a:latin typeface="Avenir Next Regular"/>
                          <a:ea typeface="Avenir Next Regular"/>
                          <a:cs typeface="Avenir Next Regular"/>
                        </a:rPr>
                        <a:t>2026-02-20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005930.KS</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1,90,000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1,90,300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1,88,600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1,90,100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1,90,100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2,42,13,880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extLst>
                  <a:ext uri="{0D108BD9-81ED-4DB2-BD59-A6C34878D82A}">
                    <a16:rowId xmlns:a16="http://schemas.microsoft.com/office/drawing/2014/main" val="10002"/>
                  </a:ext>
                </a:extLst>
              </a:tr>
              <a:tr h="1003300">
                <a:tc>
                  <a:txBody>
                    <a:bodyPr/>
                    <a:lstStyle/>
                    <a:p>
                      <a:pPr lvl="0" algn="ctr" defTabSz="914400">
                        <a:buNone/>
                        <a:defRPr sz="1450"/>
                      </a:pPr>
                      <a:r>
                        <a:rPr lang="en-US" sz="1450">
                          <a:solidFill>
                            <a:srgbClr val="182E48"/>
                          </a:solidFill>
                          <a:latin typeface="Avenir Next Regular"/>
                          <a:ea typeface="Avenir Next Regular"/>
                          <a:cs typeface="Avenir Next Regular"/>
                        </a:rPr>
                        <a:t>2026-02-20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MC.PA</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541.40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559.20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540.10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554.70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554.70</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tc>
                  <a:txBody>
                    <a:bodyPr/>
                    <a:lstStyle/>
                    <a:p>
                      <a:pPr lvl="0" algn="ctr" defTabSz="914400">
                        <a:buNone/>
                        <a:defRPr sz="1450"/>
                      </a:pPr>
                      <a:r>
                        <a:rPr lang="en-US" sz="1450">
                          <a:solidFill>
                            <a:srgbClr val="182E48"/>
                          </a:solidFill>
                          <a:latin typeface="Avenir Next Regular"/>
                          <a:ea typeface="Avenir Next Regular"/>
                          <a:cs typeface="Avenir Next Regular"/>
                        </a:rPr>
                        <a:t>9,29,807</a:t>
                      </a:r>
                      <a:endParaRPr sz="1450">
                        <a:solidFill>
                          <a:srgbClr val="182E48"/>
                        </a:solidFill>
                        <a:latin typeface="Avenir Next Regular"/>
                        <a:ea typeface="Avenir Next Regular"/>
                        <a:cs typeface="Avenir Next Regular"/>
                        <a:sym typeface="Avenir Next Regular"/>
                      </a:endParaRPr>
                    </a:p>
                  </a:txBody>
                  <a:tcPr marL="25400" marR="25400" marT="50800" marB="50800" anchor="ctr" horzOverflow="overflow"/>
                </a:tc>
                <a:extLst>
                  <a:ext uri="{0D108BD9-81ED-4DB2-BD59-A6C34878D82A}">
                    <a16:rowId xmlns:a16="http://schemas.microsoft.com/office/drawing/2014/main" val="10003"/>
                  </a:ext>
                </a:extLst>
              </a:tr>
            </a:tbl>
          </a:graphicData>
        </a:graphic>
      </p:graphicFrame>
      <p:sp>
        <p:nvSpPr>
          <p:cNvPr id="166" name="Same columns, different exchanges and currencies—so the analysis cannot compare raw prices directly."/>
          <p:cNvSpPr txBox="1"/>
          <p:nvPr/>
        </p:nvSpPr>
        <p:spPr>
          <a:xfrm>
            <a:off x="914400" y="7495822"/>
            <a:ext cx="14224000" cy="413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D06F21"/>
                </a:solidFill>
                <a:latin typeface="Avenir Next Medium"/>
                <a:ea typeface="Avenir Next Medium"/>
                <a:cs typeface="Avenir Next Medium"/>
                <a:sym typeface="Avenir Next Medium"/>
              </a:defRPr>
            </a:lvl1pPr>
          </a:lstStyle>
          <a:p>
            <a:r>
              <a:t>Open, High, Low, and Close describe the daily price range; Adj Close includes dividend adjustments; Volume is shares traded.</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  CONCLUSION"/>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SETUP</a:t>
            </a:r>
          </a:p>
        </p:txBody>
      </p:sp>
      <p:sp>
        <p:nvSpPr>
          <p:cNvPr id="281" name="11"/>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3</a:t>
            </a:r>
          </a:p>
        </p:txBody>
      </p:sp>
      <p:sp>
        <p:nvSpPr>
          <p:cNvPr id="282" name="Diversification is present—but thinner when it matters most"/>
          <p:cNvSpPr txBox="1"/>
          <p:nvPr/>
        </p:nvSpPr>
        <p:spPr>
          <a:xfrm>
            <a:off x="914400" y="948969"/>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r>
              <a:t>Three hypotheses guide the analysis</a:t>
            </a:r>
          </a:p>
        </p:txBody>
      </p:sp>
      <p:sp>
        <p:nvSpPr>
          <p:cNvPr id="283" name="The three hypotheses agree on the central story while keeping their boundaries visible."/>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Each hypothesis tests one part of the same diversification question.</a:t>
            </a:r>
          </a:p>
        </p:txBody>
      </p:sp>
      <p:sp>
        <p:nvSpPr>
          <p:cNvPr id="284" name="HISTORICAL STOCK ANALYSIS  /  CONCLUSION"/>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HYPOTHESIS SETUP</a:t>
            </a:r>
          </a:p>
        </p:txBody>
      </p:sp>
      <p:sp>
        <p:nvSpPr>
          <p:cNvPr id="285" name="11"/>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3</a:t>
            </a:r>
          </a:p>
        </p:txBody>
      </p:sp>
      <p:sp>
        <p:nvSpPr>
          <p:cNvPr id="286" name="01"/>
          <p:cNvSpPr txBox="1"/>
          <p:nvPr/>
        </p:nvSpPr>
        <p:spPr>
          <a:xfrm>
            <a:off x="914399" y="2587269"/>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1973B7"/>
                </a:solidFill>
                <a:latin typeface="Avenir Next Demi Bold"/>
                <a:ea typeface="Avenir Next Demi Bold"/>
                <a:cs typeface="Avenir Next Demi Bold"/>
                <a:sym typeface="Avenir Next Demi Bold"/>
              </a:defRPr>
            </a:lvl1pPr>
          </a:lstStyle>
          <a:p>
            <a:r>
              <a:t>01</a:t>
            </a:r>
          </a:p>
        </p:txBody>
      </p:sp>
      <p:sp>
        <p:nvSpPr>
          <p:cNvPr id="287" name="Technology leadership was concentrated"/>
          <p:cNvSpPr txBox="1"/>
          <p:nvPr/>
        </p:nvSpPr>
        <p:spPr>
          <a:xfrm>
            <a:off x="2006600" y="2561869"/>
            <a:ext cx="8255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H1 · AI-rally concentration</a:t>
            </a:r>
          </a:p>
        </p:txBody>
      </p:sp>
      <p:sp>
        <p:nvSpPr>
          <p:cNvPr id="288" name="The selected chip/AI group gained 549% versus 168% for broader tech."/>
          <p:cNvSpPr txBox="1"/>
          <p:nvPr/>
        </p:nvSpPr>
        <p:spPr>
          <a:xfrm>
            <a:off x="2006600" y="3152419"/>
            <a:ext cx="110490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r>
              <a:t>The selected chip/AI group will outperform the selected broader-tech group during the AI rally.</a:t>
            </a:r>
          </a:p>
        </p:txBody>
      </p:sp>
      <p:sp>
        <p:nvSpPr>
          <p:cNvPr id="289" name="02"/>
          <p:cNvSpPr txBox="1"/>
          <p:nvPr/>
        </p:nvSpPr>
        <p:spPr>
          <a:xfrm>
            <a:off x="914399" y="4174771"/>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D06F21"/>
                </a:solidFill>
                <a:latin typeface="Avenir Next Demi Bold"/>
                <a:ea typeface="Avenir Next Demi Bold"/>
                <a:cs typeface="Avenir Next Demi Bold"/>
                <a:sym typeface="Avenir Next Demi Bold"/>
              </a:defRPr>
            </a:lvl1pPr>
          </a:lstStyle>
          <a:p>
            <a:r>
              <a:t>02</a:t>
            </a:r>
          </a:p>
        </p:txBody>
      </p:sp>
      <p:sp>
        <p:nvSpPr>
          <p:cNvPr id="290" name="Regional protection weakened in sudden stress"/>
          <p:cNvSpPr txBox="1"/>
          <p:nvPr/>
        </p:nvSpPr>
        <p:spPr>
          <a:xfrm>
            <a:off x="2006599" y="4149371"/>
            <a:ext cx="9398001"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H2 · Regional diversification during crises</a:t>
            </a:r>
          </a:p>
        </p:txBody>
      </p:sp>
      <p:sp>
        <p:nvSpPr>
          <p:cNvPr id="291" name="Average correlation peaked at 0.539 in the 2020 crash."/>
          <p:cNvSpPr txBox="1"/>
          <p:nvPr/>
        </p:nvSpPr>
        <p:spPr>
          <a:xfrm>
            <a:off x="2006598" y="4739921"/>
            <a:ext cx="10414004"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r>
              <a:t>Average regional correlations will be higher in crisis periods than in calm years.</a:t>
            </a:r>
          </a:p>
        </p:txBody>
      </p:sp>
      <p:sp>
        <p:nvSpPr>
          <p:cNvPr id="292" name="03"/>
          <p:cNvSpPr txBox="1"/>
          <p:nvPr/>
        </p:nvSpPr>
        <p:spPr>
          <a:xfrm>
            <a:off x="914399" y="5762271"/>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0B856E"/>
                </a:solidFill>
                <a:latin typeface="Avenir Next Demi Bold"/>
                <a:ea typeface="Avenir Next Demi Bold"/>
                <a:cs typeface="Avenir Next Demi Bold"/>
                <a:sym typeface="Avenir Next Demi Bold"/>
              </a:defRPr>
            </a:lvl1pPr>
          </a:lstStyle>
          <a:p>
            <a:r>
              <a:t>03</a:t>
            </a:r>
          </a:p>
        </p:txBody>
      </p:sp>
      <p:sp>
        <p:nvSpPr>
          <p:cNvPr id="293" name="Volatility independently confirmed the panic signal"/>
          <p:cNvSpPr txBox="1"/>
          <p:nvPr/>
        </p:nvSpPr>
        <p:spPr>
          <a:xfrm>
            <a:off x="2006598" y="5736871"/>
            <a:ext cx="10414004"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H3 · Volatility and volume during panic periods</a:t>
            </a:r>
          </a:p>
        </p:txBody>
      </p:sp>
      <p:sp>
        <p:nvSpPr>
          <p:cNvPr id="294" name="October 2008 and March 2020 were the largest monthly spikes."/>
          <p:cNvSpPr txBox="1"/>
          <p:nvPr/>
        </p:nvSpPr>
        <p:spPr>
          <a:xfrm>
            <a:off x="2006600" y="6349850"/>
            <a:ext cx="10922000" cy="3304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mj-lt"/>
                <a:ea typeface="+mj-ea"/>
                <a:cs typeface="+mj-cs"/>
                <a:sym typeface="Helvetica Neue"/>
              </a:defRPr>
            </a:lvl1pPr>
          </a:lstStyle>
          <a:p>
            <a:r>
              <a:t>Volatility and trading volume will rise during panic periods relative to the calm baseline.</a:t>
            </a:r>
          </a:p>
        </p:txBody>
      </p:sp>
      <p:sp>
        <p:nvSpPr>
          <p:cNvPr id="295" name="What we can claim: patterns in this dataset.  What we cannot claim: causality, forecasting, or a universal market law."/>
          <p:cNvSpPr txBox="1"/>
          <p:nvPr/>
        </p:nvSpPr>
        <p:spPr>
          <a:xfrm>
            <a:off x="914400" y="7641872"/>
            <a:ext cx="14427200" cy="413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100">
                <a:solidFill>
                  <a:srgbClr val="1973B7"/>
                </a:solidFill>
                <a:latin typeface="Avenir Next Demi Bold"/>
                <a:ea typeface="Avenir Next Demi Bold"/>
                <a:cs typeface="Avenir Next Demi Bold"/>
                <a:sym typeface="Avenir Next Demi Bold"/>
              </a:defRPr>
            </a:lvl1pPr>
          </a:lstStyle>
          <a:p>
            <a:r>
              <a:t>Together, H1 tests concentration; H2 and H3 test whether diversification weakens under stress.</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  APPENDIX"/>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SETUP</a:t>
            </a:r>
          </a:p>
        </p:txBody>
      </p:sp>
      <p:sp>
        <p:nvSpPr>
          <p:cNvPr id="189" name="14"/>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4</a:t>
            </a:r>
          </a:p>
        </p:txBody>
      </p:sp>
      <p:sp>
        <p:nvSpPr>
          <p:cNvPr id="190" name="Definitions behind the headline results"/>
          <p:cNvSpPr txBox="1"/>
          <p:nvPr/>
        </p:nvSpPr>
        <p:spPr>
          <a:xfrm>
            <a:off x="914400" y="948969"/>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r>
              <a:t>How we test the three hypotheses</a:t>
            </a:r>
          </a:p>
        </p:txBody>
      </p:sp>
      <p:sp>
        <p:nvSpPr>
          <p:cNvPr id="191" name="These choices keep each claim reproducible and appropriately narrow."/>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One technology comparison and three crisis measures, using adjusted prices.</a:t>
            </a:r>
          </a:p>
        </p:txBody>
      </p:sp>
      <p:sp>
        <p:nvSpPr>
          <p:cNvPr id="192" name="HISTORICAL STOCK ANALYSIS  /  APPENDIX"/>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9FAAB9"/>
                </a:solidFill>
                <a:latin typeface="Avenir Next Medium"/>
                <a:ea typeface="Avenir Next Medium"/>
                <a:cs typeface="Avenir Next Medium"/>
                <a:sym typeface="Avenir Next Medium"/>
              </a:defRPr>
            </a:lvl1pPr>
          </a:lstStyle>
          <a:p>
            <a:r>
              <a:t>HISTORICAL STOCK ANALYSIS  /  HYPOTHESIS SETUP</a:t>
            </a:r>
          </a:p>
        </p:txBody>
      </p:sp>
      <p:sp>
        <p:nvSpPr>
          <p:cNvPr id="193" name="14"/>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4</a:t>
            </a:r>
          </a:p>
        </p:txBody>
      </p:sp>
      <p:sp>
        <p:nvSpPr>
          <p:cNvPr id="194" name="H1 GROUPS"/>
          <p:cNvSpPr txBox="1"/>
          <p:nvPr/>
        </p:nvSpPr>
        <p:spPr>
          <a:xfrm>
            <a:off x="914398" y="2593620"/>
            <a:ext cx="3302005" cy="299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500">
                <a:solidFill>
                  <a:srgbClr val="1973B7"/>
                </a:solidFill>
                <a:latin typeface="Avenir Next Demi Bold"/>
                <a:ea typeface="Avenir Next Demi Bold"/>
                <a:cs typeface="Avenir Next Demi Bold"/>
                <a:sym typeface="Avenir Next Demi Bold"/>
              </a:defRPr>
            </a:lvl1pPr>
          </a:lstStyle>
          <a:p>
            <a:r>
              <a:t>TECHNOLOGY GROUPS</a:t>
            </a:r>
          </a:p>
        </p:txBody>
      </p:sp>
      <p:sp>
        <p:nvSpPr>
          <p:cNvPr id="195" name="Chip / AI"/>
          <p:cNvSpPr txBox="1"/>
          <p:nvPr/>
        </p:nvSpPr>
        <p:spPr>
          <a:xfrm>
            <a:off x="914400" y="3095269"/>
            <a:ext cx="2667000" cy="438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300">
                <a:solidFill>
                  <a:srgbClr val="182E48"/>
                </a:solidFill>
                <a:latin typeface="Avenir Next Demi Bold"/>
                <a:ea typeface="Avenir Next Demi Bold"/>
                <a:cs typeface="Avenir Next Demi Bold"/>
                <a:sym typeface="Avenir Next Demi Bold"/>
              </a:defRPr>
            </a:lvl1pPr>
          </a:lstStyle>
          <a:p>
            <a:r>
              <a:t>Chip / AI</a:t>
            </a:r>
          </a:p>
        </p:txBody>
      </p:sp>
      <p:sp>
        <p:nvSpPr>
          <p:cNvPr id="196" name="NVDA · AVGO · TSM · ASML · AMD · MU · LRCX"/>
          <p:cNvSpPr txBox="1"/>
          <p:nvPr/>
        </p:nvSpPr>
        <p:spPr>
          <a:xfrm>
            <a:off x="914400" y="3781071"/>
            <a:ext cx="6350000"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r>
              <a:t>NVDA · AVGO · TSM · ASML · AMD · MU · LRCX</a:t>
            </a:r>
          </a:p>
        </p:txBody>
      </p:sp>
      <p:sp>
        <p:nvSpPr>
          <p:cNvPr id="197" name="Broader tech"/>
          <p:cNvSpPr txBox="1"/>
          <p:nvPr/>
        </p:nvSpPr>
        <p:spPr>
          <a:xfrm>
            <a:off x="914400" y="4695471"/>
            <a:ext cx="2667000" cy="438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300">
                <a:solidFill>
                  <a:srgbClr val="182E48"/>
                </a:solidFill>
                <a:latin typeface="Avenir Next Demi Bold"/>
                <a:ea typeface="Avenir Next Demi Bold"/>
                <a:cs typeface="Avenir Next Demi Bold"/>
                <a:sym typeface="Avenir Next Demi Bold"/>
              </a:defRPr>
            </a:lvl1pPr>
          </a:lstStyle>
          <a:p>
            <a:r>
              <a:t>Broader tech</a:t>
            </a:r>
          </a:p>
        </p:txBody>
      </p:sp>
      <p:sp>
        <p:nvSpPr>
          <p:cNvPr id="198" name="AAPL · MSFT · GOOGL · AMZN · META · NFLX · ORCL · CSCO"/>
          <p:cNvSpPr txBox="1"/>
          <p:nvPr/>
        </p:nvSpPr>
        <p:spPr>
          <a:xfrm>
            <a:off x="914400" y="5393971"/>
            <a:ext cx="6604001"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58657C"/>
                </a:solidFill>
                <a:latin typeface="Avenir Next Regular"/>
                <a:ea typeface="Avenir Next Regular"/>
                <a:cs typeface="Avenir Next Regular"/>
                <a:sym typeface="Avenir Next Regular"/>
              </a:defRPr>
            </a:lvl1pPr>
          </a:lstStyle>
          <a:p>
            <a:r>
              <a:t>AAPL · MSFT · GOOGL · AMZN · META · NFLX · ORCL · CSCO</a:t>
            </a:r>
          </a:p>
        </p:txBody>
      </p:sp>
      <p:sp>
        <p:nvSpPr>
          <p:cNvPr id="199" name="Indexed value = 100 × Adj Close / Adj Close on shared start date"/>
          <p:cNvSpPr txBox="1"/>
          <p:nvPr/>
        </p:nvSpPr>
        <p:spPr>
          <a:xfrm>
            <a:off x="914400" y="6676672"/>
            <a:ext cx="6604001"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r>
              <a:t>Indexed value = 100 × Adj Close / starting Adj Close</a:t>
            </a:r>
          </a:p>
        </p:txBody>
      </p:sp>
      <p:sp>
        <p:nvSpPr>
          <p:cNvPr id="200" name="H2 PERIODS"/>
          <p:cNvSpPr txBox="1"/>
          <p:nvPr/>
        </p:nvSpPr>
        <p:spPr>
          <a:xfrm>
            <a:off x="8407400" y="2593620"/>
            <a:ext cx="3048000" cy="299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500">
                <a:solidFill>
                  <a:srgbClr val="D06F21"/>
                </a:solidFill>
                <a:latin typeface="Avenir Next Demi Bold"/>
                <a:ea typeface="Avenir Next Demi Bold"/>
                <a:cs typeface="Avenir Next Demi Bold"/>
                <a:sym typeface="Avenir Next Demi Bold"/>
              </a:defRPr>
            </a:lvl1pPr>
          </a:lstStyle>
          <a:p>
            <a:r>
              <a:t>MARKET PERIODS</a:t>
            </a:r>
          </a:p>
        </p:txBody>
      </p:sp>
      <p:sp>
        <p:nvSpPr>
          <p:cNvPr id="201" name="Calm"/>
          <p:cNvSpPr txBox="1"/>
          <p:nvPr/>
        </p:nvSpPr>
        <p:spPr>
          <a:xfrm>
            <a:off x="8407399" y="2987320"/>
            <a:ext cx="3302003" cy="426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r>
              <a:t>Calm baseline</a:t>
            </a:r>
          </a:p>
        </p:txBody>
      </p:sp>
      <p:sp>
        <p:nvSpPr>
          <p:cNvPr id="202" name="2015–2017"/>
          <p:cNvSpPr txBox="1"/>
          <p:nvPr/>
        </p:nvSpPr>
        <p:spPr>
          <a:xfrm>
            <a:off x="8407400" y="3544179"/>
            <a:ext cx="6350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r>
              <a:t>2015–2017 · no major global shock</a:t>
            </a:r>
          </a:p>
        </p:txBody>
      </p:sp>
      <p:sp>
        <p:nvSpPr>
          <p:cNvPr id="203" name="2008 crisis"/>
          <p:cNvSpPr txBox="1"/>
          <p:nvPr/>
        </p:nvSpPr>
        <p:spPr>
          <a:xfrm>
            <a:off x="8407400" y="4003321"/>
            <a:ext cx="3302002" cy="426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r>
              <a:t>2008 crisis</a:t>
            </a:r>
          </a:p>
        </p:txBody>
      </p:sp>
      <p:sp>
        <p:nvSpPr>
          <p:cNvPr id="204" name="calendar year 2008"/>
          <p:cNvSpPr txBox="1"/>
          <p:nvPr/>
        </p:nvSpPr>
        <p:spPr>
          <a:xfrm>
            <a:off x="8407400" y="4533238"/>
            <a:ext cx="6350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r>
              <a:t>Housing collapse, mortgage losses, and a global banking shock</a:t>
            </a:r>
          </a:p>
        </p:txBody>
      </p:sp>
      <p:sp>
        <p:nvSpPr>
          <p:cNvPr id="205" name="2020 crash"/>
          <p:cNvSpPr txBox="1"/>
          <p:nvPr/>
        </p:nvSpPr>
        <p:spPr>
          <a:xfrm>
            <a:off x="8407400" y="5019321"/>
            <a:ext cx="3302002" cy="426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r>
              <a:t>2020 crash</a:t>
            </a:r>
          </a:p>
        </p:txBody>
      </p:sp>
      <p:sp>
        <p:nvSpPr>
          <p:cNvPr id="206" name="February–April 2020"/>
          <p:cNvSpPr txBox="1"/>
          <p:nvPr/>
        </p:nvSpPr>
        <p:spPr>
          <a:xfrm>
            <a:off x="8407400" y="5579078"/>
            <a:ext cx="6350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r>
              <a:t>Pandemic lockdowns triggered a sudden global selloff</a:t>
            </a:r>
          </a:p>
        </p:txBody>
      </p:sp>
      <p:sp>
        <p:nvSpPr>
          <p:cNvPr id="207" name="2022 drawdown"/>
          <p:cNvSpPr txBox="1"/>
          <p:nvPr/>
        </p:nvSpPr>
        <p:spPr>
          <a:xfrm>
            <a:off x="8407400" y="6035321"/>
            <a:ext cx="3556002" cy="426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200">
                <a:solidFill>
                  <a:srgbClr val="1F3D5A"/>
                </a:solidFill>
                <a:latin typeface="Avenir Next Demi Bold"/>
                <a:ea typeface="Avenir Next Demi Bold"/>
                <a:cs typeface="Avenir Next Demi Bold"/>
                <a:sym typeface="Avenir Next Demi Bold"/>
              </a:defRPr>
            </a:lvl1pPr>
          </a:lstStyle>
          <a:p>
            <a:r>
              <a:t>2022 drawdown</a:t>
            </a:r>
          </a:p>
        </p:txBody>
      </p:sp>
      <p:sp>
        <p:nvSpPr>
          <p:cNvPr id="208" name="calendar year 2022"/>
          <p:cNvSpPr txBox="1"/>
          <p:nvPr/>
        </p:nvSpPr>
        <p:spPr>
          <a:xfrm>
            <a:off x="8407400" y="6689373"/>
            <a:ext cx="6350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58657C"/>
                </a:solidFill>
                <a:latin typeface="Avenir Next Medium"/>
                <a:ea typeface="Avenir Next Medium"/>
                <a:cs typeface="Avenir Next Medium"/>
                <a:sym typeface="Avenir Next Medium"/>
              </a:defRPr>
            </a:lvl1pPr>
          </a:lstStyle>
          <a:p>
            <a:r>
              <a:t>Inflation and rapid rate hikes drove a slower drawdown</a:t>
            </a:r>
          </a:p>
        </p:txBody>
      </p:sp>
      <p:sp>
        <p:nvSpPr>
          <p:cNvPr id="209" name="Correlation = average pairwise Pearson correlation of daily returns across regional baskets"/>
          <p:cNvSpPr txBox="1"/>
          <p:nvPr/>
        </p:nvSpPr>
        <p:spPr>
          <a:xfrm>
            <a:off x="8407399" y="7432323"/>
            <a:ext cx="6604002"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D06F21"/>
                </a:solidFill>
                <a:latin typeface="Avenir Next Demi Bold"/>
                <a:ea typeface="Avenir Next Demi Bold"/>
                <a:cs typeface="Avenir Next Demi Bold"/>
                <a:sym typeface="Avenir Next Demi Bold"/>
              </a:defRPr>
            </a:lvl1pPr>
          </a:lstStyle>
          <a:p>
            <a:r>
              <a:t>Measures: correlation, volatility, and volume relative to calm</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  FINDING 1"/>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1</a:t>
            </a:r>
          </a:p>
        </p:txBody>
      </p:sp>
      <p:sp>
        <p:nvSpPr>
          <p:cNvPr id="214" name="7"/>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5</a:t>
            </a:r>
          </a:p>
        </p:txBody>
      </p:sp>
      <p:sp>
        <p:nvSpPr>
          <p:cNvPr id="215" name="The selected chip/AI group pulled decisively ahead"/>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The selected chip/AI group pulled decisively ahead</a:t>
            </a:r>
          </a:p>
        </p:txBody>
      </p:sp>
      <p:sp>
        <p:nvSpPr>
          <p:cNvPr id="216" name="Indexed group averages from 2023-01-03 to 2026-02-20."/>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Indexed group averages from 2023-01-03 to 2026-02-20.</a:t>
            </a:r>
          </a:p>
        </p:txBody>
      </p:sp>
      <p:sp>
        <p:nvSpPr>
          <p:cNvPr id="217" name="HISTORICAL STOCK ANALYSIS  /  FINDING 1"/>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HYPOTHESIS 1</a:t>
            </a:r>
          </a:p>
        </p:txBody>
      </p:sp>
      <p:sp>
        <p:nvSpPr>
          <p:cNvPr id="218" name="7"/>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5</a:t>
            </a:r>
          </a:p>
        </p:txBody>
      </p:sp>
      <p:pic>
        <p:nvPicPr>
          <p:cNvPr id="219" name="figure_a_ai_rally.png" descr="figure_a_ai_rally.png"/>
          <p:cNvPicPr>
            <a:picLocks noChangeAspect="1"/>
          </p:cNvPicPr>
          <p:nvPr/>
        </p:nvPicPr>
        <p:blipFill>
          <a:blip r:embed="rId3"/>
          <a:stretch>
            <a:fillRect/>
          </a:stretch>
        </p:blipFill>
        <p:spPr>
          <a:xfrm>
            <a:off x="914400" y="2387599"/>
            <a:ext cx="9849044" cy="5803902"/>
          </a:xfrm>
          <a:prstGeom prst="rect">
            <a:avLst/>
          </a:prstGeom>
          <a:ln w="12700">
            <a:miter lim="400000"/>
          </a:ln>
        </p:spPr>
      </p:pic>
      <p:sp>
        <p:nvSpPr>
          <p:cNvPr id="220" name="+549%"/>
          <p:cNvSpPr txBox="1"/>
          <p:nvPr/>
        </p:nvSpPr>
        <p:spPr>
          <a:xfrm>
            <a:off x="11810999" y="2771419"/>
            <a:ext cx="3175004"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1973B7"/>
                </a:solidFill>
                <a:latin typeface="Avenir Next Demi Bold"/>
                <a:ea typeface="Avenir Next Demi Bold"/>
                <a:cs typeface="Avenir Next Demi Bold"/>
                <a:sym typeface="Avenir Next Demi Bold"/>
              </a:defRPr>
            </a:lvl1pPr>
          </a:lstStyle>
          <a:p>
            <a:r>
              <a:t>+549%</a:t>
            </a:r>
          </a:p>
        </p:txBody>
      </p:sp>
      <p:sp>
        <p:nvSpPr>
          <p:cNvPr id="221" name="chip / AI group"/>
          <p:cNvSpPr txBox="1"/>
          <p:nvPr/>
        </p:nvSpPr>
        <p:spPr>
          <a:xfrm>
            <a:off x="11861800" y="3577871"/>
            <a:ext cx="2921000"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58657C"/>
                </a:solidFill>
                <a:latin typeface="Avenir Next Medium"/>
                <a:ea typeface="Avenir Next Medium"/>
                <a:cs typeface="Avenir Next Medium"/>
                <a:sym typeface="Avenir Next Medium"/>
              </a:defRPr>
            </a:lvl1pPr>
          </a:lstStyle>
          <a:p>
            <a:r>
              <a:t>chip / AI group</a:t>
            </a:r>
          </a:p>
        </p:txBody>
      </p:sp>
      <p:sp>
        <p:nvSpPr>
          <p:cNvPr id="222" name="+168%"/>
          <p:cNvSpPr txBox="1"/>
          <p:nvPr/>
        </p:nvSpPr>
        <p:spPr>
          <a:xfrm>
            <a:off x="11810999" y="4295421"/>
            <a:ext cx="3175004" cy="883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800">
                <a:solidFill>
                  <a:srgbClr val="D06F21"/>
                </a:solidFill>
                <a:latin typeface="Avenir Next Demi Bold"/>
                <a:ea typeface="Avenir Next Demi Bold"/>
                <a:cs typeface="Avenir Next Demi Bold"/>
                <a:sym typeface="Avenir Next Demi Bold"/>
              </a:defRPr>
            </a:lvl1pPr>
          </a:lstStyle>
          <a:p>
            <a:r>
              <a:t>+168%</a:t>
            </a:r>
          </a:p>
        </p:txBody>
      </p:sp>
      <p:sp>
        <p:nvSpPr>
          <p:cNvPr id="223" name="broader-tech group"/>
          <p:cNvSpPr txBox="1"/>
          <p:nvPr/>
        </p:nvSpPr>
        <p:spPr>
          <a:xfrm>
            <a:off x="11861799" y="5101871"/>
            <a:ext cx="3175004"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58657C"/>
                </a:solidFill>
                <a:latin typeface="Avenir Next Medium"/>
                <a:ea typeface="Avenir Next Medium"/>
                <a:cs typeface="Avenir Next Medium"/>
                <a:sym typeface="Avenir Next Medium"/>
              </a:defRPr>
            </a:lvl1pPr>
          </a:lstStyle>
          <a:p>
            <a:r>
              <a:t>broader-tech group</a:t>
            </a:r>
          </a:p>
        </p:txBody>
      </p:sp>
      <p:sp>
        <p:nvSpPr>
          <p:cNvPr id="224" name="0.26% vs 0.14%"/>
          <p:cNvSpPr txBox="1"/>
          <p:nvPr/>
        </p:nvSpPr>
        <p:spPr>
          <a:xfrm>
            <a:off x="11811000" y="6009921"/>
            <a:ext cx="3302000" cy="476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500">
                <a:solidFill>
                  <a:srgbClr val="182E48"/>
                </a:solidFill>
                <a:latin typeface="Avenir Next Demi Bold"/>
                <a:ea typeface="Avenir Next Demi Bold"/>
                <a:cs typeface="Avenir Next Demi Bold"/>
                <a:sym typeface="Avenir Next Demi Bold"/>
              </a:defRPr>
            </a:lvl1pPr>
          </a:lstStyle>
          <a:p>
            <a:r>
              <a:t>0.26% vs 0.14%</a:t>
            </a:r>
          </a:p>
        </p:txBody>
      </p:sp>
      <p:sp>
        <p:nvSpPr>
          <p:cNvPr id="225" name="mean daily return"/>
          <p:cNvSpPr txBox="1"/>
          <p:nvPr/>
        </p:nvSpPr>
        <p:spPr>
          <a:xfrm>
            <a:off x="11861799" y="6498869"/>
            <a:ext cx="3175004"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mean daily return</a:t>
            </a:r>
          </a:p>
        </p:txBody>
      </p:sp>
      <p:sp>
        <p:nvSpPr>
          <p:cNvPr id="226" name="Welch p = 0.0073"/>
          <p:cNvSpPr txBox="1"/>
          <p:nvPr/>
        </p:nvSpPr>
        <p:spPr>
          <a:xfrm>
            <a:off x="11811000" y="7121172"/>
            <a:ext cx="3302000" cy="388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0B856E"/>
                </a:solidFill>
                <a:latin typeface="Avenir Next Demi Bold"/>
                <a:ea typeface="Avenir Next Demi Bold"/>
                <a:cs typeface="Avenir Next Demi Bold"/>
                <a:sym typeface="Avenir Next Demi Bold"/>
              </a:defRPr>
            </a:lvl1pPr>
          </a:lstStyle>
          <a:p>
            <a:r>
              <a:t>Welch p = 0.0073</a:t>
            </a:r>
          </a:p>
        </p:txBody>
      </p:sp>
      <p:sp>
        <p:nvSpPr>
          <p:cNvPr id="227" name="Conclusion: H1 is supported for these selected groups—not for every company linked to AI."/>
          <p:cNvSpPr txBox="1"/>
          <p:nvPr/>
        </p:nvSpPr>
        <p:spPr>
          <a:xfrm>
            <a:off x="914400" y="8099072"/>
            <a:ext cx="13970002"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r>
              <a:t>Conclusion: H1 is supported for these selected groups—not for every company linked to AI.</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  FINDING 2"/>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2</a:t>
            </a:r>
          </a:p>
        </p:txBody>
      </p:sp>
      <p:sp>
        <p:nvSpPr>
          <p:cNvPr id="232" name="8"/>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6</a:t>
            </a:r>
          </a:p>
        </p:txBody>
      </p:sp>
      <p:sp>
        <p:nvSpPr>
          <p:cNvPr id="233" name="Regional diversification weakened most in the 2020 crash"/>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Regional diversification weakened most in the 2020 crash</a:t>
            </a:r>
          </a:p>
        </p:txBody>
      </p:sp>
      <p:sp>
        <p:nvSpPr>
          <p:cNvPr id="234" name="Average pairwise correlations after widening the available regional baskets."/>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Average pairwise correlations after widening the available regional baskets.</a:t>
            </a:r>
          </a:p>
        </p:txBody>
      </p:sp>
      <p:sp>
        <p:nvSpPr>
          <p:cNvPr id="235" name="HISTORICAL STOCK ANALYSIS  /  FINDING 2"/>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HYPOTHESIS 2</a:t>
            </a:r>
          </a:p>
        </p:txBody>
      </p:sp>
      <p:sp>
        <p:nvSpPr>
          <p:cNvPr id="236" name="8"/>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6</a:t>
            </a:r>
          </a:p>
        </p:txBody>
      </p:sp>
      <p:pic>
        <p:nvPicPr>
          <p:cNvPr id="237" name="ec1_f_widened_basket.png" descr="ec1_f_widened_basket.png"/>
          <p:cNvPicPr>
            <a:picLocks noChangeAspect="1"/>
          </p:cNvPicPr>
          <p:nvPr/>
        </p:nvPicPr>
        <p:blipFill>
          <a:blip r:embed="rId3"/>
          <a:stretch>
            <a:fillRect/>
          </a:stretch>
        </p:blipFill>
        <p:spPr>
          <a:xfrm>
            <a:off x="914400" y="2540000"/>
            <a:ext cx="10625247" cy="3898900"/>
          </a:xfrm>
          <a:prstGeom prst="rect">
            <a:avLst/>
          </a:prstGeom>
          <a:ln w="12700">
            <a:miter lim="400000"/>
          </a:ln>
        </p:spPr>
      </p:pic>
      <p:sp>
        <p:nvSpPr>
          <p:cNvPr id="238" name="0.282"/>
          <p:cNvSpPr txBox="1"/>
          <p:nvPr/>
        </p:nvSpPr>
        <p:spPr>
          <a:xfrm>
            <a:off x="12700000" y="2777769"/>
            <a:ext cx="2286000" cy="743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000">
                <a:solidFill>
                  <a:srgbClr val="58657C"/>
                </a:solidFill>
                <a:latin typeface="Avenir Next Demi Bold"/>
                <a:ea typeface="Avenir Next Demi Bold"/>
                <a:cs typeface="Avenir Next Demi Bold"/>
                <a:sym typeface="Avenir Next Demi Bold"/>
              </a:defRPr>
            </a:lvl1pPr>
          </a:lstStyle>
          <a:p>
            <a:r>
              <a:t>0.282</a:t>
            </a:r>
          </a:p>
        </p:txBody>
      </p:sp>
      <p:sp>
        <p:nvSpPr>
          <p:cNvPr id="239" name="calm"/>
          <p:cNvSpPr txBox="1"/>
          <p:nvPr/>
        </p:nvSpPr>
        <p:spPr>
          <a:xfrm>
            <a:off x="12738099" y="3450871"/>
            <a:ext cx="2032003"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calm</a:t>
            </a:r>
          </a:p>
        </p:txBody>
      </p:sp>
      <p:sp>
        <p:nvSpPr>
          <p:cNvPr id="240" name="0.326"/>
          <p:cNvSpPr txBox="1"/>
          <p:nvPr/>
        </p:nvSpPr>
        <p:spPr>
          <a:xfrm>
            <a:off x="12700000" y="4047771"/>
            <a:ext cx="2286000" cy="743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000">
                <a:solidFill>
                  <a:srgbClr val="1F3D5A"/>
                </a:solidFill>
                <a:latin typeface="Avenir Next Demi Bold"/>
                <a:ea typeface="Avenir Next Demi Bold"/>
                <a:cs typeface="Avenir Next Demi Bold"/>
                <a:sym typeface="Avenir Next Demi Bold"/>
              </a:defRPr>
            </a:lvl1pPr>
          </a:lstStyle>
          <a:p>
            <a:r>
              <a:t>0.326</a:t>
            </a:r>
          </a:p>
        </p:txBody>
      </p:sp>
      <p:sp>
        <p:nvSpPr>
          <p:cNvPr id="241" name="2008"/>
          <p:cNvSpPr txBox="1"/>
          <p:nvPr/>
        </p:nvSpPr>
        <p:spPr>
          <a:xfrm>
            <a:off x="12738099" y="4720871"/>
            <a:ext cx="2032003"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2008</a:t>
            </a:r>
          </a:p>
        </p:txBody>
      </p:sp>
      <p:sp>
        <p:nvSpPr>
          <p:cNvPr id="242" name="0.539"/>
          <p:cNvSpPr txBox="1"/>
          <p:nvPr/>
        </p:nvSpPr>
        <p:spPr>
          <a:xfrm>
            <a:off x="12700000" y="5317771"/>
            <a:ext cx="2286000" cy="743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000">
                <a:solidFill>
                  <a:srgbClr val="1973B7"/>
                </a:solidFill>
                <a:latin typeface="Avenir Next Demi Bold"/>
                <a:ea typeface="Avenir Next Demi Bold"/>
                <a:cs typeface="Avenir Next Demi Bold"/>
                <a:sym typeface="Avenir Next Demi Bold"/>
              </a:defRPr>
            </a:lvl1pPr>
          </a:lstStyle>
          <a:p>
            <a:r>
              <a:t>0.539</a:t>
            </a:r>
          </a:p>
        </p:txBody>
      </p:sp>
      <p:sp>
        <p:nvSpPr>
          <p:cNvPr id="243" name="2020"/>
          <p:cNvSpPr txBox="1"/>
          <p:nvPr/>
        </p:nvSpPr>
        <p:spPr>
          <a:xfrm>
            <a:off x="12738099" y="5990871"/>
            <a:ext cx="2032003" cy="3372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2020</a:t>
            </a:r>
          </a:p>
        </p:txBody>
      </p:sp>
      <p:sp>
        <p:nvSpPr>
          <p:cNvPr id="244" name="The 2008 estimate became more crisis-like after widening the basket, but Paris still has one stock and Korea/Switzerland remain sector-narrow."/>
          <p:cNvSpPr txBox="1"/>
          <p:nvPr/>
        </p:nvSpPr>
        <p:spPr>
          <a:xfrm>
            <a:off x="914400" y="7038622"/>
            <a:ext cx="13970002" cy="730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182E48"/>
                </a:solidFill>
                <a:latin typeface="Avenir Next Medium"/>
                <a:ea typeface="Avenir Next Medium"/>
                <a:cs typeface="Avenir Next Medium"/>
                <a:sym typeface="Avenir Next Medium"/>
              </a:defRPr>
            </a:lvl1pPr>
          </a:lstStyle>
          <a:p>
            <a:r>
              <a:t>The 2008 estimate became more crisis-like after widening the basket, but Paris still has one stock and Korea/Switzerland remain sector-narrow.</a:t>
            </a:r>
          </a:p>
        </p:txBody>
      </p:sp>
      <p:sp>
        <p:nvSpPr>
          <p:cNvPr id="245" name="Conclusion: H2 is strongly supported for 2020 and directionally supported for 2008."/>
          <p:cNvSpPr txBox="1"/>
          <p:nvPr/>
        </p:nvSpPr>
        <p:spPr>
          <a:xfrm>
            <a:off x="914400" y="8010172"/>
            <a:ext cx="13970002"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r>
              <a:t>Conclusion: H2 is strongly supported for 2020 and directionally supported for 2008.</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  FINDING 3"/>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HYPOTHESIS 3</a:t>
            </a:r>
          </a:p>
        </p:txBody>
      </p:sp>
      <p:sp>
        <p:nvSpPr>
          <p:cNvPr id="250" name="9"/>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7</a:t>
            </a:r>
          </a:p>
        </p:txBody>
      </p:sp>
      <p:sp>
        <p:nvSpPr>
          <p:cNvPr id="251" name="Panic months produced the largest volatility spikes"/>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Panic months produced the largest volatility spikes</a:t>
            </a:r>
          </a:p>
        </p:txBody>
      </p:sp>
      <p:sp>
        <p:nvSpPr>
          <p:cNvPr id="252" name="Equal-weighted mean absolute daily return by month across available tickers."/>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Equal-weighted mean absolute daily return by month across available tickers.</a:t>
            </a:r>
          </a:p>
        </p:txBody>
      </p:sp>
      <p:sp>
        <p:nvSpPr>
          <p:cNvPr id="253" name="HISTORICAL STOCK ANALYSIS  /  FINDING 3"/>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HYPOTHESIS 3</a:t>
            </a:r>
          </a:p>
        </p:txBody>
      </p:sp>
      <p:sp>
        <p:nvSpPr>
          <p:cNvPr id="254" name="9"/>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7</a:t>
            </a:r>
          </a:p>
        </p:txBody>
      </p:sp>
      <p:pic>
        <p:nvPicPr>
          <p:cNvPr id="255" name="b2_monthly_absolute_return.png" descr="b2_monthly_absolute_return.png"/>
          <p:cNvPicPr>
            <a:picLocks noChangeAspect="1"/>
          </p:cNvPicPr>
          <p:nvPr/>
        </p:nvPicPr>
        <p:blipFill>
          <a:blip r:embed="rId3"/>
          <a:stretch>
            <a:fillRect/>
          </a:stretch>
        </p:blipFill>
        <p:spPr>
          <a:xfrm>
            <a:off x="914400" y="2362200"/>
            <a:ext cx="10916223" cy="6261100"/>
          </a:xfrm>
          <a:prstGeom prst="rect">
            <a:avLst/>
          </a:prstGeom>
          <a:ln w="12700">
            <a:miter lim="400000"/>
          </a:ln>
        </p:spPr>
      </p:pic>
      <p:sp>
        <p:nvSpPr>
          <p:cNvPr id="256" name="OCT 2008"/>
          <p:cNvSpPr txBox="1"/>
          <p:nvPr/>
        </p:nvSpPr>
        <p:spPr>
          <a:xfrm>
            <a:off x="12522200" y="3088919"/>
            <a:ext cx="2413001"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C75C5C"/>
                </a:solidFill>
                <a:latin typeface="Avenir Next Demi Bold"/>
                <a:ea typeface="Avenir Next Demi Bold"/>
                <a:cs typeface="Avenir Next Demi Bold"/>
                <a:sym typeface="Avenir Next Demi Bold"/>
              </a:defRPr>
            </a:lvl1pPr>
          </a:lstStyle>
          <a:p>
            <a:r>
              <a:t>OCT 2008</a:t>
            </a:r>
          </a:p>
        </p:txBody>
      </p:sp>
      <p:sp>
        <p:nvSpPr>
          <p:cNvPr id="257" name="4.82%"/>
          <p:cNvSpPr txBox="1"/>
          <p:nvPr/>
        </p:nvSpPr>
        <p:spPr>
          <a:xfrm>
            <a:off x="12471400" y="3438171"/>
            <a:ext cx="2667000" cy="769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200">
                <a:solidFill>
                  <a:srgbClr val="C75C5C"/>
                </a:solidFill>
                <a:latin typeface="Avenir Next Demi Bold"/>
                <a:ea typeface="Avenir Next Demi Bold"/>
                <a:cs typeface="Avenir Next Demi Bold"/>
                <a:sym typeface="Avenir Next Demi Bold"/>
              </a:defRPr>
            </a:lvl1pPr>
          </a:lstStyle>
          <a:p>
            <a:r>
              <a:t>4.82%</a:t>
            </a:r>
          </a:p>
        </p:txBody>
      </p:sp>
      <p:sp>
        <p:nvSpPr>
          <p:cNvPr id="258" name="MAR 2020"/>
          <p:cNvSpPr txBox="1"/>
          <p:nvPr/>
        </p:nvSpPr>
        <p:spPr>
          <a:xfrm>
            <a:off x="12522200" y="4866921"/>
            <a:ext cx="2413001"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C75C5C"/>
                </a:solidFill>
                <a:latin typeface="Avenir Next Demi Bold"/>
                <a:ea typeface="Avenir Next Demi Bold"/>
                <a:cs typeface="Avenir Next Demi Bold"/>
                <a:sym typeface="Avenir Next Demi Bold"/>
              </a:defRPr>
            </a:lvl1pPr>
          </a:lstStyle>
          <a:p>
            <a:r>
              <a:t>MAR 2020</a:t>
            </a:r>
          </a:p>
        </p:txBody>
      </p:sp>
      <p:sp>
        <p:nvSpPr>
          <p:cNvPr id="259" name="4.67%"/>
          <p:cNvSpPr txBox="1"/>
          <p:nvPr/>
        </p:nvSpPr>
        <p:spPr>
          <a:xfrm>
            <a:off x="12471400" y="5216171"/>
            <a:ext cx="2667000" cy="769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4200">
                <a:solidFill>
                  <a:srgbClr val="C75C5C"/>
                </a:solidFill>
                <a:latin typeface="Avenir Next Demi Bold"/>
                <a:ea typeface="Avenir Next Demi Bold"/>
                <a:cs typeface="Avenir Next Demi Bold"/>
                <a:sym typeface="Avenir Next Demi Bold"/>
              </a:defRPr>
            </a:lvl1pPr>
          </a:lstStyle>
          <a:p>
            <a:r>
              <a:t>4.67%</a:t>
            </a:r>
          </a:p>
        </p:txBody>
      </p:sp>
      <p:sp>
        <p:nvSpPr>
          <p:cNvPr id="260" name="Independent monthly aggregation reaches the same crisis conclusion."/>
          <p:cNvSpPr txBox="1"/>
          <p:nvPr/>
        </p:nvSpPr>
        <p:spPr>
          <a:xfrm>
            <a:off x="12471399" y="6479819"/>
            <a:ext cx="2794004" cy="1035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182E48"/>
                </a:solidFill>
                <a:latin typeface="Avenir Next Medium"/>
                <a:ea typeface="Avenir Next Medium"/>
                <a:cs typeface="Avenir Next Medium"/>
                <a:sym typeface="Avenir Next Medium"/>
              </a:defRPr>
            </a:lvl1pPr>
          </a:lstStyle>
          <a:p>
            <a:r>
              <a:t>Independent monthly aggregation reaches the same crisis conclusion.</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 name="●  DESIGN EVOLUTION"/>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CONCLUSION</a:t>
            </a:r>
          </a:p>
        </p:txBody>
      </p:sp>
      <p:sp>
        <p:nvSpPr>
          <p:cNvPr id="265" name="10"/>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8</a:t>
            </a:r>
          </a:p>
        </p:txBody>
      </p:sp>
      <p:sp>
        <p:nvSpPr>
          <p:cNvPr id="266" name="A log scale reveals the growth stories hidden by the linear chart"/>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A log scale reveals the growth stories hidden by the linear chart</a:t>
            </a:r>
          </a:p>
        </p:txBody>
      </p:sp>
      <p:sp>
        <p:nvSpPr>
          <p:cNvPr id="267" name="Same data and rebasing; only the visual encoding changes."/>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Same data and rebasing; only the visual encoding changes.</a:t>
            </a:r>
          </a:p>
        </p:txBody>
      </p:sp>
      <p:sp>
        <p:nvSpPr>
          <p:cNvPr id="268" name="HISTORICAL STOCK ANALYSIS  /  DESIGN EVOLUTION"/>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CONCLUSION</a:t>
            </a:r>
          </a:p>
        </p:txBody>
      </p:sp>
      <p:sp>
        <p:nvSpPr>
          <p:cNvPr id="269" name="10"/>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8</a:t>
            </a:r>
          </a:p>
        </p:txBody>
      </p:sp>
      <p:sp>
        <p:nvSpPr>
          <p:cNvPr id="270" name="BEFORE  ·  LINEAR"/>
          <p:cNvSpPr txBox="1"/>
          <p:nvPr/>
        </p:nvSpPr>
        <p:spPr>
          <a:xfrm>
            <a:off x="914400" y="2269769"/>
            <a:ext cx="5080000" cy="286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400">
                <a:solidFill>
                  <a:srgbClr val="D06F21"/>
                </a:solidFill>
                <a:latin typeface="Avenir Next Demi Bold"/>
                <a:ea typeface="Avenir Next Demi Bold"/>
                <a:cs typeface="Avenir Next Demi Bold"/>
                <a:sym typeface="Avenir Next Demi Bold"/>
              </a:defRPr>
            </a:lvl1pPr>
          </a:lstStyle>
          <a:p>
            <a:r>
              <a:t>BEFORE  ·  LINEAR</a:t>
            </a:r>
          </a:p>
        </p:txBody>
      </p:sp>
      <p:sp>
        <p:nvSpPr>
          <p:cNvPr id="271" name="AFTER  ·  LOG"/>
          <p:cNvSpPr txBox="1"/>
          <p:nvPr/>
        </p:nvSpPr>
        <p:spPr>
          <a:xfrm>
            <a:off x="8255000" y="2269769"/>
            <a:ext cx="5080000" cy="286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400">
                <a:solidFill>
                  <a:srgbClr val="1973B7"/>
                </a:solidFill>
                <a:latin typeface="Avenir Next Demi Bold"/>
                <a:ea typeface="Avenir Next Demi Bold"/>
                <a:cs typeface="Avenir Next Demi Bold"/>
                <a:sym typeface="Avenir Next Demi Bold"/>
              </a:defRPr>
            </a:lvl1pPr>
          </a:lstStyle>
          <a:p>
            <a:r>
              <a:t>AFTER  ·  LOG</a:t>
            </a:r>
          </a:p>
        </p:txBody>
      </p:sp>
      <p:pic>
        <p:nvPicPr>
          <p:cNvPr id="272" name="ec1_a_before.png" descr="ec1_a_before.png"/>
          <p:cNvPicPr>
            <a:picLocks noChangeAspect="1"/>
          </p:cNvPicPr>
          <p:nvPr/>
        </p:nvPicPr>
        <p:blipFill>
          <a:blip r:embed="rId3"/>
          <a:stretch>
            <a:fillRect/>
          </a:stretch>
        </p:blipFill>
        <p:spPr>
          <a:xfrm>
            <a:off x="914400" y="2641600"/>
            <a:ext cx="6962258" cy="4178300"/>
          </a:xfrm>
          <a:prstGeom prst="rect">
            <a:avLst/>
          </a:prstGeom>
          <a:ln w="12700">
            <a:miter lim="400000"/>
          </a:ln>
        </p:spPr>
      </p:pic>
      <p:pic>
        <p:nvPicPr>
          <p:cNvPr id="273" name="ec1_a_after.png" descr="ec1_a_after.png"/>
          <p:cNvPicPr>
            <a:picLocks noChangeAspect="1"/>
          </p:cNvPicPr>
          <p:nvPr/>
        </p:nvPicPr>
        <p:blipFill>
          <a:blip r:embed="rId4"/>
          <a:stretch>
            <a:fillRect/>
          </a:stretch>
        </p:blipFill>
        <p:spPr>
          <a:xfrm>
            <a:off x="8255000" y="2641600"/>
            <a:ext cx="6966985" cy="4178300"/>
          </a:xfrm>
          <a:prstGeom prst="rect">
            <a:avLst/>
          </a:prstGeom>
          <a:ln w="12700">
            <a:miter lim="400000"/>
          </a:ln>
        </p:spPr>
      </p:pic>
      <p:sp>
        <p:nvSpPr>
          <p:cNvPr id="274" name="NVDA and AVGO dominate the absolute range, compressing four lines near the baseline."/>
          <p:cNvSpPr txBox="1"/>
          <p:nvPr/>
        </p:nvSpPr>
        <p:spPr>
          <a:xfrm>
            <a:off x="914400" y="7076722"/>
            <a:ext cx="6604001"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58657C"/>
                </a:solidFill>
                <a:latin typeface="Avenir Next Medium"/>
                <a:ea typeface="Avenir Next Medium"/>
                <a:cs typeface="Avenir Next Medium"/>
                <a:sym typeface="Avenir Next Medium"/>
              </a:defRPr>
            </a:lvl1pPr>
          </a:lstStyle>
          <a:p>
            <a:r>
              <a:t>NVDA and AVGO dominate the absolute range, compressing four lines near the baseline.</a:t>
            </a:r>
          </a:p>
        </p:txBody>
      </p:sp>
      <p:sp>
        <p:nvSpPr>
          <p:cNvPr id="275" name="Equal vertical distance now represents equal proportional change; all six series remain legible."/>
          <p:cNvSpPr txBox="1"/>
          <p:nvPr/>
        </p:nvSpPr>
        <p:spPr>
          <a:xfrm>
            <a:off x="8255000" y="7076722"/>
            <a:ext cx="7061200" cy="629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700">
                <a:solidFill>
                  <a:srgbClr val="182E48"/>
                </a:solidFill>
                <a:latin typeface="Avenir Next Medium"/>
                <a:ea typeface="Avenir Next Medium"/>
                <a:cs typeface="Avenir Next Medium"/>
                <a:sym typeface="Avenir Next Medium"/>
              </a:defRPr>
            </a:lvl1pPr>
          </a:lstStyle>
          <a:p>
            <a:r>
              <a:t>Equal vertical distance now represents equal proportional change; all six series remain legible.</a:t>
            </a:r>
          </a:p>
        </p:txBody>
      </p:sp>
      <p:sp>
        <p:nvSpPr>
          <p:cNvPr id="276" name="Principles applied: appropriate scale  ·  direct labels  ·  less non-data ink  ·  better pre-attentive separation"/>
          <p:cNvSpPr txBox="1"/>
          <p:nvPr/>
        </p:nvSpPr>
        <p:spPr>
          <a:xfrm>
            <a:off x="914400" y="8035572"/>
            <a:ext cx="14427200" cy="3626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800">
                <a:solidFill>
                  <a:srgbClr val="1973B7"/>
                </a:solidFill>
                <a:latin typeface="Avenir Next Demi Bold"/>
                <a:ea typeface="Avenir Next Demi Bold"/>
                <a:cs typeface="Avenir Next Demi Bold"/>
                <a:sym typeface="Avenir Next Demi Bold"/>
              </a:defRPr>
            </a:lvl1pPr>
          </a:lstStyle>
          <a:p>
            <a:r>
              <a:t>Principles applied: appropriate scale  ·  direct labels  ·  less non-data ink  ·  better pre-attentive separation</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  CONCLUSION"/>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CONCLUSION</a:t>
            </a:r>
          </a:p>
        </p:txBody>
      </p:sp>
      <p:sp>
        <p:nvSpPr>
          <p:cNvPr id="281" name="11"/>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9</a:t>
            </a:r>
          </a:p>
        </p:txBody>
      </p:sp>
      <p:sp>
        <p:nvSpPr>
          <p:cNvPr id="282" name="Diversification is present—but thinner when it matters most"/>
          <p:cNvSpPr txBox="1"/>
          <p:nvPr/>
        </p:nvSpPr>
        <p:spPr>
          <a:xfrm>
            <a:off x="914400" y="948969"/>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F3D5A"/>
                </a:solidFill>
                <a:latin typeface="Avenir Next Demi Bold"/>
                <a:ea typeface="Avenir Next Demi Bold"/>
                <a:cs typeface="Avenir Next Demi Bold"/>
                <a:sym typeface="Avenir Next Demi Bold"/>
              </a:defRPr>
            </a:lvl1pPr>
          </a:lstStyle>
          <a:p>
            <a:r>
              <a:t>Diversification is thinner when it matters most</a:t>
            </a:r>
          </a:p>
        </p:txBody>
      </p:sp>
      <p:sp>
        <p:nvSpPr>
          <p:cNvPr id="283" name="The three hypotheses agree on the central story while keeping their boundaries visible."/>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All three hypotheses support the central story, within clear limits.</a:t>
            </a:r>
          </a:p>
        </p:txBody>
      </p:sp>
      <p:sp>
        <p:nvSpPr>
          <p:cNvPr id="284" name="HISTORICAL STOCK ANALYSIS  /  CONCLUSION"/>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CONCLUSION</a:t>
            </a:r>
          </a:p>
        </p:txBody>
      </p:sp>
      <p:sp>
        <p:nvSpPr>
          <p:cNvPr id="285" name="11"/>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9</a:t>
            </a:r>
          </a:p>
        </p:txBody>
      </p:sp>
      <p:sp>
        <p:nvSpPr>
          <p:cNvPr id="286" name="01"/>
          <p:cNvSpPr txBox="1"/>
          <p:nvPr/>
        </p:nvSpPr>
        <p:spPr>
          <a:xfrm>
            <a:off x="914399" y="2587269"/>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1973B7"/>
                </a:solidFill>
                <a:latin typeface="Avenir Next Demi Bold"/>
                <a:ea typeface="Avenir Next Demi Bold"/>
                <a:cs typeface="Avenir Next Demi Bold"/>
                <a:sym typeface="Avenir Next Demi Bold"/>
              </a:defRPr>
            </a:lvl1pPr>
          </a:lstStyle>
          <a:p>
            <a:r>
              <a:t>01</a:t>
            </a:r>
          </a:p>
        </p:txBody>
      </p:sp>
      <p:sp>
        <p:nvSpPr>
          <p:cNvPr id="287" name="Technology leadership was concentrated"/>
          <p:cNvSpPr txBox="1"/>
          <p:nvPr/>
        </p:nvSpPr>
        <p:spPr>
          <a:xfrm>
            <a:off x="2006600" y="2561869"/>
            <a:ext cx="8255000"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Technology leadership was concentrated</a:t>
            </a:r>
          </a:p>
        </p:txBody>
      </p:sp>
      <p:sp>
        <p:nvSpPr>
          <p:cNvPr id="288" name="The selected chip/AI group gained 549% versus 168% for broader tech."/>
          <p:cNvSpPr txBox="1"/>
          <p:nvPr/>
        </p:nvSpPr>
        <p:spPr>
          <a:xfrm>
            <a:off x="2006600" y="3152419"/>
            <a:ext cx="110490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r>
              <a:t>The selected chip/AI group gained 549% versus 168% for broader tech.</a:t>
            </a:r>
          </a:p>
        </p:txBody>
      </p:sp>
      <p:sp>
        <p:nvSpPr>
          <p:cNvPr id="289" name="02"/>
          <p:cNvSpPr txBox="1"/>
          <p:nvPr/>
        </p:nvSpPr>
        <p:spPr>
          <a:xfrm>
            <a:off x="914399" y="4174771"/>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D06F21"/>
                </a:solidFill>
                <a:latin typeface="Avenir Next Demi Bold"/>
                <a:ea typeface="Avenir Next Demi Bold"/>
                <a:cs typeface="Avenir Next Demi Bold"/>
                <a:sym typeface="Avenir Next Demi Bold"/>
              </a:defRPr>
            </a:lvl1pPr>
          </a:lstStyle>
          <a:p>
            <a:r>
              <a:t>02</a:t>
            </a:r>
          </a:p>
        </p:txBody>
      </p:sp>
      <p:sp>
        <p:nvSpPr>
          <p:cNvPr id="290" name="Regional protection weakened in sudden stress"/>
          <p:cNvSpPr txBox="1"/>
          <p:nvPr/>
        </p:nvSpPr>
        <p:spPr>
          <a:xfrm>
            <a:off x="2006599" y="4149371"/>
            <a:ext cx="9398001"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Regional protection weakened in sudden stress</a:t>
            </a:r>
          </a:p>
        </p:txBody>
      </p:sp>
      <p:sp>
        <p:nvSpPr>
          <p:cNvPr id="291" name="Average correlation peaked at 0.539 in the 2020 crash."/>
          <p:cNvSpPr txBox="1"/>
          <p:nvPr/>
        </p:nvSpPr>
        <p:spPr>
          <a:xfrm>
            <a:off x="2006598" y="4739921"/>
            <a:ext cx="10414004"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Medium"/>
                <a:ea typeface="Avenir Next Medium"/>
                <a:cs typeface="Avenir Next Medium"/>
                <a:sym typeface="Avenir Next Medium"/>
              </a:defRPr>
            </a:lvl1pPr>
          </a:lstStyle>
          <a:p>
            <a:r>
              <a:t>Average correlation peaked at 0.539 in the 2020 crash.</a:t>
            </a:r>
          </a:p>
        </p:txBody>
      </p:sp>
      <p:sp>
        <p:nvSpPr>
          <p:cNvPr id="292" name="03"/>
          <p:cNvSpPr txBox="1"/>
          <p:nvPr/>
        </p:nvSpPr>
        <p:spPr>
          <a:xfrm>
            <a:off x="914399" y="5762271"/>
            <a:ext cx="889004" cy="603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a:solidFill>
                  <a:srgbClr val="0B856E"/>
                </a:solidFill>
                <a:latin typeface="Avenir Next Demi Bold"/>
                <a:ea typeface="Avenir Next Demi Bold"/>
                <a:cs typeface="Avenir Next Demi Bold"/>
                <a:sym typeface="Avenir Next Demi Bold"/>
              </a:defRPr>
            </a:lvl1pPr>
          </a:lstStyle>
          <a:p>
            <a:r>
              <a:t>03</a:t>
            </a:r>
          </a:p>
        </p:txBody>
      </p:sp>
      <p:sp>
        <p:nvSpPr>
          <p:cNvPr id="293" name="Volatility independently confirmed the panic signal"/>
          <p:cNvSpPr txBox="1"/>
          <p:nvPr/>
        </p:nvSpPr>
        <p:spPr>
          <a:xfrm>
            <a:off x="2006598" y="5736871"/>
            <a:ext cx="10414004" cy="5150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700">
                <a:solidFill>
                  <a:srgbClr val="182E48"/>
                </a:solidFill>
                <a:latin typeface="Avenir Next Demi Bold"/>
                <a:ea typeface="Avenir Next Demi Bold"/>
                <a:cs typeface="Avenir Next Demi Bold"/>
                <a:sym typeface="Avenir Next Demi Bold"/>
              </a:defRPr>
            </a:lvl1pPr>
          </a:lstStyle>
          <a:p>
            <a:r>
              <a:t>Volatility independently confirmed the panic signal</a:t>
            </a:r>
          </a:p>
        </p:txBody>
      </p:sp>
      <p:sp>
        <p:nvSpPr>
          <p:cNvPr id="294" name="October 2008 and March 2020 were the largest monthly spikes."/>
          <p:cNvSpPr txBox="1"/>
          <p:nvPr/>
        </p:nvSpPr>
        <p:spPr>
          <a:xfrm>
            <a:off x="2006600" y="6349850"/>
            <a:ext cx="10922000" cy="3304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mj-lt"/>
                <a:ea typeface="+mj-ea"/>
                <a:cs typeface="+mj-cs"/>
                <a:sym typeface="Helvetica Neue"/>
              </a:defRPr>
            </a:lvl1pPr>
          </a:lstStyle>
          <a:p>
            <a:r>
              <a:t>October 2008 and March 2020 were the largest monthly spikes.</a:t>
            </a:r>
          </a:p>
        </p:txBody>
      </p:sp>
      <p:sp>
        <p:nvSpPr>
          <p:cNvPr id="295" name="What we can claim: patterns in this dataset.  What we cannot claim: causality, forecasting, or a universal market law."/>
          <p:cNvSpPr txBox="1"/>
          <p:nvPr/>
        </p:nvSpPr>
        <p:spPr>
          <a:xfrm>
            <a:off x="914400" y="7641872"/>
            <a:ext cx="14427200" cy="413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100">
                <a:solidFill>
                  <a:srgbClr val="1973B7"/>
                </a:solidFill>
                <a:latin typeface="Avenir Next Demi Bold"/>
                <a:ea typeface="Avenir Next Demi Bold"/>
                <a:cs typeface="Avenir Next Demi Bold"/>
                <a:sym typeface="Avenir Next Demi Bold"/>
              </a:defRPr>
            </a:lvl1pPr>
          </a:lstStyle>
          <a:p>
            <a:r>
              <a:t>What we can claim: patterns in this dataset.  What we cannot claim: causality, forecasting, or a universal market law.</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  WHAT'S NEXT"/>
          <p:cNvSpPr txBox="1"/>
          <p:nvPr/>
        </p:nvSpPr>
        <p:spPr>
          <a:xfrm>
            <a:off x="914400" y="447322"/>
            <a:ext cx="6350000" cy="273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300">
                <a:solidFill>
                  <a:srgbClr val="1973B7"/>
                </a:solidFill>
                <a:latin typeface="Avenir Next Demi Bold"/>
                <a:ea typeface="Avenir Next Demi Bold"/>
                <a:cs typeface="Avenir Next Demi Bold"/>
                <a:sym typeface="Avenir Next Demi Bold"/>
              </a:defRPr>
            </a:lvl1pPr>
          </a:lstStyle>
          <a:p>
            <a:r>
              <a:t>●  CONCLUSION</a:t>
            </a:r>
          </a:p>
        </p:txBody>
      </p:sp>
      <p:sp>
        <p:nvSpPr>
          <p:cNvPr id="300" name="12"/>
          <p:cNvSpPr txBox="1"/>
          <p:nvPr/>
        </p:nvSpPr>
        <p:spPr>
          <a:xfrm>
            <a:off x="14351000" y="339370"/>
            <a:ext cx="990600" cy="565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000">
                <a:solidFill>
                  <a:srgbClr val="ACC6E4"/>
                </a:solidFill>
                <a:latin typeface="Avenir Next Demi Bold"/>
                <a:ea typeface="Avenir Next Demi Bold"/>
                <a:cs typeface="Avenir Next Demi Bold"/>
                <a:sym typeface="Avenir Next Demi Bold"/>
              </a:defRPr>
            </a:lvl1pPr>
          </a:lstStyle>
          <a:p>
            <a:r>
              <a:t>10</a:t>
            </a:r>
          </a:p>
        </p:txBody>
      </p:sp>
      <p:sp>
        <p:nvSpPr>
          <p:cNvPr id="301" name="Make the evidence explorable"/>
          <p:cNvSpPr txBox="1"/>
          <p:nvPr/>
        </p:nvSpPr>
        <p:spPr>
          <a:xfrm>
            <a:off x="914400" y="948972"/>
            <a:ext cx="14427200" cy="6674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3600">
                <a:solidFill>
                  <a:srgbClr val="182E48"/>
                </a:solidFill>
                <a:latin typeface="Avenir Next Demi Bold"/>
                <a:ea typeface="Avenir Next Demi Bold"/>
                <a:cs typeface="Avenir Next Demi Bold"/>
                <a:sym typeface="Avenir Next Demi Bold"/>
              </a:defRPr>
            </a:lvl1pPr>
          </a:lstStyle>
          <a:p>
            <a:r>
              <a:t>Make the evidence explorable</a:t>
            </a:r>
          </a:p>
        </p:txBody>
      </p:sp>
      <p:sp>
        <p:nvSpPr>
          <p:cNvPr id="302" name="The dashboard keeps every assumption visible as a filter."/>
          <p:cNvSpPr txBox="1"/>
          <p:nvPr/>
        </p:nvSpPr>
        <p:spPr>
          <a:xfrm>
            <a:off x="914400" y="1749069"/>
            <a:ext cx="144272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58657C"/>
                </a:solidFill>
                <a:latin typeface="Avenir Next Regular"/>
                <a:ea typeface="Avenir Next Regular"/>
                <a:cs typeface="Avenir Next Regular"/>
                <a:sym typeface="Avenir Next Regular"/>
              </a:defRPr>
            </a:lvl1pPr>
          </a:lstStyle>
          <a:p>
            <a:r>
              <a:t>The dashboard keeps every assumption visible as a filter.</a:t>
            </a:r>
          </a:p>
        </p:txBody>
      </p:sp>
      <p:sp>
        <p:nvSpPr>
          <p:cNvPr id="303" name="HISTORICAL STOCK ANALYSIS  /  WHAT'S NEXT"/>
          <p:cNvSpPr txBox="1"/>
          <p:nvPr/>
        </p:nvSpPr>
        <p:spPr>
          <a:xfrm>
            <a:off x="914400" y="8664222"/>
            <a:ext cx="82550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HISTORICAL STOCK ANALYSIS  /  CONCLUSION</a:t>
            </a:r>
          </a:p>
        </p:txBody>
      </p:sp>
      <p:sp>
        <p:nvSpPr>
          <p:cNvPr id="304" name="12"/>
          <p:cNvSpPr txBox="1"/>
          <p:nvPr/>
        </p:nvSpPr>
        <p:spPr>
          <a:xfrm>
            <a:off x="14986000" y="8664222"/>
            <a:ext cx="355600" cy="222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000">
                <a:solidFill>
                  <a:srgbClr val="ACC6E4"/>
                </a:solidFill>
                <a:latin typeface="Avenir Next Medium"/>
                <a:ea typeface="Avenir Next Medium"/>
                <a:cs typeface="Avenir Next Medium"/>
                <a:sym typeface="Avenir Next Medium"/>
              </a:defRPr>
            </a:lvl1pPr>
          </a:lstStyle>
          <a:p>
            <a:r>
              <a:t>10</a:t>
            </a:r>
          </a:p>
        </p:txBody>
      </p:sp>
      <p:sp>
        <p:nvSpPr>
          <p:cNvPr id="305" name="POWER BI / TABLEAU"/>
          <p:cNvSpPr txBox="1"/>
          <p:nvPr/>
        </p:nvSpPr>
        <p:spPr>
          <a:xfrm>
            <a:off x="914400" y="2695219"/>
            <a:ext cx="4572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1973B7"/>
                </a:solidFill>
                <a:latin typeface="Avenir Next Demi Bold"/>
                <a:ea typeface="Avenir Next Demi Bold"/>
                <a:cs typeface="Avenir Next Demi Bold"/>
                <a:sym typeface="Avenir Next Demi Bold"/>
              </a:defRPr>
            </a:lvl1pPr>
          </a:lstStyle>
          <a:p>
            <a:r>
              <a:t>POWER BI / TABLEAU</a:t>
            </a:r>
          </a:p>
        </p:txBody>
      </p:sp>
      <p:sp>
        <p:nvSpPr>
          <p:cNvPr id="306" name="One overview"/>
          <p:cNvSpPr txBox="1"/>
          <p:nvPr/>
        </p:nvSpPr>
        <p:spPr>
          <a:xfrm>
            <a:off x="914399" y="3190519"/>
            <a:ext cx="5207002" cy="553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900">
                <a:solidFill>
                  <a:srgbClr val="182E48"/>
                </a:solidFill>
                <a:latin typeface="Avenir Next Demi Bold"/>
                <a:ea typeface="Avenir Next Demi Bold"/>
                <a:cs typeface="Avenir Next Demi Bold"/>
                <a:sym typeface="Avenir Next Demi Bold"/>
              </a:defRPr>
            </a:lvl1pPr>
          </a:lstStyle>
          <a:p>
            <a:r>
              <a:t>One overview</a:t>
            </a:r>
          </a:p>
        </p:txBody>
      </p:sp>
      <p:sp>
        <p:nvSpPr>
          <p:cNvPr id="307" name="Filter by ticker group, region, and crisis period; compare indexed performance, correlations, and monthly volatility."/>
          <p:cNvSpPr txBox="1"/>
          <p:nvPr/>
        </p:nvSpPr>
        <p:spPr>
          <a:xfrm>
            <a:off x="914400" y="4047771"/>
            <a:ext cx="5778500" cy="10738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58657C"/>
                </a:solidFill>
                <a:latin typeface="Avenir Next Regular"/>
                <a:ea typeface="Avenir Next Regular"/>
                <a:cs typeface="Avenir Next Regular"/>
                <a:sym typeface="Avenir Next Regular"/>
              </a:defRPr>
            </a:lvl1pPr>
          </a:lstStyle>
          <a:p>
            <a:r>
              <a:t>Filter by ticker group, region, and crisis period; compare indexed performance, correlations, and monthly volatility.</a:t>
            </a:r>
          </a:p>
        </p:txBody>
      </p:sp>
      <p:sp>
        <p:nvSpPr>
          <p:cNvPr id="308" name="R WRANGLING"/>
          <p:cNvSpPr txBox="1"/>
          <p:nvPr/>
        </p:nvSpPr>
        <p:spPr>
          <a:xfrm>
            <a:off x="8254999" y="2695219"/>
            <a:ext cx="3810004"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D06F21"/>
                </a:solidFill>
                <a:latin typeface="Avenir Next Demi Bold"/>
                <a:ea typeface="Avenir Next Demi Bold"/>
                <a:cs typeface="Avenir Next Demi Bold"/>
                <a:sym typeface="Avenir Next Demi Bold"/>
              </a:defRPr>
            </a:lvl1pPr>
          </a:lstStyle>
          <a:p>
            <a:r>
              <a:t>R WRANGLING</a:t>
            </a:r>
          </a:p>
        </p:txBody>
      </p:sp>
      <p:sp>
        <p:nvSpPr>
          <p:cNvPr id="309" name="Long-form by design"/>
          <p:cNvSpPr txBox="1"/>
          <p:nvPr/>
        </p:nvSpPr>
        <p:spPr>
          <a:xfrm>
            <a:off x="8255000" y="3190519"/>
            <a:ext cx="5715000" cy="553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900">
                <a:solidFill>
                  <a:srgbClr val="182E48"/>
                </a:solidFill>
                <a:latin typeface="Avenir Next Demi Bold"/>
                <a:ea typeface="Avenir Next Demi Bold"/>
                <a:cs typeface="Avenir Next Demi Bold"/>
                <a:sym typeface="Avenir Next Demi Bold"/>
              </a:defRPr>
            </a:lvl1pPr>
          </a:lstStyle>
          <a:p>
            <a:r>
              <a:t>Long-form by design</a:t>
            </a:r>
          </a:p>
        </p:txBody>
      </p:sp>
      <p:sp>
        <p:nvSpPr>
          <p:cNvPr id="310" name="Use parsed dates, month bins, and one Ticker field so color, grouping, and filters remain consistent."/>
          <p:cNvSpPr txBox="1"/>
          <p:nvPr/>
        </p:nvSpPr>
        <p:spPr>
          <a:xfrm>
            <a:off x="8255000" y="4219221"/>
            <a:ext cx="5969000" cy="7309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000">
                <a:solidFill>
                  <a:srgbClr val="58657C"/>
                </a:solidFill>
                <a:latin typeface="Avenir Next Regular"/>
                <a:ea typeface="Avenir Next Regular"/>
                <a:cs typeface="Avenir Next Regular"/>
                <a:sym typeface="Avenir Next Regular"/>
              </a:defRPr>
            </a:lvl1pPr>
          </a:lstStyle>
          <a:p>
            <a:r>
              <a:t>Use parsed dates, month bins, and one Ticker field so color, grouping, and filters remain consistent.</a:t>
            </a:r>
          </a:p>
        </p:txBody>
      </p:sp>
      <p:sp>
        <p:nvSpPr>
          <p:cNvPr id="311" name="OPEN RISKS"/>
          <p:cNvSpPr txBox="1"/>
          <p:nvPr/>
        </p:nvSpPr>
        <p:spPr>
          <a:xfrm>
            <a:off x="914400" y="6073421"/>
            <a:ext cx="2286000" cy="3245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600">
                <a:solidFill>
                  <a:srgbClr val="0B856E"/>
                </a:solidFill>
                <a:latin typeface="Avenir Next Demi Bold"/>
                <a:ea typeface="Avenir Next Demi Bold"/>
                <a:cs typeface="Avenir Next Demi Bold"/>
                <a:sym typeface="Avenir Next Demi Bold"/>
              </a:defRPr>
            </a:lvl1pPr>
          </a:lstStyle>
          <a:p>
            <a:r>
              <a:t>OPEN RISKS</a:t>
            </a:r>
          </a:p>
        </p:txBody>
      </p:sp>
      <p:sp>
        <p:nvSpPr>
          <p:cNvPr id="312" name="unequal regional coverage  ·  share-count volume  ·  removed original Kaggle page  ·  no causal interpretation"/>
          <p:cNvSpPr txBox="1"/>
          <p:nvPr/>
        </p:nvSpPr>
        <p:spPr>
          <a:xfrm>
            <a:off x="914400" y="6657622"/>
            <a:ext cx="13716002" cy="8071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2200">
                <a:solidFill>
                  <a:srgbClr val="182E48"/>
                </a:solidFill>
                <a:latin typeface="Avenir Next Medium"/>
                <a:ea typeface="Avenir Next Medium"/>
                <a:cs typeface="Avenir Next Medium"/>
                <a:sym typeface="Avenir Next Medium"/>
              </a:defRPr>
            </a:lvl1pPr>
          </a:lstStyle>
          <a:p>
            <a:r>
              <a:t>unequal regional coverage  ·  share-count volume  ·  removed original Kaggle page  ·  no causal interpretation</a:t>
            </a:r>
          </a:p>
        </p:txBody>
      </p:sp>
      <p:sp>
        <p:nvSpPr>
          <p:cNvPr id="313" name="Success means the user can reproduce each headline and see where the evidence becomes uncertain."/>
          <p:cNvSpPr txBox="1"/>
          <p:nvPr/>
        </p:nvSpPr>
        <p:spPr>
          <a:xfrm>
            <a:off x="914400" y="7876822"/>
            <a:ext cx="14224000" cy="3753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2576" tIns="22576" rIns="22576" bIns="22576" anchor="ctr">
            <a:spAutoFit/>
          </a:bodyPr>
          <a:lstStyle>
            <a:lvl1pPr>
              <a:defRPr sz="1900">
                <a:solidFill>
                  <a:srgbClr val="1973B7"/>
                </a:solidFill>
                <a:latin typeface="Avenir Next Demi Bold"/>
                <a:ea typeface="Avenir Next Demi Bold"/>
                <a:cs typeface="Avenir Next Demi Bold"/>
                <a:sym typeface="Avenir Next Demi Bold"/>
              </a:defRPr>
            </a:lvl1pPr>
          </a:lstStyle>
          <a:p>
            <a:r>
              <a:t>Success means the user can reproduce each headline and see where the evidence becomes uncertain.</a:t>
            </a: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a:ea typeface="Helvetica Neue"/>
        <a:cs typeface="Helvetica Neu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22576" tIns="22576" rIns="22576" bIns="22576" numCol="1" spcCol="38100" rtlCol="0" anchor="ctr">
        <a:spAutoFit/>
      </a:bodyPr>
      <a:lstStyle>
        <a:def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a:ea typeface="Helvetica Neue"/>
        <a:cs typeface="Helvetica Neue"/>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22576" tIns="22576" rIns="22576" bIns="22576" numCol="1" spcCol="38100" rtlCol="0" anchor="ctr">
        <a:spAutoFit/>
      </a:bodyPr>
      <a:lstStyle>
        <a:defPPr marL="0" marR="0" indent="0" algn="l" defTabSz="550332" rtl="0" fontAlgn="auto" latinLnBrk="0" hangingPunct="0">
          <a:lnSpc>
            <a:spcPct val="100000"/>
          </a:lnSpc>
          <a:spcBef>
            <a:spcPts val="3900"/>
          </a:spcBef>
          <a:spcAft>
            <a:spcPts val="0"/>
          </a:spcAft>
          <a:buClrTx/>
          <a:buSzTx/>
          <a:buFontTx/>
          <a:buNone/>
          <a:tabLst/>
          <a:defRPr kumimoji="0" sz="3200" b="0" i="0" u="none" strike="noStrike" cap="none" spc="0" normalizeH="0" baseline="0">
            <a:ln>
              <a:noFill/>
            </a:ln>
            <a:solidFill>
              <a:srgbClr val="000000"/>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10</Slides>
  <Notes>10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White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7</cp:revision>
  <dcterms:modified xsi:type="dcterms:W3CDTF">2026-08-26T16:08:13Z</dcterms:modified>
</cp:coreProperties>
</file>