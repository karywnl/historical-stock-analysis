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6256000" cy="9144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50332" rtl="0" fontAlgn="auto" latinLnBrk="0" hangingPunct="0">
      <a:lnSpc>
        <a:spcPct val="100000"/>
      </a:lnSpc>
      <a:spcBef>
        <a:spcPts val="39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1pPr>
    <a:lvl2pPr marL="0" marR="0" indent="0" algn="l" defTabSz="550332" rtl="0" fontAlgn="auto" latinLnBrk="0" hangingPunct="0">
      <a:lnSpc>
        <a:spcPct val="100000"/>
      </a:lnSpc>
      <a:spcBef>
        <a:spcPts val="39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2pPr>
    <a:lvl3pPr marL="0" marR="0" indent="0" algn="l" defTabSz="550332" rtl="0" fontAlgn="auto" latinLnBrk="0" hangingPunct="0">
      <a:lnSpc>
        <a:spcPct val="100000"/>
      </a:lnSpc>
      <a:spcBef>
        <a:spcPts val="39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3pPr>
    <a:lvl4pPr marL="0" marR="0" indent="0" algn="l" defTabSz="550332" rtl="0" fontAlgn="auto" latinLnBrk="0" hangingPunct="0">
      <a:lnSpc>
        <a:spcPct val="100000"/>
      </a:lnSpc>
      <a:spcBef>
        <a:spcPts val="39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4pPr>
    <a:lvl5pPr marL="0" marR="0" indent="0" algn="l" defTabSz="550332" rtl="0" fontAlgn="auto" latinLnBrk="0" hangingPunct="0">
      <a:lnSpc>
        <a:spcPct val="100000"/>
      </a:lnSpc>
      <a:spcBef>
        <a:spcPts val="39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5pPr>
    <a:lvl6pPr marL="0" marR="0" indent="0" algn="l" defTabSz="550332" rtl="0" fontAlgn="auto" latinLnBrk="0" hangingPunct="0">
      <a:lnSpc>
        <a:spcPct val="100000"/>
      </a:lnSpc>
      <a:spcBef>
        <a:spcPts val="39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6pPr>
    <a:lvl7pPr marL="0" marR="0" indent="0" algn="l" defTabSz="550332" rtl="0" fontAlgn="auto" latinLnBrk="0" hangingPunct="0">
      <a:lnSpc>
        <a:spcPct val="100000"/>
      </a:lnSpc>
      <a:spcBef>
        <a:spcPts val="39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7pPr>
    <a:lvl8pPr marL="0" marR="0" indent="0" algn="l" defTabSz="550332" rtl="0" fontAlgn="auto" latinLnBrk="0" hangingPunct="0">
      <a:lnSpc>
        <a:spcPct val="100000"/>
      </a:lnSpc>
      <a:spcBef>
        <a:spcPts val="39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8pPr>
    <a:lvl9pPr marL="0" marR="0" indent="0" algn="l" defTabSz="550332" rtl="0" fontAlgn="auto" latinLnBrk="0" hangingPunct="0">
      <a:lnSpc>
        <a:spcPct val="100000"/>
      </a:lnSpc>
      <a:spcBef>
        <a:spcPts val="3900"/>
      </a:spcBef>
      <a:spcAft>
        <a:spcPts val="0"/>
      </a:spcAft>
      <a:buClrTx/>
      <a:buSzTx/>
      <a:buFontTx/>
      <a:buNone/>
      <a:tabLst/>
      <a:defRPr b="0" baseline="0" cap="none" i="0" spc="0" strike="noStrike" sz="32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 b="def" i="def"/>
      <a:tcStyle>
        <a:tcBdr/>
        <a:fill>
          <a:solidFill>
            <a:srgbClr val="E3E5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76BA"/>
          </a:solidFill>
        </a:fill>
      </a:tcStyle>
    </a:firstCol>
    <a:lastRow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3175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004D80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DFFF"/>
          </a:solidFill>
        </a:fill>
      </a:tcStyle>
    </a:wholeTbl>
    <a:band2H>
      <a:tcTxStyle b="def" i="def"/>
      <a:tcStyle>
        <a:tcBdr/>
        <a:fill>
          <a:solidFill>
            <a:srgbClr val="E6F0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F0CC"/>
          </a:solidFill>
        </a:fill>
      </a:tcStyle>
    </a:wholeTbl>
    <a:band2H>
      <a:tcTxStyle b="def" i="def"/>
      <a:tcStyle>
        <a:tcBdr/>
        <a:fill>
          <a:solidFill>
            <a:srgbClr val="EAF8E7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9D1E1"/>
          </a:solidFill>
        </a:fill>
      </a:tcStyle>
    </a:wholeTbl>
    <a:band2H>
      <a:tcTxStyle b="def" i="def"/>
      <a:tcStyle>
        <a:tcBdr/>
        <a:fill>
          <a:solidFill>
            <a:srgbClr val="FCE9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5" name="Shape 135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1pPr>
    <a:lvl2pPr indent="228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2pPr>
    <a:lvl3pPr indent="457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3pPr>
    <a:lvl4pPr indent="685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4pPr>
    <a:lvl5pPr indent="9144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5pPr>
    <a:lvl6pPr indent="11430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6pPr>
    <a:lvl7pPr indent="13716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7pPr>
    <a:lvl8pPr indent="16002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8pPr>
    <a:lvl9pPr indent="1828800" defTabSz="457200" latinLnBrk="0">
      <a:lnSpc>
        <a:spcPct val="117999"/>
      </a:lnSpc>
      <a:defRPr sz="2200">
        <a:latin typeface="+mj-lt"/>
        <a:ea typeface="+mj-ea"/>
        <a:cs typeface="+mj-cs"/>
        <a:sym typeface="Helvetica Neue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Shape 15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3" name="Shape 15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Speaker: Mirthula M | Target: 0:20</a:t>
            </a:r>
          </a:p>
          <a:p>
            <a:pPr/>
            <a:r>
              <a:t>Speaker: Mirthula M | Target: 0:20</a:t>
            </a:r>
          </a:p>
          <a:p>
            <a:pPr/>
            <a:r>
              <a:t>Open with the umbrella question. Explain that the project is not forecasting prices; it tests whether apparent diversification remains meaningful across technology groups and crisis periods.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Local dataset: data/stock_data.csv. Assignment brief: half-way-presentation/docs/assignment/Project_Status_Presentation.pdf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8" name="Shape 16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Speaker: Mirthula M | Target: 0:50</a:t>
            </a:r>
          </a:p>
          <a:p>
            <a:pPr/>
            <a:r>
              <a:t>Speaker: Mirthula M | Target: 0:35</a:t>
            </a:r>
          </a:p>
          <a:p>
            <a:pPr/>
            <a:r>
              <a:t>Walk through one row: date, company identifier, a daily opening value, adjusted closing value, and number of shares traded. Point out the Samsung row to show why raw levels across currencies are not comparable.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Local dataset: data/stock_data.csv. Shape, date range, missing-value count, and example rows verified directly from the CSV on 2026-08-25.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Shape 18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6" name="Shape 18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Speaker: Mirthula M | Target: 0:55</a:t>
            </a:r>
          </a:p>
          <a:p>
            <a:pPr/>
            <a:r>
              <a:t>The file has no missing fields or duplicate Date-Ticker pairs, but regional coverage is uneven. We therefore clean and audit the data, transform adjusted prices into returns or indexed values, test the three hypotheses in Python, and use R to replicate and reshape the monthly analysis. State the limitation: the United States dominates the rows, while Paris and Saudi Arabia each represent one company.</a:t>
            </a:r>
          </a:p>
          <a:p>
            <a:pPr/>
            <a:r>
              <a:t>[Sources]</a:t>
            </a:r>
          </a:p>
          <a:p>
            <a:pPr/>
            <a:r>
              <a:t>Dataset audit and workflow: data/stock_data.csv, assignment_3/analysis.ipynb, assignment_5/part_2/analysis.R, and AGENTS.md.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Shape 21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1" name="Shape 21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Speaker: Mirthula M | Target: 0:55</a:t>
            </a:r>
          </a:p>
          <a:p>
            <a:pPr/>
            <a:r>
              <a:t>Speaker: Karthikeyan M | Target: 0:40</a:t>
            </a:r>
          </a:p>
          <a:p>
            <a:pPr/>
            <a:r>
              <a:t>Introduce the definitions that frame all three hypotheses. H1 tests selected chip/AI leadership, H2 tests regional correlation during crises, and H3 tests volatility and volume during panic periods. Briefly connect the tests to the related work before moving to the evidence.</a:t>
            </a:r>
          </a:p>
          <a:p>
            <a:pPr/>
            <a:r>
              <a:t>[Sources]</a:t>
            </a:r>
          </a:p>
          <a:p>
            <a:pPr/>
            <a:r>
              <a:t>Group and period definitions: assignment_3/analysis.ipynb and extra_credit_1/analysis.ipynb. Preis et al. (2012): https://www.nature.com/articles/srep00752. Morningstar (2026): https://www.morningstar.com/stocks/three-years-ai-stock-market-boom-charts. J.P. Morgan (2026): https://www.jpmorgan.com/insights/markets-and-economy/top-market-takeaways/tmt-is-it-all-one-big-ai-trade.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Shape 22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9" name="Shape 22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Speaker: Karthikeyan M | Target: 1:00</a:t>
            </a:r>
          </a:p>
          <a:p>
            <a:pPr/>
            <a:r>
              <a:t>Speaker: Karthikeyan M | Target: 0:45</a:t>
            </a:r>
          </a:p>
          <a:p>
            <a:pPr/>
            <a:r>
              <a:t>Lead with the visual gap, then the group-level returns and statistical check. State the boundary carefully: the selected seven chip/AI stocks outperformed the selected eight broader-tech stocks. This does not prove the whole AI economy is narrow.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Chart: assignment_3/figures/figure_a_ai_rally.png. Statistical check: extra_credit_1 output. Local dataset: data/stock_data.csv.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Shape 24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7" name="Shape 24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Speaker: Karthikeyan M | Target: 1:00</a:t>
            </a:r>
          </a:p>
          <a:p>
            <a:pPr/>
            <a:r>
              <a:t>Speaker: Karthikeyan M | Target: 0:45</a:t>
            </a:r>
          </a:p>
          <a:p>
            <a:pPr/>
            <a:r>
              <a:t>Explain correlation in one sentence: values closer to one mean regions move more together. The widened basket lifts 2008 from about 0.25 to 0.326 and leaves 2020 as the clearest diversification failure. Keep the regional-coverage limitation visible.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Chart: extra_credit_1/figures/ec1_f_widened_basket.png. Calculations use data/stock_data.csv and the widened-basket method documented in extra_credit_1.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Shape 26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62" name="Shape 26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Speaker: Karthikeyan M | Target: 1:00</a:t>
            </a:r>
          </a:p>
          <a:p>
            <a:pPr/>
            <a:r>
              <a:t>Speaker: Karthikeyan M | Target: 0:45</a:t>
            </a:r>
          </a:p>
          <a:p>
            <a:pPr/>
            <a:r>
              <a:t>The chart is a separate R-based check. October 2008 and March 2020 are the two largest monthly volatility spikes. This supports the panic-period story without relying on the regional-correlation basket.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Chart: assignment_5/part_2/figures/b2_monthly_absolute_return.png. Monthly bins created in R with lubridate::floor_date(); source data/stock_data.csv.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Shape 27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8" name="Shape 27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Speaker: Lakshmi Mayuri Kavya N | Target: 1:00</a:t>
            </a:r>
          </a:p>
          <a:p>
            <a:pPr/>
            <a:r>
              <a:t>Speaker: Lakshmi Mayuri Kavya N | Target: 0:55</a:t>
            </a:r>
          </a:p>
          <a:p>
            <a:pPr/>
            <a:r>
              <a:t>This slide is explicitly about design principles, not decoration. On a linear axis, extreme absolute growth compresses the other lines. A log axis makes proportional changes comparable. Direct labels and fewer spines reduce search effort and non-data ink.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Before/after charts: extra_credit_1/figures/ec1_a_before.png and extra_credit_1/figures/ec1_a_after.png. Both use data/stock_data.csv.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Shape 29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97" name="Shape 29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Speaker: Lakshmi Mayuri Kavya N | Target: 0:55</a:t>
            </a:r>
          </a:p>
          <a:p>
            <a:pPr/>
            <a:r>
              <a:t>Speaker: Lakshmi Mayuri Kavya N | Target: 0:50</a:t>
            </a:r>
          </a:p>
          <a:p>
            <a:pPr/>
            <a:r>
              <a:t>Resolve the opening question directly. The dataset shows diversification, but technology gains and crisis co-movement make it thinner than the surface suggests. Finish with the boundary: this is descriptive evidence, not causal proof or a forecast.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Synthesis of slides 7–9 using data/stock_data.csv and the cited project outputs.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Shape 31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315" name="Shape 31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Speaker: Lakshmi Mayuri Kavya N | Target: 0:50</a:t>
            </a:r>
          </a:p>
          <a:p>
            <a:pPr/>
            <a:r>
              <a:t>Speaker: Lakshmi Mayuri Kavya N | Target: 0:45</a:t>
            </a:r>
          </a:p>
          <a:p>
            <a:pPr/>
            <a:r>
              <a:t>Describe the dashboard as the next analytical interface, not just a prettier report. The filters should let users change the group and period while retaining the same return, correlation, and volatility definitions.</a:t>
            </a:r>
          </a:p>
          <a:p>
            <a:pPr/>
          </a:p>
          <a:p>
            <a:pPr/>
            <a:r>
              <a:t>[Sources]</a:t>
            </a:r>
          </a:p>
          <a:p>
            <a:pPr/>
            <a:r>
              <a:t>Dashboard plan derived from assignment_5/part_2 long-form outputs and the Assignment 6 brief. Kaggle source caveat documented in AGENTS.md.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3499553" y="2545644"/>
            <a:ext cx="9256894" cy="2065871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3499553" y="4667953"/>
            <a:ext cx="9256894" cy="70556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iew of beach and sea from a grassy sand dune"/>
          <p:cNvSpPr/>
          <p:nvPr>
            <p:ph type="pic" sz="half" idx="21"/>
          </p:nvPr>
        </p:nvSpPr>
        <p:spPr>
          <a:xfrm>
            <a:off x="4098652" y="1349022"/>
            <a:ext cx="8060268" cy="537351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1" name="Title Text"/>
          <p:cNvSpPr txBox="1"/>
          <p:nvPr>
            <p:ph type="title"/>
          </p:nvPr>
        </p:nvSpPr>
        <p:spPr>
          <a:xfrm>
            <a:off x="2991554" y="5751688"/>
            <a:ext cx="10272894" cy="891827"/>
          </a:xfrm>
          <a:prstGeom prst="rect">
            <a:avLst/>
          </a:prstGeom>
        </p:spPr>
        <p:txBody>
          <a:bodyPr anchor="b"/>
          <a:lstStyle/>
          <a:p>
            <a:pPr/>
            <a:r>
              <a:t>Title Text</a:t>
            </a:r>
          </a:p>
        </p:txBody>
      </p:sp>
      <p:sp>
        <p:nvSpPr>
          <p:cNvPr id="22" name="Body Level One…"/>
          <p:cNvSpPr txBox="1"/>
          <p:nvPr>
            <p:ph type="body" sz="quarter" idx="1"/>
          </p:nvPr>
        </p:nvSpPr>
        <p:spPr>
          <a:xfrm>
            <a:off x="2991554" y="6609643"/>
            <a:ext cx="10272894" cy="705560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Cen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/>
          <p:nvPr>
            <p:ph type="title"/>
          </p:nvPr>
        </p:nvSpPr>
        <p:spPr>
          <a:xfrm>
            <a:off x="3499553" y="3539066"/>
            <a:ext cx="9256894" cy="206587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Heron flying low over a beach with a short fence in the foreground"/>
          <p:cNvSpPr/>
          <p:nvPr>
            <p:ph type="pic" sz="quarter" idx="21"/>
          </p:nvPr>
        </p:nvSpPr>
        <p:spPr>
          <a:xfrm>
            <a:off x="8410222" y="1947333"/>
            <a:ext cx="5096937" cy="5096934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9" name="Title Text"/>
          <p:cNvSpPr txBox="1"/>
          <p:nvPr>
            <p:ph type="title"/>
          </p:nvPr>
        </p:nvSpPr>
        <p:spPr>
          <a:xfrm>
            <a:off x="3443108" y="1947333"/>
            <a:ext cx="4543782" cy="2466626"/>
          </a:xfrm>
          <a:prstGeom prst="rect">
            <a:avLst/>
          </a:prstGeom>
        </p:spPr>
        <p:txBody>
          <a:bodyPr anchor="b"/>
          <a:lstStyle>
            <a:lvl1pPr>
              <a:defRPr sz="5600"/>
            </a:lvl1pPr>
          </a:lstStyle>
          <a:p>
            <a:pPr/>
            <a:r>
              <a:t>Title Text</a:t>
            </a:r>
          </a:p>
        </p:txBody>
      </p:sp>
      <p:sp>
        <p:nvSpPr>
          <p:cNvPr id="40" name="Body Level One…"/>
          <p:cNvSpPr txBox="1"/>
          <p:nvPr>
            <p:ph type="body" sz="quarter" idx="1"/>
          </p:nvPr>
        </p:nvSpPr>
        <p:spPr>
          <a:xfrm>
            <a:off x="3443108" y="4425243"/>
            <a:ext cx="4543782" cy="2545648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7" name="Body Level One…"/>
          <p:cNvSpPr txBox="1"/>
          <p:nvPr>
            <p:ph type="body" sz="half" idx="1"/>
          </p:nvPr>
        </p:nvSpPr>
        <p:spPr>
          <a:xfrm>
            <a:off x="3460043" y="2923819"/>
            <a:ext cx="9335914" cy="4131738"/>
          </a:xfrm>
          <a:prstGeom prst="rect">
            <a:avLst/>
          </a:prstGeom>
        </p:spPr>
        <p:txBody>
          <a:bodyPr anchor="ctr"/>
          <a:lstStyle>
            <a:lvl1pPr marL="423332" indent="-423332" algn="l">
              <a:spcBef>
                <a:spcPts val="3900"/>
              </a:spcBef>
              <a:buSzPct val="125000"/>
              <a:buChar char="•"/>
              <a:defRPr sz="3200"/>
            </a:lvl1pPr>
            <a:lvl2pPr marL="1058332" indent="-423332" algn="l">
              <a:spcBef>
                <a:spcPts val="3900"/>
              </a:spcBef>
              <a:buSzPct val="125000"/>
              <a:buChar char="•"/>
              <a:defRPr sz="3200"/>
            </a:lvl2pPr>
            <a:lvl3pPr marL="1693333" indent="-423332" algn="l">
              <a:spcBef>
                <a:spcPts val="3900"/>
              </a:spcBef>
              <a:buSzPct val="125000"/>
              <a:buChar char="•"/>
              <a:defRPr sz="3200"/>
            </a:lvl3pPr>
            <a:lvl4pPr marL="2328333" indent="-423333" algn="l">
              <a:spcBef>
                <a:spcPts val="3900"/>
              </a:spcBef>
              <a:buSzPct val="125000"/>
              <a:buChar char="•"/>
              <a:defRPr sz="3200"/>
            </a:lvl4pPr>
            <a:lvl5pPr marL="2963333" indent="-423333" algn="l">
              <a:spcBef>
                <a:spcPts val="3900"/>
              </a:spcBef>
              <a:buSzPct val="125000"/>
              <a:buChar char="•"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andy path between two hills leading to the ocean"/>
          <p:cNvSpPr/>
          <p:nvPr>
            <p:ph type="pic" sz="quarter" idx="21"/>
          </p:nvPr>
        </p:nvSpPr>
        <p:spPr>
          <a:xfrm>
            <a:off x="7580486" y="2923819"/>
            <a:ext cx="6197606" cy="413173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67" name="Body Level One…"/>
          <p:cNvSpPr txBox="1"/>
          <p:nvPr>
            <p:ph type="body" sz="quarter" idx="1"/>
          </p:nvPr>
        </p:nvSpPr>
        <p:spPr>
          <a:xfrm>
            <a:off x="3460043" y="2923819"/>
            <a:ext cx="4543782" cy="4131738"/>
          </a:xfrm>
          <a:prstGeom prst="rect">
            <a:avLst/>
          </a:prstGeom>
        </p:spPr>
        <p:txBody>
          <a:bodyPr anchor="ctr"/>
          <a:lstStyle>
            <a:lvl1pPr marL="352926" indent="-352926" algn="l">
              <a:spcBef>
                <a:spcPts val="3000"/>
              </a:spcBef>
              <a:buSzPct val="125000"/>
              <a:buChar char="•"/>
              <a:defRPr sz="2400"/>
            </a:lvl1pPr>
            <a:lvl2pPr marL="911726" indent="-352926" algn="l">
              <a:spcBef>
                <a:spcPts val="3000"/>
              </a:spcBef>
              <a:buSzPct val="125000"/>
              <a:buChar char="•"/>
              <a:defRPr sz="2400"/>
            </a:lvl2pPr>
            <a:lvl3pPr marL="1470526" indent="-352926" algn="l">
              <a:spcBef>
                <a:spcPts val="3000"/>
              </a:spcBef>
              <a:buSzPct val="125000"/>
              <a:buChar char="•"/>
              <a:defRPr sz="2400"/>
            </a:lvl3pPr>
            <a:lvl4pPr marL="2029324" indent="-352924" algn="l">
              <a:spcBef>
                <a:spcPts val="3000"/>
              </a:spcBef>
              <a:buSzPct val="125000"/>
              <a:buChar char="•"/>
              <a:defRPr sz="2400"/>
            </a:lvl4pPr>
            <a:lvl5pPr marL="2588124" indent="-352924" algn="l">
              <a:spcBef>
                <a:spcPts val="3000"/>
              </a:spcBef>
              <a:buSzPct val="125000"/>
              <a:buChar char="•"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6" name="Body Level One…"/>
          <p:cNvSpPr txBox="1"/>
          <p:nvPr>
            <p:ph type="body" sz="quarter" idx="1"/>
          </p:nvPr>
        </p:nvSpPr>
        <p:spPr>
          <a:xfrm>
            <a:off x="3460043" y="2923819"/>
            <a:ext cx="4543782" cy="4131738"/>
          </a:xfrm>
          <a:prstGeom prst="rect">
            <a:avLst/>
          </a:prstGeom>
        </p:spPr>
        <p:txBody>
          <a:bodyPr anchor="ctr"/>
          <a:lstStyle>
            <a:lvl1pPr marL="352926" indent="-352926" algn="l">
              <a:spcBef>
                <a:spcPts val="3000"/>
              </a:spcBef>
              <a:buSzPct val="125000"/>
              <a:buChar char="•"/>
              <a:defRPr sz="2400"/>
            </a:lvl1pPr>
            <a:lvl2pPr marL="911726" indent="-352926" algn="l">
              <a:spcBef>
                <a:spcPts val="3000"/>
              </a:spcBef>
              <a:buSzPct val="125000"/>
              <a:buChar char="•"/>
              <a:defRPr sz="2400"/>
            </a:lvl2pPr>
            <a:lvl3pPr marL="1470526" indent="-352926" algn="l">
              <a:spcBef>
                <a:spcPts val="3000"/>
              </a:spcBef>
              <a:buSzPct val="125000"/>
              <a:buChar char="•"/>
              <a:defRPr sz="2400"/>
            </a:lvl3pPr>
            <a:lvl4pPr marL="2029324" indent="-352924" algn="l">
              <a:spcBef>
                <a:spcPts val="3000"/>
              </a:spcBef>
              <a:buSzPct val="125000"/>
              <a:buChar char="•"/>
              <a:defRPr sz="2400"/>
            </a:lvl4pPr>
            <a:lvl5pPr marL="2588124" indent="-352924" algn="l">
              <a:spcBef>
                <a:spcPts val="3000"/>
              </a:spcBef>
              <a:buSzPct val="125000"/>
              <a:buChar char="•"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7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85" name="Body Level One…"/>
          <p:cNvSpPr txBox="1"/>
          <p:nvPr>
            <p:ph type="body" sz="quarter" idx="1"/>
          </p:nvPr>
        </p:nvSpPr>
        <p:spPr>
          <a:xfrm>
            <a:off x="3460043" y="2923819"/>
            <a:ext cx="4543782" cy="4131738"/>
          </a:xfrm>
          <a:prstGeom prst="rect">
            <a:avLst/>
          </a:prstGeom>
        </p:spPr>
        <p:txBody>
          <a:bodyPr anchor="ctr"/>
          <a:lstStyle>
            <a:lvl1pPr marL="352926" indent="-352926" algn="l">
              <a:spcBef>
                <a:spcPts val="3000"/>
              </a:spcBef>
              <a:buSzPct val="125000"/>
              <a:buChar char="•"/>
              <a:defRPr sz="2400"/>
            </a:lvl1pPr>
            <a:lvl2pPr marL="911726" indent="-352926" algn="l">
              <a:spcBef>
                <a:spcPts val="3000"/>
              </a:spcBef>
              <a:buSzPct val="125000"/>
              <a:buChar char="•"/>
              <a:defRPr sz="2400"/>
            </a:lvl2pPr>
            <a:lvl3pPr marL="1470526" indent="-352926" algn="l">
              <a:spcBef>
                <a:spcPts val="3000"/>
              </a:spcBef>
              <a:buSzPct val="125000"/>
              <a:buChar char="•"/>
              <a:defRPr sz="2400"/>
            </a:lvl3pPr>
            <a:lvl4pPr marL="2029324" indent="-352924" algn="l">
              <a:spcBef>
                <a:spcPts val="3000"/>
              </a:spcBef>
              <a:buSzPct val="125000"/>
              <a:buChar char="•"/>
              <a:defRPr sz="2400"/>
            </a:lvl4pPr>
            <a:lvl5pPr marL="2588124" indent="-352924" algn="l">
              <a:spcBef>
                <a:spcPts val="3000"/>
              </a:spcBef>
              <a:buSzPct val="125000"/>
              <a:buChar char="•"/>
              <a:defRPr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Body Level One…"/>
          <p:cNvSpPr txBox="1"/>
          <p:nvPr>
            <p:ph type="body" sz="half" idx="1"/>
          </p:nvPr>
        </p:nvSpPr>
        <p:spPr>
          <a:xfrm>
            <a:off x="3460043" y="2314219"/>
            <a:ext cx="9335914" cy="4515562"/>
          </a:xfrm>
          <a:prstGeom prst="rect">
            <a:avLst/>
          </a:prstGeom>
        </p:spPr>
        <p:txBody>
          <a:bodyPr anchor="ctr"/>
          <a:lstStyle>
            <a:lvl1pPr marL="423332" indent="-423332" algn="l">
              <a:spcBef>
                <a:spcPts val="3900"/>
              </a:spcBef>
              <a:buSzPct val="125000"/>
              <a:buChar char="•"/>
              <a:defRPr sz="3200"/>
            </a:lvl1pPr>
            <a:lvl2pPr marL="1058332" indent="-423332" algn="l">
              <a:spcBef>
                <a:spcPts val="3900"/>
              </a:spcBef>
              <a:buSzPct val="125000"/>
              <a:buChar char="•"/>
              <a:defRPr sz="3200"/>
            </a:lvl2pPr>
            <a:lvl3pPr marL="1693333" indent="-423332" algn="l">
              <a:spcBef>
                <a:spcPts val="3900"/>
              </a:spcBef>
              <a:buSzPct val="125000"/>
              <a:buChar char="•"/>
              <a:defRPr sz="3200"/>
            </a:lvl3pPr>
            <a:lvl4pPr marL="2328333" indent="-423333" algn="l">
              <a:spcBef>
                <a:spcPts val="3900"/>
              </a:spcBef>
              <a:buSzPct val="125000"/>
              <a:buChar char="•"/>
              <a:defRPr sz="3200"/>
            </a:lvl4pPr>
            <a:lvl5pPr marL="2963333" indent="-423333" algn="l">
              <a:spcBef>
                <a:spcPts val="3900"/>
              </a:spcBef>
              <a:buSzPct val="125000"/>
              <a:buChar char="•"/>
              <a:defRPr sz="3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andy path between two hills leading to the ocean"/>
          <p:cNvSpPr/>
          <p:nvPr>
            <p:ph type="pic" sz="quarter" idx="21"/>
          </p:nvPr>
        </p:nvSpPr>
        <p:spPr>
          <a:xfrm>
            <a:off x="9509476" y="4656666"/>
            <a:ext cx="3699938" cy="246662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02" name="Heron flying low over a beach with a short fence in the foreground"/>
          <p:cNvSpPr/>
          <p:nvPr>
            <p:ph type="pic" sz="quarter" idx="22"/>
          </p:nvPr>
        </p:nvSpPr>
        <p:spPr>
          <a:xfrm>
            <a:off x="9714086" y="1907819"/>
            <a:ext cx="3290716" cy="329071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03" name="View of beach and sea from a grassy sand dune"/>
          <p:cNvSpPr/>
          <p:nvPr>
            <p:ph type="pic" sz="half" idx="23"/>
          </p:nvPr>
        </p:nvSpPr>
        <p:spPr>
          <a:xfrm>
            <a:off x="2269064" y="2026354"/>
            <a:ext cx="7645404" cy="509693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0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Body Level One…"/>
          <p:cNvSpPr txBox="1"/>
          <p:nvPr>
            <p:ph type="body" sz="quarter" idx="1"/>
          </p:nvPr>
        </p:nvSpPr>
        <p:spPr>
          <a:xfrm>
            <a:off x="3770488" y="5503333"/>
            <a:ext cx="8720668" cy="342847"/>
          </a:xfrm>
          <a:prstGeom prst="rect">
            <a:avLst/>
          </a:prstGeom>
        </p:spPr>
        <p:txBody>
          <a:bodyPr/>
          <a:lstStyle>
            <a:lvl1pPr>
              <a:defRPr i="1" sz="2000"/>
            </a:lvl1pPr>
            <a:lvl2pPr>
              <a:defRPr i="1" sz="2000"/>
            </a:lvl2pPr>
            <a:lvl3pPr>
              <a:defRPr i="1" sz="2000"/>
            </a:lvl3pPr>
            <a:lvl4pPr>
              <a:defRPr i="1" sz="2000"/>
            </a:lvl4pPr>
            <a:lvl5pPr>
              <a:defRPr i="1" sz="20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2" name="“Type a quote here.”"/>
          <p:cNvSpPr txBox="1"/>
          <p:nvPr>
            <p:ph type="body" sz="quarter" idx="21"/>
          </p:nvPr>
        </p:nvSpPr>
        <p:spPr>
          <a:xfrm>
            <a:off x="3770488" y="4143976"/>
            <a:ext cx="8720668" cy="528671"/>
          </a:xfrm>
          <a:prstGeom prst="rect">
            <a:avLst/>
          </a:prstGeom>
        </p:spPr>
        <p:txBody>
          <a:bodyPr anchor="ctr"/>
          <a:lstStyle/>
          <a:p>
            <a:pPr/>
          </a:p>
        </p:txBody>
      </p:sp>
      <p:sp>
        <p:nvSpPr>
          <p:cNvPr id="1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View of beach and sea from a grassy sand dune"/>
          <p:cNvSpPr/>
          <p:nvPr>
            <p:ph type="pic" idx="21"/>
          </p:nvPr>
        </p:nvSpPr>
        <p:spPr>
          <a:xfrm>
            <a:off x="2686754" y="959554"/>
            <a:ext cx="10882494" cy="725499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3460043" y="1682044"/>
            <a:ext cx="9335914" cy="10160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9073444" y="3251200"/>
            <a:ext cx="6366934" cy="5892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7983271" y="7337776"/>
            <a:ext cx="283812" cy="267858"/>
          </a:xfrm>
          <a:prstGeom prst="rect">
            <a:avLst/>
          </a:prstGeom>
          <a:ln w="12700">
            <a:miter lim="400000"/>
          </a:ln>
        </p:spPr>
        <p:txBody>
          <a:bodyPr wrap="none" lIns="22576" tIns="22576" rIns="22576" bIns="22576">
            <a:spAutoFit/>
          </a:bodyPr>
          <a:lstStyle>
            <a:lvl1pPr algn="ctr">
              <a:spcBef>
                <a:spcPts val="0"/>
              </a:spcBef>
              <a:defRPr sz="16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transition xmlns:p14="http://schemas.microsoft.com/office/powerpoint/2010/main" spd="med" advClick="1"/>
  <p:txStyles>
    <p:titleStyle>
      <a:lvl1pPr marL="0" marR="0" indent="0" algn="ctr" defTabSz="5503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400" u="none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1pPr>
      <a:lvl2pPr marL="0" marR="0" indent="0" algn="ctr" defTabSz="5503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400" u="none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2pPr>
      <a:lvl3pPr marL="0" marR="0" indent="0" algn="ctr" defTabSz="5503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400" u="none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3pPr>
      <a:lvl4pPr marL="0" marR="0" indent="0" algn="ctr" defTabSz="5503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400" u="none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4pPr>
      <a:lvl5pPr marL="0" marR="0" indent="0" algn="ctr" defTabSz="5503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400" u="none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5pPr>
      <a:lvl6pPr marL="0" marR="0" indent="0" algn="ctr" defTabSz="5503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400" u="none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6pPr>
      <a:lvl7pPr marL="0" marR="0" indent="0" algn="ctr" defTabSz="5503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400" u="none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7pPr>
      <a:lvl8pPr marL="0" marR="0" indent="0" algn="ctr" defTabSz="5503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400" u="none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8pPr>
      <a:lvl9pPr marL="0" marR="0" indent="0" algn="ctr" defTabSz="5503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7400" u="none">
          <a:solidFill>
            <a:srgbClr val="000000"/>
          </a:solidFill>
          <a:uFillTx/>
          <a:latin typeface="Helvetica Neue Medium"/>
          <a:ea typeface="Helvetica Neue Medium"/>
          <a:cs typeface="Helvetica Neue Medium"/>
          <a:sym typeface="Helvetica Neue Medium"/>
        </a:defRPr>
      </a:lvl9pPr>
    </p:titleStyle>
    <p:bodyStyle>
      <a:lvl1pPr marL="0" marR="0" indent="0" algn="ctr" defTabSz="5503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1pPr>
      <a:lvl2pPr marL="0" marR="0" indent="0" algn="ctr" defTabSz="5503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2pPr>
      <a:lvl3pPr marL="0" marR="0" indent="0" algn="ctr" defTabSz="5503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3pPr>
      <a:lvl4pPr marL="0" marR="0" indent="0" algn="ctr" defTabSz="5503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4pPr>
      <a:lvl5pPr marL="0" marR="0" indent="0" algn="ctr" defTabSz="5503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5pPr>
      <a:lvl6pPr marL="0" marR="0" indent="0" algn="ctr" defTabSz="5503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6pPr>
      <a:lvl7pPr marL="0" marR="0" indent="0" algn="ctr" defTabSz="5503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7pPr>
      <a:lvl8pPr marL="0" marR="0" indent="0" algn="ctr" defTabSz="5503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8pPr>
      <a:lvl9pPr marL="0" marR="0" indent="0" algn="ctr" defTabSz="5503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3600" u="none">
          <a:solidFill>
            <a:srgbClr val="000000"/>
          </a:solidFill>
          <a:uFillTx/>
          <a:latin typeface="+mj-lt"/>
          <a:ea typeface="+mj-ea"/>
          <a:cs typeface="+mj-cs"/>
          <a:sym typeface="Helvetica Neue"/>
        </a:defRPr>
      </a:lvl9pPr>
    </p:bodyStyle>
    <p:otherStyle>
      <a:lvl1pPr marL="0" marR="0" indent="0" algn="ctr" defTabSz="5503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1pPr>
      <a:lvl2pPr marL="0" marR="0" indent="0" algn="ctr" defTabSz="5503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2pPr>
      <a:lvl3pPr marL="0" marR="0" indent="0" algn="ctr" defTabSz="5503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3pPr>
      <a:lvl4pPr marL="0" marR="0" indent="0" algn="ctr" defTabSz="5503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4pPr>
      <a:lvl5pPr marL="0" marR="0" indent="0" algn="ctr" defTabSz="5503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5pPr>
      <a:lvl6pPr marL="0" marR="0" indent="0" algn="ctr" defTabSz="5503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6pPr>
      <a:lvl7pPr marL="0" marR="0" indent="0" algn="ctr" defTabSz="5503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7pPr>
      <a:lvl8pPr marL="0" marR="0" indent="0" algn="ctr" defTabSz="5503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8pPr>
      <a:lvl9pPr marL="0" marR="0" indent="0" algn="ctr" defTabSz="5503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600" u="none">
          <a:solidFill>
            <a:schemeClr val="tx1"/>
          </a:solidFill>
          <a:uFillTx/>
          <a:latin typeface="+mn-lt"/>
          <a:ea typeface="+mn-ea"/>
          <a:cs typeface="+mn-cs"/>
          <a:sym typeface="Helvetica Neue Light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0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ROJECT STATUS  /  TEAM 2"/>
          <p:cNvSpPr txBox="1"/>
          <p:nvPr/>
        </p:nvSpPr>
        <p:spPr>
          <a:xfrm>
            <a:off x="914400" y="606072"/>
            <a:ext cx="6350000" cy="286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400">
                <a:solidFill>
                  <a:srgbClr val="1973B7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INTRODUCTION  /  TEAM 2</a:t>
            </a:r>
          </a:p>
        </p:txBody>
      </p:sp>
      <p:sp>
        <p:nvSpPr>
          <p:cNvPr id="138" name="Historical Stock Analysis"/>
          <p:cNvSpPr txBox="1"/>
          <p:nvPr/>
        </p:nvSpPr>
        <p:spPr>
          <a:xfrm>
            <a:off x="914400" y="1501422"/>
            <a:ext cx="12065000" cy="98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5400">
                <a:solidFill>
                  <a:srgbClr val="182E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Historical Stock Analysis</a:t>
            </a:r>
          </a:p>
        </p:txBody>
      </p:sp>
      <p:sp>
        <p:nvSpPr>
          <p:cNvPr id="139" name="Does diversification survive a closer look?"/>
          <p:cNvSpPr txBox="1"/>
          <p:nvPr/>
        </p:nvSpPr>
        <p:spPr>
          <a:xfrm>
            <a:off x="914397" y="2688869"/>
            <a:ext cx="11684007" cy="5658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3000">
                <a:solidFill>
                  <a:srgbClr val="58657C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Does diversification survive a closer look?</a:t>
            </a:r>
          </a:p>
        </p:txBody>
      </p:sp>
      <p:sp>
        <p:nvSpPr>
          <p:cNvPr id="140" name="230,111"/>
          <p:cNvSpPr txBox="1"/>
          <p:nvPr/>
        </p:nvSpPr>
        <p:spPr>
          <a:xfrm>
            <a:off x="914397" y="4358921"/>
            <a:ext cx="3302006" cy="883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4800">
                <a:solidFill>
                  <a:srgbClr val="1973B7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230,111</a:t>
            </a:r>
          </a:p>
        </p:txBody>
      </p:sp>
      <p:sp>
        <p:nvSpPr>
          <p:cNvPr id="141" name="ticker-days"/>
          <p:cNvSpPr txBox="1"/>
          <p:nvPr/>
        </p:nvSpPr>
        <p:spPr>
          <a:xfrm>
            <a:off x="965200" y="5190771"/>
            <a:ext cx="2794000" cy="337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700">
                <a:solidFill>
                  <a:srgbClr val="58657C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ticker-days</a:t>
            </a:r>
          </a:p>
        </p:txBody>
      </p:sp>
      <p:sp>
        <p:nvSpPr>
          <p:cNvPr id="142" name="49"/>
          <p:cNvSpPr txBox="1"/>
          <p:nvPr/>
        </p:nvSpPr>
        <p:spPr>
          <a:xfrm>
            <a:off x="4775200" y="4358921"/>
            <a:ext cx="1524000" cy="883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4800">
                <a:solidFill>
                  <a:srgbClr val="D06F2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49</a:t>
            </a:r>
          </a:p>
        </p:txBody>
      </p:sp>
      <p:sp>
        <p:nvSpPr>
          <p:cNvPr id="143" name="global tickers"/>
          <p:cNvSpPr txBox="1"/>
          <p:nvPr/>
        </p:nvSpPr>
        <p:spPr>
          <a:xfrm>
            <a:off x="4826000" y="5190771"/>
            <a:ext cx="2794000" cy="337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700">
                <a:solidFill>
                  <a:srgbClr val="58657C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global tickers</a:t>
            </a:r>
          </a:p>
        </p:txBody>
      </p:sp>
      <p:sp>
        <p:nvSpPr>
          <p:cNvPr id="144" name="20 years"/>
          <p:cNvSpPr txBox="1"/>
          <p:nvPr/>
        </p:nvSpPr>
        <p:spPr>
          <a:xfrm>
            <a:off x="8712200" y="4358921"/>
            <a:ext cx="2794000" cy="883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4800">
                <a:solidFill>
                  <a:srgbClr val="0B856E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20 years</a:t>
            </a:r>
          </a:p>
        </p:txBody>
      </p:sp>
      <p:sp>
        <p:nvSpPr>
          <p:cNvPr id="145" name="2006–2026"/>
          <p:cNvSpPr txBox="1"/>
          <p:nvPr/>
        </p:nvSpPr>
        <p:spPr>
          <a:xfrm>
            <a:off x="8762999" y="5190771"/>
            <a:ext cx="2794004" cy="337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700">
                <a:solidFill>
                  <a:srgbClr val="58657C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2006–2026</a:t>
            </a:r>
          </a:p>
        </p:txBody>
      </p:sp>
      <p:sp>
        <p:nvSpPr>
          <p:cNvPr id="146" name="Karthikeyan M  ·  Mirthula M  ·  Lakshmi Mayuri Kavya N"/>
          <p:cNvSpPr txBox="1"/>
          <p:nvPr/>
        </p:nvSpPr>
        <p:spPr>
          <a:xfrm>
            <a:off x="914400" y="7330722"/>
            <a:ext cx="11811000" cy="388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2000">
                <a:solidFill>
                  <a:srgbClr val="182E48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Karthikeyan M  ·  Mirthula M  ·  Lakshmi Mayuri Kavya N</a:t>
            </a:r>
          </a:p>
        </p:txBody>
      </p:sp>
      <p:sp>
        <p:nvSpPr>
          <p:cNvPr id="147" name="●"/>
          <p:cNvSpPr txBox="1"/>
          <p:nvPr/>
        </p:nvSpPr>
        <p:spPr>
          <a:xfrm>
            <a:off x="14478000" y="1501422"/>
            <a:ext cx="508000" cy="629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3800">
                <a:solidFill>
                  <a:srgbClr val="1973B7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●</a:t>
            </a:r>
          </a:p>
        </p:txBody>
      </p:sp>
      <p:sp>
        <p:nvSpPr>
          <p:cNvPr id="148" name="●"/>
          <p:cNvSpPr txBox="1"/>
          <p:nvPr/>
        </p:nvSpPr>
        <p:spPr>
          <a:xfrm>
            <a:off x="14909800" y="2009419"/>
            <a:ext cx="508000" cy="629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3800">
                <a:solidFill>
                  <a:srgbClr val="D06F2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●</a:t>
            </a:r>
          </a:p>
        </p:txBody>
      </p:sp>
      <p:sp>
        <p:nvSpPr>
          <p:cNvPr id="149" name="●"/>
          <p:cNvSpPr txBox="1"/>
          <p:nvPr/>
        </p:nvSpPr>
        <p:spPr>
          <a:xfrm>
            <a:off x="14325598" y="2542819"/>
            <a:ext cx="508004" cy="629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3800">
                <a:solidFill>
                  <a:srgbClr val="0B856E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●</a:t>
            </a:r>
          </a:p>
        </p:txBody>
      </p:sp>
      <p:sp>
        <p:nvSpPr>
          <p:cNvPr id="150" name="HISTORICAL STOCK ANALYSIS  /  OPENING"/>
          <p:cNvSpPr txBox="1"/>
          <p:nvPr/>
        </p:nvSpPr>
        <p:spPr>
          <a:xfrm>
            <a:off x="914400" y="8664222"/>
            <a:ext cx="8255000" cy="222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000">
                <a:solidFill>
                  <a:srgbClr val="ACC6E4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HISTORICAL STOCK ANALYSIS  /  INTRODUCTION</a:t>
            </a:r>
          </a:p>
        </p:txBody>
      </p:sp>
      <p:sp>
        <p:nvSpPr>
          <p:cNvPr id="151" name="1"/>
          <p:cNvSpPr txBox="1"/>
          <p:nvPr/>
        </p:nvSpPr>
        <p:spPr>
          <a:xfrm>
            <a:off x="14986000" y="8664222"/>
            <a:ext cx="355600" cy="222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000">
                <a:solidFill>
                  <a:srgbClr val="ACC6E4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1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●  DATA"/>
          <p:cNvSpPr txBox="1"/>
          <p:nvPr/>
        </p:nvSpPr>
        <p:spPr>
          <a:xfrm>
            <a:off x="914400" y="447322"/>
            <a:ext cx="6350000" cy="273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300">
                <a:solidFill>
                  <a:srgbClr val="1973B7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●  INTRODUCTION</a:t>
            </a:r>
          </a:p>
        </p:txBody>
      </p:sp>
      <p:sp>
        <p:nvSpPr>
          <p:cNvPr id="156" name="2"/>
          <p:cNvSpPr txBox="1"/>
          <p:nvPr/>
        </p:nvSpPr>
        <p:spPr>
          <a:xfrm>
            <a:off x="14351000" y="339370"/>
            <a:ext cx="990600" cy="5658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3000">
                <a:solidFill>
                  <a:srgbClr val="ACC6E4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57" name="Each row is one company on one trading day"/>
          <p:cNvSpPr txBox="1"/>
          <p:nvPr/>
        </p:nvSpPr>
        <p:spPr>
          <a:xfrm>
            <a:off x="914400" y="948972"/>
            <a:ext cx="14427200" cy="667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3600">
                <a:solidFill>
                  <a:srgbClr val="182E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Each row is one company on one trading day</a:t>
            </a:r>
          </a:p>
        </p:txBody>
      </p:sp>
      <p:sp>
        <p:nvSpPr>
          <p:cNvPr id="158" name="The file combines price, return-ready closing values, and trading activity."/>
          <p:cNvSpPr txBox="1"/>
          <p:nvPr/>
        </p:nvSpPr>
        <p:spPr>
          <a:xfrm>
            <a:off x="914400" y="1749069"/>
            <a:ext cx="14427200" cy="375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900">
                <a:solidFill>
                  <a:srgbClr val="58657C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The file combines price, return-ready closing values, and trading activity.</a:t>
            </a:r>
          </a:p>
        </p:txBody>
      </p:sp>
      <p:sp>
        <p:nvSpPr>
          <p:cNvPr id="159" name="HISTORICAL STOCK ANALYSIS  /  DATA"/>
          <p:cNvSpPr txBox="1"/>
          <p:nvPr/>
        </p:nvSpPr>
        <p:spPr>
          <a:xfrm>
            <a:off x="914400" y="8664222"/>
            <a:ext cx="8255000" cy="222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000">
                <a:solidFill>
                  <a:srgbClr val="ACC6E4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HISTORICAL STOCK ANALYSIS  /  INTRODUCTION</a:t>
            </a:r>
          </a:p>
        </p:txBody>
      </p:sp>
      <p:sp>
        <p:nvSpPr>
          <p:cNvPr id="160" name="2"/>
          <p:cNvSpPr txBox="1"/>
          <p:nvPr/>
        </p:nvSpPr>
        <p:spPr>
          <a:xfrm>
            <a:off x="14986000" y="8664222"/>
            <a:ext cx="355600" cy="222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000">
                <a:solidFill>
                  <a:srgbClr val="ACC6E4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161" name="230,111 rows"/>
          <p:cNvSpPr txBox="1"/>
          <p:nvPr/>
        </p:nvSpPr>
        <p:spPr>
          <a:xfrm>
            <a:off x="914400" y="2320569"/>
            <a:ext cx="3048000" cy="515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2700">
                <a:solidFill>
                  <a:srgbClr val="1973B7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230,111 rows</a:t>
            </a:r>
          </a:p>
        </p:txBody>
      </p:sp>
      <p:sp>
        <p:nvSpPr>
          <p:cNvPr id="162" name="8 columns"/>
          <p:cNvSpPr txBox="1"/>
          <p:nvPr/>
        </p:nvSpPr>
        <p:spPr>
          <a:xfrm>
            <a:off x="4445000" y="2320569"/>
            <a:ext cx="2286000" cy="515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2700">
                <a:solidFill>
                  <a:srgbClr val="D06F2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8 columns</a:t>
            </a:r>
          </a:p>
        </p:txBody>
      </p:sp>
      <p:sp>
        <p:nvSpPr>
          <p:cNvPr id="163" name="0 missing values"/>
          <p:cNvSpPr txBox="1"/>
          <p:nvPr/>
        </p:nvSpPr>
        <p:spPr>
          <a:xfrm>
            <a:off x="7239000" y="2320569"/>
            <a:ext cx="3048000" cy="515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2700">
                <a:solidFill>
                  <a:srgbClr val="0B856E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0 missing values</a:t>
            </a:r>
          </a:p>
        </p:txBody>
      </p:sp>
      <p:sp>
        <p:nvSpPr>
          <p:cNvPr id="164" name="2006-01-02 → 2026-02-20"/>
          <p:cNvSpPr txBox="1"/>
          <p:nvPr/>
        </p:nvSpPr>
        <p:spPr>
          <a:xfrm>
            <a:off x="10795000" y="2403119"/>
            <a:ext cx="4445000" cy="375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900">
                <a:solidFill>
                  <a:srgbClr val="58657C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2006-01-02 → 2026-02-20</a:t>
            </a:r>
          </a:p>
        </p:txBody>
      </p:sp>
      <p:graphicFrame>
        <p:nvGraphicFramePr>
          <p:cNvPr id="165" name="Table 1"/>
          <p:cNvGraphicFramePr/>
          <p:nvPr/>
        </p:nvGraphicFramePr>
        <p:xfrm>
          <a:off x="914400" y="3149600"/>
          <a:ext cx="14427200" cy="4013200"/>
        </p:xfrm>
        <a:graphic xmlns:a="http://schemas.openxmlformats.org/drawingml/2006/main">
          <a:graphicData uri="http://schemas.openxmlformats.org/drawingml/2006/table">
            <a:tbl>
              <a:tblPr firstCol="0" firstRow="1" lastCol="0" lastRow="0" bandCol="0" bandRow="1" rtl="0">
                <a:tableStyleId>{4C3C2611-4C71-4FC5-86AE-919BDF0F9419}</a:tableStyleId>
              </a:tblPr>
              <a:tblGrid>
                <a:gridCol w="3048000"/>
                <a:gridCol w="2667000"/>
                <a:gridCol w="2667000"/>
                <a:gridCol w="2997200"/>
                <a:gridCol w="3048000"/>
              </a:tblGrid>
              <a:tr h="1003300"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182E48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Date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182E48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Ticker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182E48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Open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182E48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Adj Close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b="0" sz="1800">
                          <a:solidFill>
                            <a:srgbClr val="000000"/>
                          </a:solidFill>
                        </a:defRPr>
                      </a:pPr>
                      <a:r>
                        <a:rPr sz="1600">
                          <a:solidFill>
                            <a:srgbClr val="182E48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Volume</a:t>
                      </a:r>
                    </a:p>
                  </a:txBody>
                  <a:tcPr marL="50800" marR="50800" marT="50800" marB="50800" anchor="ctr" anchorCtr="0" horzOverflow="overflow">
                    <a:solidFill>
                      <a:srgbClr val="FFFFFF"/>
                    </a:solidFill>
                  </a:tcPr>
                </a:tc>
              </a:tr>
              <a:tr h="1003300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600">
                          <a:solidFill>
                            <a:srgbClr val="182E48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2026-02-20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600">
                          <a:solidFill>
                            <a:srgbClr val="182E48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AAPL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600">
                          <a:solidFill>
                            <a:srgbClr val="182E48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258.97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600">
                          <a:solidFill>
                            <a:srgbClr val="182E48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264.58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600">
                          <a:solidFill>
                            <a:srgbClr val="182E48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4,20,44,900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003300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600">
                          <a:solidFill>
                            <a:srgbClr val="182E48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2026-02-20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600">
                          <a:solidFill>
                            <a:srgbClr val="182E48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005930.KS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600">
                          <a:solidFill>
                            <a:srgbClr val="182E48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1,90,000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600">
                          <a:solidFill>
                            <a:srgbClr val="182E48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1,90,100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600">
                          <a:solidFill>
                            <a:srgbClr val="182E48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2,42,13,880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  <a:tr h="1003300"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600">
                          <a:solidFill>
                            <a:srgbClr val="182E48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2026-02-20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600">
                          <a:solidFill>
                            <a:srgbClr val="182E48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MC.PA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600">
                          <a:solidFill>
                            <a:srgbClr val="182E48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541.40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600">
                          <a:solidFill>
                            <a:srgbClr val="182E48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554.70</a:t>
                      </a:r>
                    </a:p>
                  </a:txBody>
                  <a:tcPr marL="50800" marR="50800" marT="50800" marB="50800" anchor="ctr" anchorCtr="0" horzOverflow="overflow"/>
                </a:tc>
                <a:tc>
                  <a:txBody>
                    <a:bodyPr/>
                    <a:lstStyle/>
                    <a:p>
                      <a:pPr defTabSz="914400">
                        <a:defRPr sz="1800"/>
                      </a:pPr>
                      <a:r>
                        <a:rPr sz="1600">
                          <a:solidFill>
                            <a:srgbClr val="182E48"/>
                          </a:solidFill>
                          <a:latin typeface="Avenir Next Regular"/>
                          <a:ea typeface="Avenir Next Regular"/>
                          <a:cs typeface="Avenir Next Regular"/>
                          <a:sym typeface="Avenir Next Regular"/>
                        </a:rPr>
                        <a:t>9,29,807</a:t>
                      </a:r>
                    </a:p>
                  </a:txBody>
                  <a:tcPr marL="50800" marR="50800" marT="50800" marB="50800" anchor="ctr" anchorCtr="0" horzOverflow="overflow"/>
                </a:tc>
              </a:tr>
            </a:tbl>
          </a:graphicData>
        </a:graphic>
      </p:graphicFrame>
      <p:sp>
        <p:nvSpPr>
          <p:cNvPr id="166" name="Same columns, different exchanges and currencies—so the analysis cannot compare raw prices directly."/>
          <p:cNvSpPr txBox="1"/>
          <p:nvPr/>
        </p:nvSpPr>
        <p:spPr>
          <a:xfrm>
            <a:off x="914400" y="7495822"/>
            <a:ext cx="14224000" cy="413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2100">
                <a:solidFill>
                  <a:srgbClr val="D06F21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Same columns, different exchanges and currencies—so the analysis cannot compare raw prices directly.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●  DATA"/>
          <p:cNvSpPr txBox="1"/>
          <p:nvPr/>
        </p:nvSpPr>
        <p:spPr>
          <a:xfrm>
            <a:off x="914400" y="447322"/>
            <a:ext cx="6350000" cy="273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300">
                <a:solidFill>
                  <a:srgbClr val="1973B7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●  INTRODUCTION</a:t>
            </a:r>
          </a:p>
        </p:txBody>
      </p:sp>
      <p:sp>
        <p:nvSpPr>
          <p:cNvPr id="171" name="4"/>
          <p:cNvSpPr txBox="1"/>
          <p:nvPr/>
        </p:nvSpPr>
        <p:spPr>
          <a:xfrm>
            <a:off x="14351000" y="339370"/>
            <a:ext cx="990600" cy="5658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3000">
                <a:solidFill>
                  <a:srgbClr val="ACC6E4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172" name="The file is complete, but the coverage is not balanced"/>
          <p:cNvSpPr txBox="1"/>
          <p:nvPr/>
        </p:nvSpPr>
        <p:spPr>
          <a:xfrm>
            <a:off x="914400" y="948969"/>
            <a:ext cx="14427200" cy="667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3600">
                <a:solidFill>
                  <a:srgbClr val="1F3D5A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The dataset is complete; our workflow makes it comparable</a:t>
            </a:r>
          </a:p>
        </p:txBody>
      </p:sp>
      <p:sp>
        <p:nvSpPr>
          <p:cNvPr id="173" name="Data quality is more than missing values: currencies, calendars, listing dates, and representation all matter."/>
          <p:cNvSpPr txBox="1"/>
          <p:nvPr/>
        </p:nvSpPr>
        <p:spPr>
          <a:xfrm>
            <a:off x="914400" y="1749069"/>
            <a:ext cx="14427200" cy="375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900">
                <a:solidFill>
                  <a:srgbClr val="58657C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Coverage is uneven, so we clean, normalize, test, and communicate the limits.</a:t>
            </a:r>
          </a:p>
        </p:txBody>
      </p:sp>
      <p:sp>
        <p:nvSpPr>
          <p:cNvPr id="174" name="HISTORICAL STOCK ANALYSIS  /  DATA"/>
          <p:cNvSpPr txBox="1"/>
          <p:nvPr/>
        </p:nvSpPr>
        <p:spPr>
          <a:xfrm>
            <a:off x="914400" y="8664222"/>
            <a:ext cx="8255000" cy="222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000">
                <a:solidFill>
                  <a:srgbClr val="ACC6E4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HISTORICAL STOCK ANALYSIS  /  INTRODUCTION</a:t>
            </a:r>
          </a:p>
        </p:txBody>
      </p:sp>
      <p:sp>
        <p:nvSpPr>
          <p:cNvPr id="175" name="4"/>
          <p:cNvSpPr txBox="1"/>
          <p:nvPr/>
        </p:nvSpPr>
        <p:spPr>
          <a:xfrm>
            <a:off x="14986000" y="8664222"/>
            <a:ext cx="355600" cy="222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000">
                <a:solidFill>
                  <a:srgbClr val="ACC6E4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3</a:t>
            </a:r>
          </a:p>
        </p:txBody>
      </p:sp>
      <p:pic>
        <p:nvPicPr>
          <p:cNvPr id="176" name="fig2_market_counts.png" descr="fig2_market_counts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14400" y="2616200"/>
            <a:ext cx="7437120" cy="4648200"/>
          </a:xfrm>
          <a:prstGeom prst="rect">
            <a:avLst/>
          </a:prstGeom>
          <a:ln w="12700">
            <a:miter lim="400000"/>
          </a:ln>
        </p:spPr>
      </p:pic>
      <p:sp>
        <p:nvSpPr>
          <p:cNvPr id="177" name="0"/>
          <p:cNvSpPr txBox="1"/>
          <p:nvPr/>
        </p:nvSpPr>
        <p:spPr>
          <a:xfrm>
            <a:off x="9652000" y="2580919"/>
            <a:ext cx="1143000" cy="769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4200">
                <a:solidFill>
                  <a:srgbClr val="0B856E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178" name="missing fields"/>
          <p:cNvSpPr txBox="1"/>
          <p:nvPr/>
        </p:nvSpPr>
        <p:spPr>
          <a:xfrm>
            <a:off x="10795000" y="2809519"/>
            <a:ext cx="3302000" cy="388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2000">
                <a:solidFill>
                  <a:srgbClr val="58657C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Clean</a:t>
            </a:r>
          </a:p>
        </p:txBody>
      </p:sp>
      <p:sp>
        <p:nvSpPr>
          <p:cNvPr id="179" name="0"/>
          <p:cNvSpPr txBox="1"/>
          <p:nvPr/>
        </p:nvSpPr>
        <p:spPr>
          <a:xfrm>
            <a:off x="9652000" y="3495321"/>
            <a:ext cx="1143000" cy="769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4200">
                <a:solidFill>
                  <a:srgbClr val="0B856E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180" name="duplicate Date–Ticker pairs"/>
          <p:cNvSpPr txBox="1"/>
          <p:nvPr/>
        </p:nvSpPr>
        <p:spPr>
          <a:xfrm>
            <a:off x="10795000" y="3723921"/>
            <a:ext cx="3937000" cy="388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2000">
                <a:solidFill>
                  <a:srgbClr val="58657C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Transform</a:t>
            </a:r>
          </a:p>
        </p:txBody>
      </p:sp>
      <p:sp>
        <p:nvSpPr>
          <p:cNvPr id="181" name="1,706"/>
          <p:cNvSpPr txBox="1"/>
          <p:nvPr/>
        </p:nvSpPr>
        <p:spPr>
          <a:xfrm>
            <a:off x="9652000" y="4409721"/>
            <a:ext cx="1841500" cy="769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4200">
                <a:solidFill>
                  <a:srgbClr val="D06F2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182" name="zero-volume rows"/>
          <p:cNvSpPr txBox="1"/>
          <p:nvPr/>
        </p:nvSpPr>
        <p:spPr>
          <a:xfrm>
            <a:off x="11684000" y="4638321"/>
            <a:ext cx="3111500" cy="388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2000">
                <a:solidFill>
                  <a:srgbClr val="58657C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Test &amp; communicate</a:t>
            </a:r>
          </a:p>
        </p:txBody>
      </p:sp>
      <p:sp>
        <p:nvSpPr>
          <p:cNvPr id="183" name="US rows dominate; Paris and Saudi Arabia each represent one company."/>
          <p:cNvSpPr txBox="1"/>
          <p:nvPr/>
        </p:nvSpPr>
        <p:spPr>
          <a:xfrm>
            <a:off x="9652000" y="5692421"/>
            <a:ext cx="5334000" cy="730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2000">
                <a:solidFill>
                  <a:srgbClr val="182E48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Python: EDA, visualization, and hypothesis tests</a:t>
            </a:r>
          </a:p>
        </p:txBody>
      </p:sp>
      <p:sp>
        <p:nvSpPr>
          <p:cNvPr id="184" name="Decision: compare returns or index every series to 100 on a shared valid date."/>
          <p:cNvSpPr txBox="1"/>
          <p:nvPr/>
        </p:nvSpPr>
        <p:spPr>
          <a:xfrm>
            <a:off x="9652000" y="6721122"/>
            <a:ext cx="5334000" cy="730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2000">
                <a:solidFill>
                  <a:srgbClr val="1973B7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R: replication, reshaping, and monthly summaries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●  APPENDIX"/>
          <p:cNvSpPr txBox="1"/>
          <p:nvPr/>
        </p:nvSpPr>
        <p:spPr>
          <a:xfrm>
            <a:off x="914400" y="447322"/>
            <a:ext cx="6350000" cy="273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300">
                <a:solidFill>
                  <a:srgbClr val="1973B7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●  HYPOTHESIS SETUP</a:t>
            </a:r>
          </a:p>
        </p:txBody>
      </p:sp>
      <p:sp>
        <p:nvSpPr>
          <p:cNvPr id="189" name="14"/>
          <p:cNvSpPr txBox="1"/>
          <p:nvPr/>
        </p:nvSpPr>
        <p:spPr>
          <a:xfrm>
            <a:off x="14351000" y="339370"/>
            <a:ext cx="990600" cy="5658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3000">
                <a:solidFill>
                  <a:srgbClr val="ACC6E4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90" name="Definitions behind the headline results"/>
          <p:cNvSpPr txBox="1"/>
          <p:nvPr/>
        </p:nvSpPr>
        <p:spPr>
          <a:xfrm>
            <a:off x="914400" y="948969"/>
            <a:ext cx="14427200" cy="667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3600">
                <a:solidFill>
                  <a:srgbClr val="1F3D5A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Three hypotheses compare two groups across four periods</a:t>
            </a:r>
          </a:p>
        </p:txBody>
      </p:sp>
      <p:sp>
        <p:nvSpPr>
          <p:cNvPr id="191" name="These choices keep each claim reproducible and appropriately narrow."/>
          <p:cNvSpPr txBox="1"/>
          <p:nvPr/>
        </p:nvSpPr>
        <p:spPr>
          <a:xfrm>
            <a:off x="914400" y="1749069"/>
            <a:ext cx="14427200" cy="375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900">
                <a:solidFill>
                  <a:srgbClr val="58657C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H1 technology concentration  ·  H2 regional correlation  ·  H3 panic volatility and volume</a:t>
            </a:r>
          </a:p>
        </p:txBody>
      </p:sp>
      <p:sp>
        <p:nvSpPr>
          <p:cNvPr id="192" name="HISTORICAL STOCK ANALYSIS  /  APPENDIX"/>
          <p:cNvSpPr txBox="1"/>
          <p:nvPr/>
        </p:nvSpPr>
        <p:spPr>
          <a:xfrm>
            <a:off x="914400" y="8664222"/>
            <a:ext cx="8255000" cy="222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000">
                <a:solidFill>
                  <a:srgbClr val="9FAAB9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HISTORICAL STOCK ANALYSIS  /  HYPOTHESIS SETUP</a:t>
            </a:r>
          </a:p>
        </p:txBody>
      </p:sp>
      <p:sp>
        <p:nvSpPr>
          <p:cNvPr id="193" name="14"/>
          <p:cNvSpPr txBox="1"/>
          <p:nvPr/>
        </p:nvSpPr>
        <p:spPr>
          <a:xfrm>
            <a:off x="14986000" y="8664222"/>
            <a:ext cx="355600" cy="222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000">
                <a:solidFill>
                  <a:srgbClr val="ACC6E4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194" name="H1 GROUPS"/>
          <p:cNvSpPr txBox="1"/>
          <p:nvPr/>
        </p:nvSpPr>
        <p:spPr>
          <a:xfrm>
            <a:off x="914398" y="2593620"/>
            <a:ext cx="3302005" cy="299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500">
                <a:solidFill>
                  <a:srgbClr val="1973B7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TECHNOLOGY GROUPS</a:t>
            </a:r>
          </a:p>
        </p:txBody>
      </p:sp>
      <p:sp>
        <p:nvSpPr>
          <p:cNvPr id="195" name="Chip / AI"/>
          <p:cNvSpPr txBox="1"/>
          <p:nvPr/>
        </p:nvSpPr>
        <p:spPr>
          <a:xfrm>
            <a:off x="914400" y="3095269"/>
            <a:ext cx="2667000" cy="4388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2300">
                <a:solidFill>
                  <a:srgbClr val="182E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Chip / AI</a:t>
            </a:r>
          </a:p>
        </p:txBody>
      </p:sp>
      <p:sp>
        <p:nvSpPr>
          <p:cNvPr id="196" name="NVDA · AVGO · TSM · ASML · AMD · MU · LRCX"/>
          <p:cNvSpPr txBox="1"/>
          <p:nvPr/>
        </p:nvSpPr>
        <p:spPr>
          <a:xfrm>
            <a:off x="914400" y="3781071"/>
            <a:ext cx="6350000" cy="362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800">
                <a:solidFill>
                  <a:srgbClr val="58657C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NVDA · AVGO · TSM · ASML · AMD · MU · LRCX</a:t>
            </a:r>
          </a:p>
        </p:txBody>
      </p:sp>
      <p:sp>
        <p:nvSpPr>
          <p:cNvPr id="197" name="Broader tech"/>
          <p:cNvSpPr txBox="1"/>
          <p:nvPr/>
        </p:nvSpPr>
        <p:spPr>
          <a:xfrm>
            <a:off x="914400" y="4695471"/>
            <a:ext cx="2667000" cy="4388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2300">
                <a:solidFill>
                  <a:srgbClr val="182E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Broader tech</a:t>
            </a:r>
          </a:p>
        </p:txBody>
      </p:sp>
      <p:sp>
        <p:nvSpPr>
          <p:cNvPr id="198" name="AAPL · MSFT · GOOGL · AMZN · META · NFLX · ORCL · CSCO"/>
          <p:cNvSpPr txBox="1"/>
          <p:nvPr/>
        </p:nvSpPr>
        <p:spPr>
          <a:xfrm>
            <a:off x="914400" y="5393971"/>
            <a:ext cx="6604001" cy="362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800">
                <a:solidFill>
                  <a:srgbClr val="58657C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AAPL · MSFT · GOOGL · AMZN · META · NFLX · ORCL · CSCO</a:t>
            </a:r>
          </a:p>
        </p:txBody>
      </p:sp>
      <p:sp>
        <p:nvSpPr>
          <p:cNvPr id="199" name="Indexed value = 100 × Adj Close / Adj Close on shared start date"/>
          <p:cNvSpPr txBox="1"/>
          <p:nvPr/>
        </p:nvSpPr>
        <p:spPr>
          <a:xfrm>
            <a:off x="914400" y="6676672"/>
            <a:ext cx="6604001" cy="362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800">
                <a:solidFill>
                  <a:srgbClr val="1973B7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Indexed value = 100 × Adj Close / starting Adj Close</a:t>
            </a:r>
          </a:p>
        </p:txBody>
      </p:sp>
      <p:sp>
        <p:nvSpPr>
          <p:cNvPr id="200" name="H2 PERIODS"/>
          <p:cNvSpPr txBox="1"/>
          <p:nvPr/>
        </p:nvSpPr>
        <p:spPr>
          <a:xfrm>
            <a:off x="8407400" y="2593620"/>
            <a:ext cx="3048000" cy="299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500">
                <a:solidFill>
                  <a:srgbClr val="D06F2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MARKET PERIODS</a:t>
            </a:r>
          </a:p>
        </p:txBody>
      </p:sp>
      <p:sp>
        <p:nvSpPr>
          <p:cNvPr id="201" name="Calm"/>
          <p:cNvSpPr txBox="1"/>
          <p:nvPr/>
        </p:nvSpPr>
        <p:spPr>
          <a:xfrm>
            <a:off x="8407399" y="2987320"/>
            <a:ext cx="3302003" cy="426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2200">
                <a:solidFill>
                  <a:srgbClr val="1F3D5A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Calm</a:t>
            </a:r>
          </a:p>
        </p:txBody>
      </p:sp>
      <p:sp>
        <p:nvSpPr>
          <p:cNvPr id="202" name="2015–2017"/>
          <p:cNvSpPr txBox="1"/>
          <p:nvPr/>
        </p:nvSpPr>
        <p:spPr>
          <a:xfrm>
            <a:off x="8407400" y="3800123"/>
            <a:ext cx="6350000" cy="324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600">
                <a:solidFill>
                  <a:srgbClr val="58657C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2015–2017 · comparison baseline without a major global shock</a:t>
            </a:r>
          </a:p>
        </p:txBody>
      </p:sp>
      <p:sp>
        <p:nvSpPr>
          <p:cNvPr id="203" name="2008 crisis"/>
          <p:cNvSpPr txBox="1"/>
          <p:nvPr/>
        </p:nvSpPr>
        <p:spPr>
          <a:xfrm>
            <a:off x="8407400" y="4003321"/>
            <a:ext cx="3302002" cy="426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2200">
                <a:solidFill>
                  <a:srgbClr val="1F3D5A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2008 crisis</a:t>
            </a:r>
          </a:p>
        </p:txBody>
      </p:sp>
      <p:sp>
        <p:nvSpPr>
          <p:cNvPr id="204" name="calendar year 2008"/>
          <p:cNvSpPr txBox="1"/>
          <p:nvPr/>
        </p:nvSpPr>
        <p:spPr>
          <a:xfrm>
            <a:off x="8407400" y="4816123"/>
            <a:ext cx="6350000" cy="324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600">
                <a:solidFill>
                  <a:srgbClr val="58657C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Global financial crisis after a housing and banking collapse</a:t>
            </a:r>
          </a:p>
        </p:txBody>
      </p:sp>
      <p:sp>
        <p:nvSpPr>
          <p:cNvPr id="205" name="2020 crash"/>
          <p:cNvSpPr txBox="1"/>
          <p:nvPr/>
        </p:nvSpPr>
        <p:spPr>
          <a:xfrm>
            <a:off x="8407400" y="5019321"/>
            <a:ext cx="3302002" cy="426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2200">
                <a:solidFill>
                  <a:srgbClr val="1F3D5A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2020 crash</a:t>
            </a:r>
          </a:p>
        </p:txBody>
      </p:sp>
      <p:sp>
        <p:nvSpPr>
          <p:cNvPr id="206" name="February–April 2020"/>
          <p:cNvSpPr txBox="1"/>
          <p:nvPr/>
        </p:nvSpPr>
        <p:spPr>
          <a:xfrm>
            <a:off x="8407400" y="5673373"/>
            <a:ext cx="6350000" cy="324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600">
                <a:solidFill>
                  <a:srgbClr val="58657C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Rapid COVID-19 selloff during the first global lockdowns</a:t>
            </a:r>
          </a:p>
        </p:txBody>
      </p:sp>
      <p:sp>
        <p:nvSpPr>
          <p:cNvPr id="207" name="2022 drawdown"/>
          <p:cNvSpPr txBox="1"/>
          <p:nvPr/>
        </p:nvSpPr>
        <p:spPr>
          <a:xfrm>
            <a:off x="8407400" y="6035321"/>
            <a:ext cx="3556002" cy="426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2200">
                <a:solidFill>
                  <a:srgbClr val="1F3D5A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2022 drawdown</a:t>
            </a:r>
          </a:p>
        </p:txBody>
      </p:sp>
      <p:sp>
        <p:nvSpPr>
          <p:cNvPr id="208" name="calendar year 2022"/>
          <p:cNvSpPr txBox="1"/>
          <p:nvPr/>
        </p:nvSpPr>
        <p:spPr>
          <a:xfrm>
            <a:off x="8407400" y="6689373"/>
            <a:ext cx="6350000" cy="324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600">
                <a:solidFill>
                  <a:srgbClr val="58657C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Slower decline amid inflation and aggressive interest-rate hikes</a:t>
            </a:r>
          </a:p>
        </p:txBody>
      </p:sp>
      <p:sp>
        <p:nvSpPr>
          <p:cNvPr id="209" name="Correlation = average pairwise Pearson correlation of daily returns across regional baskets"/>
          <p:cNvSpPr txBox="1"/>
          <p:nvPr/>
        </p:nvSpPr>
        <p:spPr>
          <a:xfrm>
            <a:off x="8407399" y="7432323"/>
            <a:ext cx="6604002" cy="629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700">
                <a:solidFill>
                  <a:srgbClr val="D06F2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Correlation: 0 means independent movement; 1 means moving together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●  FINDING 1"/>
          <p:cNvSpPr txBox="1"/>
          <p:nvPr/>
        </p:nvSpPr>
        <p:spPr>
          <a:xfrm>
            <a:off x="914400" y="447322"/>
            <a:ext cx="6350000" cy="273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300">
                <a:solidFill>
                  <a:srgbClr val="1973B7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●  HYPOTHESIS 1</a:t>
            </a:r>
          </a:p>
        </p:txBody>
      </p:sp>
      <p:sp>
        <p:nvSpPr>
          <p:cNvPr id="214" name="7"/>
          <p:cNvSpPr txBox="1"/>
          <p:nvPr/>
        </p:nvSpPr>
        <p:spPr>
          <a:xfrm>
            <a:off x="14351000" y="339370"/>
            <a:ext cx="990600" cy="5658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3000">
                <a:solidFill>
                  <a:srgbClr val="ACC6E4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5</a:t>
            </a:r>
          </a:p>
        </p:txBody>
      </p:sp>
      <p:sp>
        <p:nvSpPr>
          <p:cNvPr id="215" name="The selected chip/AI group pulled decisively ahead"/>
          <p:cNvSpPr txBox="1"/>
          <p:nvPr/>
        </p:nvSpPr>
        <p:spPr>
          <a:xfrm>
            <a:off x="914400" y="948972"/>
            <a:ext cx="14427200" cy="667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3600">
                <a:solidFill>
                  <a:srgbClr val="182E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The selected chip/AI group pulled decisively ahead</a:t>
            </a:r>
          </a:p>
        </p:txBody>
      </p:sp>
      <p:sp>
        <p:nvSpPr>
          <p:cNvPr id="216" name="Indexed group averages from 2023-01-03 to 2026-02-20."/>
          <p:cNvSpPr txBox="1"/>
          <p:nvPr/>
        </p:nvSpPr>
        <p:spPr>
          <a:xfrm>
            <a:off x="914400" y="1749069"/>
            <a:ext cx="14427200" cy="375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900">
                <a:solidFill>
                  <a:srgbClr val="58657C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Indexed group averages from 2023-01-03 to 2026-02-20.</a:t>
            </a:r>
          </a:p>
        </p:txBody>
      </p:sp>
      <p:sp>
        <p:nvSpPr>
          <p:cNvPr id="217" name="HISTORICAL STOCK ANALYSIS  /  FINDING 1"/>
          <p:cNvSpPr txBox="1"/>
          <p:nvPr/>
        </p:nvSpPr>
        <p:spPr>
          <a:xfrm>
            <a:off x="914400" y="8664222"/>
            <a:ext cx="8255000" cy="222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000">
                <a:solidFill>
                  <a:srgbClr val="ACC6E4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HISTORICAL STOCK ANALYSIS  /  HYPOTHESIS 1</a:t>
            </a:r>
          </a:p>
        </p:txBody>
      </p:sp>
      <p:sp>
        <p:nvSpPr>
          <p:cNvPr id="218" name="7"/>
          <p:cNvSpPr txBox="1"/>
          <p:nvPr/>
        </p:nvSpPr>
        <p:spPr>
          <a:xfrm>
            <a:off x="14986000" y="8664222"/>
            <a:ext cx="355600" cy="222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000">
                <a:solidFill>
                  <a:srgbClr val="ACC6E4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5</a:t>
            </a:r>
          </a:p>
        </p:txBody>
      </p:sp>
      <p:pic>
        <p:nvPicPr>
          <p:cNvPr id="219" name="figure_a_ai_rally.png" descr="figure_a_ai_rally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14400" y="2387599"/>
            <a:ext cx="9849044" cy="5803902"/>
          </a:xfrm>
          <a:prstGeom prst="rect">
            <a:avLst/>
          </a:prstGeom>
          <a:ln w="12700">
            <a:miter lim="400000"/>
          </a:ln>
        </p:spPr>
      </p:pic>
      <p:sp>
        <p:nvSpPr>
          <p:cNvPr id="220" name="+549%"/>
          <p:cNvSpPr txBox="1"/>
          <p:nvPr/>
        </p:nvSpPr>
        <p:spPr>
          <a:xfrm>
            <a:off x="11810999" y="2771419"/>
            <a:ext cx="3175004" cy="883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4800">
                <a:solidFill>
                  <a:srgbClr val="1973B7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+549%</a:t>
            </a:r>
          </a:p>
        </p:txBody>
      </p:sp>
      <p:sp>
        <p:nvSpPr>
          <p:cNvPr id="221" name="chip / AI group"/>
          <p:cNvSpPr txBox="1"/>
          <p:nvPr/>
        </p:nvSpPr>
        <p:spPr>
          <a:xfrm>
            <a:off x="11861800" y="3577871"/>
            <a:ext cx="2921000" cy="362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800">
                <a:solidFill>
                  <a:srgbClr val="58657C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chip / AI group</a:t>
            </a:r>
          </a:p>
        </p:txBody>
      </p:sp>
      <p:sp>
        <p:nvSpPr>
          <p:cNvPr id="222" name="+168%"/>
          <p:cNvSpPr txBox="1"/>
          <p:nvPr/>
        </p:nvSpPr>
        <p:spPr>
          <a:xfrm>
            <a:off x="11810999" y="4295421"/>
            <a:ext cx="3175004" cy="883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4800">
                <a:solidFill>
                  <a:srgbClr val="D06F2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+168%</a:t>
            </a:r>
          </a:p>
        </p:txBody>
      </p:sp>
      <p:sp>
        <p:nvSpPr>
          <p:cNvPr id="223" name="broader-tech group"/>
          <p:cNvSpPr txBox="1"/>
          <p:nvPr/>
        </p:nvSpPr>
        <p:spPr>
          <a:xfrm>
            <a:off x="11861799" y="5101871"/>
            <a:ext cx="3175004" cy="362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800">
                <a:solidFill>
                  <a:srgbClr val="58657C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broader-tech group</a:t>
            </a:r>
          </a:p>
        </p:txBody>
      </p:sp>
      <p:sp>
        <p:nvSpPr>
          <p:cNvPr id="224" name="0.26% vs 0.14%"/>
          <p:cNvSpPr txBox="1"/>
          <p:nvPr/>
        </p:nvSpPr>
        <p:spPr>
          <a:xfrm>
            <a:off x="11811000" y="6009921"/>
            <a:ext cx="3302000" cy="476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2500">
                <a:solidFill>
                  <a:srgbClr val="182E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0.26% vs 0.14%</a:t>
            </a:r>
          </a:p>
        </p:txBody>
      </p:sp>
      <p:sp>
        <p:nvSpPr>
          <p:cNvPr id="225" name="mean daily return"/>
          <p:cNvSpPr txBox="1"/>
          <p:nvPr/>
        </p:nvSpPr>
        <p:spPr>
          <a:xfrm>
            <a:off x="11861799" y="6498869"/>
            <a:ext cx="3175004" cy="337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700">
                <a:solidFill>
                  <a:srgbClr val="58657C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mean daily return</a:t>
            </a:r>
          </a:p>
        </p:txBody>
      </p:sp>
      <p:sp>
        <p:nvSpPr>
          <p:cNvPr id="226" name="Welch p = 0.0073"/>
          <p:cNvSpPr txBox="1"/>
          <p:nvPr/>
        </p:nvSpPr>
        <p:spPr>
          <a:xfrm>
            <a:off x="11811000" y="7121172"/>
            <a:ext cx="3302000" cy="388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2000">
                <a:solidFill>
                  <a:srgbClr val="0B856E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Welch p = 0.0073</a:t>
            </a:r>
          </a:p>
        </p:txBody>
      </p:sp>
      <p:sp>
        <p:nvSpPr>
          <p:cNvPr id="227" name="Conclusion: H1 is supported for these selected groups—not for every company linked to AI."/>
          <p:cNvSpPr txBox="1"/>
          <p:nvPr/>
        </p:nvSpPr>
        <p:spPr>
          <a:xfrm>
            <a:off x="914400" y="8099072"/>
            <a:ext cx="13970002" cy="362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800">
                <a:solidFill>
                  <a:srgbClr val="1973B7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Conclusion: H1 is supported for these selected groups—not for every company linked to AI.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●  FINDING 2"/>
          <p:cNvSpPr txBox="1"/>
          <p:nvPr/>
        </p:nvSpPr>
        <p:spPr>
          <a:xfrm>
            <a:off x="914400" y="447322"/>
            <a:ext cx="6350000" cy="273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300">
                <a:solidFill>
                  <a:srgbClr val="1973B7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●  HYPOTHESIS 2</a:t>
            </a:r>
          </a:p>
        </p:txBody>
      </p:sp>
      <p:sp>
        <p:nvSpPr>
          <p:cNvPr id="232" name="8"/>
          <p:cNvSpPr txBox="1"/>
          <p:nvPr/>
        </p:nvSpPr>
        <p:spPr>
          <a:xfrm>
            <a:off x="14351000" y="339370"/>
            <a:ext cx="990600" cy="5658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3000">
                <a:solidFill>
                  <a:srgbClr val="ACC6E4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6</a:t>
            </a:r>
          </a:p>
        </p:txBody>
      </p:sp>
      <p:sp>
        <p:nvSpPr>
          <p:cNvPr id="233" name="Regional diversification weakened most in the 2020 crash"/>
          <p:cNvSpPr txBox="1"/>
          <p:nvPr/>
        </p:nvSpPr>
        <p:spPr>
          <a:xfrm>
            <a:off x="914400" y="948972"/>
            <a:ext cx="14427200" cy="667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3600">
                <a:solidFill>
                  <a:srgbClr val="182E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Regional diversification weakened most in the 2020 crash</a:t>
            </a:r>
          </a:p>
        </p:txBody>
      </p:sp>
      <p:sp>
        <p:nvSpPr>
          <p:cNvPr id="234" name="Average pairwise correlations after widening the available regional baskets."/>
          <p:cNvSpPr txBox="1"/>
          <p:nvPr/>
        </p:nvSpPr>
        <p:spPr>
          <a:xfrm>
            <a:off x="914400" y="1749069"/>
            <a:ext cx="14427200" cy="375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900">
                <a:solidFill>
                  <a:srgbClr val="58657C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Average pairwise correlations after widening the available regional baskets.</a:t>
            </a:r>
          </a:p>
        </p:txBody>
      </p:sp>
      <p:sp>
        <p:nvSpPr>
          <p:cNvPr id="235" name="HISTORICAL STOCK ANALYSIS  /  FINDING 2"/>
          <p:cNvSpPr txBox="1"/>
          <p:nvPr/>
        </p:nvSpPr>
        <p:spPr>
          <a:xfrm>
            <a:off x="914400" y="8664222"/>
            <a:ext cx="8255000" cy="222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000">
                <a:solidFill>
                  <a:srgbClr val="ACC6E4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HISTORICAL STOCK ANALYSIS  /  HYPOTHESIS 2</a:t>
            </a:r>
          </a:p>
        </p:txBody>
      </p:sp>
      <p:sp>
        <p:nvSpPr>
          <p:cNvPr id="236" name="8"/>
          <p:cNvSpPr txBox="1"/>
          <p:nvPr/>
        </p:nvSpPr>
        <p:spPr>
          <a:xfrm>
            <a:off x="14986000" y="8664222"/>
            <a:ext cx="355600" cy="222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000">
                <a:solidFill>
                  <a:srgbClr val="ACC6E4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6</a:t>
            </a:r>
          </a:p>
        </p:txBody>
      </p:sp>
      <p:pic>
        <p:nvPicPr>
          <p:cNvPr id="237" name="ec1_f_widened_basket.png" descr="ec1_f_widened_basket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14400" y="2540000"/>
            <a:ext cx="10625247" cy="3898900"/>
          </a:xfrm>
          <a:prstGeom prst="rect">
            <a:avLst/>
          </a:prstGeom>
          <a:ln w="12700">
            <a:miter lim="400000"/>
          </a:ln>
        </p:spPr>
      </p:pic>
      <p:sp>
        <p:nvSpPr>
          <p:cNvPr id="238" name="0.282"/>
          <p:cNvSpPr txBox="1"/>
          <p:nvPr/>
        </p:nvSpPr>
        <p:spPr>
          <a:xfrm>
            <a:off x="12700000" y="2777769"/>
            <a:ext cx="2286000" cy="743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4000">
                <a:solidFill>
                  <a:srgbClr val="58657C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0.282</a:t>
            </a:r>
          </a:p>
        </p:txBody>
      </p:sp>
      <p:sp>
        <p:nvSpPr>
          <p:cNvPr id="239" name="calm"/>
          <p:cNvSpPr txBox="1"/>
          <p:nvPr/>
        </p:nvSpPr>
        <p:spPr>
          <a:xfrm>
            <a:off x="12738099" y="3450871"/>
            <a:ext cx="2032003" cy="337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700">
                <a:solidFill>
                  <a:srgbClr val="58657C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calm</a:t>
            </a:r>
          </a:p>
        </p:txBody>
      </p:sp>
      <p:sp>
        <p:nvSpPr>
          <p:cNvPr id="240" name="0.326"/>
          <p:cNvSpPr txBox="1"/>
          <p:nvPr/>
        </p:nvSpPr>
        <p:spPr>
          <a:xfrm>
            <a:off x="12700000" y="4047771"/>
            <a:ext cx="2286000" cy="743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4000">
                <a:solidFill>
                  <a:srgbClr val="1F3D5A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0.326</a:t>
            </a:r>
          </a:p>
        </p:txBody>
      </p:sp>
      <p:sp>
        <p:nvSpPr>
          <p:cNvPr id="241" name="2008"/>
          <p:cNvSpPr txBox="1"/>
          <p:nvPr/>
        </p:nvSpPr>
        <p:spPr>
          <a:xfrm>
            <a:off x="12738099" y="4720871"/>
            <a:ext cx="2032003" cy="337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700">
                <a:solidFill>
                  <a:srgbClr val="58657C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2008</a:t>
            </a:r>
          </a:p>
        </p:txBody>
      </p:sp>
      <p:sp>
        <p:nvSpPr>
          <p:cNvPr id="242" name="0.539"/>
          <p:cNvSpPr txBox="1"/>
          <p:nvPr/>
        </p:nvSpPr>
        <p:spPr>
          <a:xfrm>
            <a:off x="12700000" y="5317771"/>
            <a:ext cx="2286000" cy="743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4000">
                <a:solidFill>
                  <a:srgbClr val="1973B7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0.539</a:t>
            </a:r>
          </a:p>
        </p:txBody>
      </p:sp>
      <p:sp>
        <p:nvSpPr>
          <p:cNvPr id="243" name="2020"/>
          <p:cNvSpPr txBox="1"/>
          <p:nvPr/>
        </p:nvSpPr>
        <p:spPr>
          <a:xfrm>
            <a:off x="12738099" y="5990871"/>
            <a:ext cx="2032003" cy="3372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700">
                <a:solidFill>
                  <a:srgbClr val="58657C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2020</a:t>
            </a:r>
          </a:p>
        </p:txBody>
      </p:sp>
      <p:sp>
        <p:nvSpPr>
          <p:cNvPr id="244" name="The 2008 estimate became more crisis-like after widening the basket, but Paris still has one stock and Korea/Switzerland remain sector-narrow."/>
          <p:cNvSpPr txBox="1"/>
          <p:nvPr/>
        </p:nvSpPr>
        <p:spPr>
          <a:xfrm>
            <a:off x="914400" y="7038622"/>
            <a:ext cx="13970002" cy="730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2000">
                <a:solidFill>
                  <a:srgbClr val="182E48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The 2008 estimate became more crisis-like after widening the basket, but Paris still has one stock and Korea/Switzerland remain sector-narrow.</a:t>
            </a:r>
          </a:p>
        </p:txBody>
      </p:sp>
      <p:sp>
        <p:nvSpPr>
          <p:cNvPr id="245" name="Conclusion: H2 is strongly supported for 2020 and directionally supported for 2008."/>
          <p:cNvSpPr txBox="1"/>
          <p:nvPr/>
        </p:nvSpPr>
        <p:spPr>
          <a:xfrm>
            <a:off x="914400" y="8010172"/>
            <a:ext cx="13970002" cy="362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800">
                <a:solidFill>
                  <a:srgbClr val="1973B7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Conclusion: H2 is strongly supported for 2020 and directionally supported for 2008.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●  FINDING 3"/>
          <p:cNvSpPr txBox="1"/>
          <p:nvPr/>
        </p:nvSpPr>
        <p:spPr>
          <a:xfrm>
            <a:off x="914400" y="447322"/>
            <a:ext cx="6350000" cy="273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300">
                <a:solidFill>
                  <a:srgbClr val="1973B7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●  HYPOTHESIS 3</a:t>
            </a:r>
          </a:p>
        </p:txBody>
      </p:sp>
      <p:sp>
        <p:nvSpPr>
          <p:cNvPr id="250" name="9"/>
          <p:cNvSpPr txBox="1"/>
          <p:nvPr/>
        </p:nvSpPr>
        <p:spPr>
          <a:xfrm>
            <a:off x="14351000" y="339370"/>
            <a:ext cx="990600" cy="5658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3000">
                <a:solidFill>
                  <a:srgbClr val="ACC6E4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7</a:t>
            </a:r>
          </a:p>
        </p:txBody>
      </p:sp>
      <p:sp>
        <p:nvSpPr>
          <p:cNvPr id="251" name="Panic months produced the largest volatility spikes"/>
          <p:cNvSpPr txBox="1"/>
          <p:nvPr/>
        </p:nvSpPr>
        <p:spPr>
          <a:xfrm>
            <a:off x="914400" y="948972"/>
            <a:ext cx="14427200" cy="667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3600">
                <a:solidFill>
                  <a:srgbClr val="182E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Panic months produced the largest volatility spikes</a:t>
            </a:r>
          </a:p>
        </p:txBody>
      </p:sp>
      <p:sp>
        <p:nvSpPr>
          <p:cNvPr id="252" name="Equal-weighted mean absolute daily return by month across available tickers."/>
          <p:cNvSpPr txBox="1"/>
          <p:nvPr/>
        </p:nvSpPr>
        <p:spPr>
          <a:xfrm>
            <a:off x="914400" y="1749069"/>
            <a:ext cx="14427200" cy="375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900">
                <a:solidFill>
                  <a:srgbClr val="58657C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Equal-weighted mean absolute daily return by month across available tickers.</a:t>
            </a:r>
          </a:p>
        </p:txBody>
      </p:sp>
      <p:sp>
        <p:nvSpPr>
          <p:cNvPr id="253" name="HISTORICAL STOCK ANALYSIS  /  FINDING 3"/>
          <p:cNvSpPr txBox="1"/>
          <p:nvPr/>
        </p:nvSpPr>
        <p:spPr>
          <a:xfrm>
            <a:off x="914400" y="8664222"/>
            <a:ext cx="8255000" cy="222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000">
                <a:solidFill>
                  <a:srgbClr val="ACC6E4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HISTORICAL STOCK ANALYSIS  /  HYPOTHESIS 3</a:t>
            </a:r>
          </a:p>
        </p:txBody>
      </p:sp>
      <p:sp>
        <p:nvSpPr>
          <p:cNvPr id="254" name="9"/>
          <p:cNvSpPr txBox="1"/>
          <p:nvPr/>
        </p:nvSpPr>
        <p:spPr>
          <a:xfrm>
            <a:off x="14986000" y="8664222"/>
            <a:ext cx="355600" cy="222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000">
                <a:solidFill>
                  <a:srgbClr val="ACC6E4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7</a:t>
            </a:r>
          </a:p>
        </p:txBody>
      </p:sp>
      <p:pic>
        <p:nvPicPr>
          <p:cNvPr id="255" name="b2_monthly_absolute_return.png" descr="b2_monthly_absolute_return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14400" y="2362200"/>
            <a:ext cx="10916223" cy="6261100"/>
          </a:xfrm>
          <a:prstGeom prst="rect">
            <a:avLst/>
          </a:prstGeom>
          <a:ln w="12700">
            <a:miter lim="400000"/>
          </a:ln>
        </p:spPr>
      </p:pic>
      <p:sp>
        <p:nvSpPr>
          <p:cNvPr id="256" name="OCT 2008"/>
          <p:cNvSpPr txBox="1"/>
          <p:nvPr/>
        </p:nvSpPr>
        <p:spPr>
          <a:xfrm>
            <a:off x="12522200" y="3088919"/>
            <a:ext cx="2413001" cy="324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600">
                <a:solidFill>
                  <a:srgbClr val="C75C5C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OCT 2008</a:t>
            </a:r>
          </a:p>
        </p:txBody>
      </p:sp>
      <p:sp>
        <p:nvSpPr>
          <p:cNvPr id="257" name="4.82%"/>
          <p:cNvSpPr txBox="1"/>
          <p:nvPr/>
        </p:nvSpPr>
        <p:spPr>
          <a:xfrm>
            <a:off x="12471400" y="3438171"/>
            <a:ext cx="2667000" cy="769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4200">
                <a:solidFill>
                  <a:srgbClr val="C75C5C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4.82%</a:t>
            </a:r>
          </a:p>
        </p:txBody>
      </p:sp>
      <p:sp>
        <p:nvSpPr>
          <p:cNvPr id="258" name="MAR 2020"/>
          <p:cNvSpPr txBox="1"/>
          <p:nvPr/>
        </p:nvSpPr>
        <p:spPr>
          <a:xfrm>
            <a:off x="12522200" y="4866921"/>
            <a:ext cx="2413001" cy="324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600">
                <a:solidFill>
                  <a:srgbClr val="C75C5C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MAR 2020</a:t>
            </a:r>
          </a:p>
        </p:txBody>
      </p:sp>
      <p:sp>
        <p:nvSpPr>
          <p:cNvPr id="259" name="4.67%"/>
          <p:cNvSpPr txBox="1"/>
          <p:nvPr/>
        </p:nvSpPr>
        <p:spPr>
          <a:xfrm>
            <a:off x="12471400" y="5216171"/>
            <a:ext cx="2667000" cy="769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4200">
                <a:solidFill>
                  <a:srgbClr val="C75C5C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4.67%</a:t>
            </a:r>
          </a:p>
        </p:txBody>
      </p:sp>
      <p:sp>
        <p:nvSpPr>
          <p:cNvPr id="260" name="Independent monthly aggregation reaches the same crisis conclusion."/>
          <p:cNvSpPr txBox="1"/>
          <p:nvPr/>
        </p:nvSpPr>
        <p:spPr>
          <a:xfrm>
            <a:off x="12471399" y="6479819"/>
            <a:ext cx="2794004" cy="1035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900">
                <a:solidFill>
                  <a:srgbClr val="182E48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Independent monthly aggregation reaches the same crisis conclusion.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●  DESIGN EVOLUTION"/>
          <p:cNvSpPr txBox="1"/>
          <p:nvPr/>
        </p:nvSpPr>
        <p:spPr>
          <a:xfrm>
            <a:off x="914400" y="447322"/>
            <a:ext cx="6350000" cy="273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300">
                <a:solidFill>
                  <a:srgbClr val="1973B7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●  CONCLUSION</a:t>
            </a:r>
          </a:p>
        </p:txBody>
      </p:sp>
      <p:sp>
        <p:nvSpPr>
          <p:cNvPr id="265" name="10"/>
          <p:cNvSpPr txBox="1"/>
          <p:nvPr/>
        </p:nvSpPr>
        <p:spPr>
          <a:xfrm>
            <a:off x="14351000" y="339370"/>
            <a:ext cx="990600" cy="5658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3000">
                <a:solidFill>
                  <a:srgbClr val="ACC6E4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266" name="A log scale reveals the growth stories hidden by the linear chart"/>
          <p:cNvSpPr txBox="1"/>
          <p:nvPr/>
        </p:nvSpPr>
        <p:spPr>
          <a:xfrm>
            <a:off x="914400" y="948972"/>
            <a:ext cx="14427200" cy="667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3600">
                <a:solidFill>
                  <a:srgbClr val="182E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A log scale reveals the growth stories hidden by the linear chart</a:t>
            </a:r>
          </a:p>
        </p:txBody>
      </p:sp>
      <p:sp>
        <p:nvSpPr>
          <p:cNvPr id="267" name="Same data and rebasing; only the visual encoding changes."/>
          <p:cNvSpPr txBox="1"/>
          <p:nvPr/>
        </p:nvSpPr>
        <p:spPr>
          <a:xfrm>
            <a:off x="914400" y="1749069"/>
            <a:ext cx="14427200" cy="375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900">
                <a:solidFill>
                  <a:srgbClr val="58657C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Same data and rebasing; only the visual encoding changes.</a:t>
            </a:r>
          </a:p>
        </p:txBody>
      </p:sp>
      <p:sp>
        <p:nvSpPr>
          <p:cNvPr id="268" name="HISTORICAL STOCK ANALYSIS  /  DESIGN EVOLUTION"/>
          <p:cNvSpPr txBox="1"/>
          <p:nvPr/>
        </p:nvSpPr>
        <p:spPr>
          <a:xfrm>
            <a:off x="914400" y="8664222"/>
            <a:ext cx="8255000" cy="222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000">
                <a:solidFill>
                  <a:srgbClr val="ACC6E4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HISTORICAL STOCK ANALYSIS  /  CONCLUSION</a:t>
            </a:r>
          </a:p>
        </p:txBody>
      </p:sp>
      <p:sp>
        <p:nvSpPr>
          <p:cNvPr id="269" name="10"/>
          <p:cNvSpPr txBox="1"/>
          <p:nvPr/>
        </p:nvSpPr>
        <p:spPr>
          <a:xfrm>
            <a:off x="14986000" y="8664222"/>
            <a:ext cx="355600" cy="222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000">
                <a:solidFill>
                  <a:srgbClr val="ACC6E4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8</a:t>
            </a:r>
          </a:p>
        </p:txBody>
      </p:sp>
      <p:sp>
        <p:nvSpPr>
          <p:cNvPr id="270" name="BEFORE  ·  LINEAR"/>
          <p:cNvSpPr txBox="1"/>
          <p:nvPr/>
        </p:nvSpPr>
        <p:spPr>
          <a:xfrm>
            <a:off x="914400" y="2269769"/>
            <a:ext cx="5080000" cy="286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400">
                <a:solidFill>
                  <a:srgbClr val="D06F2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BEFORE  ·  LINEAR</a:t>
            </a:r>
          </a:p>
        </p:txBody>
      </p:sp>
      <p:sp>
        <p:nvSpPr>
          <p:cNvPr id="271" name="AFTER  ·  LOG"/>
          <p:cNvSpPr txBox="1"/>
          <p:nvPr/>
        </p:nvSpPr>
        <p:spPr>
          <a:xfrm>
            <a:off x="8255000" y="2269769"/>
            <a:ext cx="5080000" cy="286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400">
                <a:solidFill>
                  <a:srgbClr val="1973B7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AFTER  ·  LOG</a:t>
            </a:r>
          </a:p>
        </p:txBody>
      </p:sp>
      <p:pic>
        <p:nvPicPr>
          <p:cNvPr id="272" name="ec1_a_before.png" descr="ec1_a_before.png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914400" y="2641600"/>
            <a:ext cx="6962258" cy="41783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73" name="ec1_a_after.png" descr="ec1_a_after.png"/>
          <p:cNvPicPr>
            <a:picLocks noChangeAspect="1"/>
          </p:cNvPicPr>
          <p:nvPr/>
        </p:nvPicPr>
        <p:blipFill>
          <a:blip r:embed="rId4">
            <a:extLst/>
          </a:blip>
          <a:stretch>
            <a:fillRect/>
          </a:stretch>
        </p:blipFill>
        <p:spPr>
          <a:xfrm>
            <a:off x="8255000" y="2641600"/>
            <a:ext cx="6966985" cy="4178300"/>
          </a:xfrm>
          <a:prstGeom prst="rect">
            <a:avLst/>
          </a:prstGeom>
          <a:ln w="12700">
            <a:miter lim="400000"/>
          </a:ln>
        </p:spPr>
      </p:pic>
      <p:sp>
        <p:nvSpPr>
          <p:cNvPr id="274" name="NVDA and AVGO dominate the absolute range, compressing four lines near the baseline."/>
          <p:cNvSpPr txBox="1"/>
          <p:nvPr/>
        </p:nvSpPr>
        <p:spPr>
          <a:xfrm>
            <a:off x="914400" y="7076722"/>
            <a:ext cx="6604001" cy="629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700">
                <a:solidFill>
                  <a:srgbClr val="58657C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NVDA and AVGO dominate the absolute range, compressing four lines near the baseline.</a:t>
            </a:r>
          </a:p>
        </p:txBody>
      </p:sp>
      <p:sp>
        <p:nvSpPr>
          <p:cNvPr id="275" name="Equal vertical distance now represents equal proportional change; all six series remain legible."/>
          <p:cNvSpPr txBox="1"/>
          <p:nvPr/>
        </p:nvSpPr>
        <p:spPr>
          <a:xfrm>
            <a:off x="8255000" y="7076722"/>
            <a:ext cx="7061200" cy="629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700">
                <a:solidFill>
                  <a:srgbClr val="182E48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Equal vertical distance now represents equal proportional change; all six series remain legible.</a:t>
            </a:r>
          </a:p>
        </p:txBody>
      </p:sp>
      <p:sp>
        <p:nvSpPr>
          <p:cNvPr id="276" name="Principles applied: appropriate scale  ·  direct labels  ·  less non-data ink  ·  better pre-attentive separation"/>
          <p:cNvSpPr txBox="1"/>
          <p:nvPr/>
        </p:nvSpPr>
        <p:spPr>
          <a:xfrm>
            <a:off x="914400" y="8035572"/>
            <a:ext cx="14427200" cy="3626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800">
                <a:solidFill>
                  <a:srgbClr val="1973B7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Principles applied: appropriate scale  ·  direct labels  ·  less non-data ink  ·  better pre-attentive separation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●  CONCLUSION"/>
          <p:cNvSpPr txBox="1"/>
          <p:nvPr/>
        </p:nvSpPr>
        <p:spPr>
          <a:xfrm>
            <a:off x="914400" y="447322"/>
            <a:ext cx="6350000" cy="273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300">
                <a:solidFill>
                  <a:srgbClr val="1973B7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●  CONCLUSION</a:t>
            </a:r>
          </a:p>
        </p:txBody>
      </p:sp>
      <p:sp>
        <p:nvSpPr>
          <p:cNvPr id="281" name="11"/>
          <p:cNvSpPr txBox="1"/>
          <p:nvPr/>
        </p:nvSpPr>
        <p:spPr>
          <a:xfrm>
            <a:off x="14351000" y="339370"/>
            <a:ext cx="990600" cy="5658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3000">
                <a:solidFill>
                  <a:srgbClr val="ACC6E4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282" name="Diversification is present—but thinner when it matters most"/>
          <p:cNvSpPr txBox="1"/>
          <p:nvPr/>
        </p:nvSpPr>
        <p:spPr>
          <a:xfrm>
            <a:off x="914400" y="948969"/>
            <a:ext cx="14427200" cy="667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3600">
                <a:solidFill>
                  <a:srgbClr val="1F3D5A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Diversification is thinner when it matters most</a:t>
            </a:r>
          </a:p>
        </p:txBody>
      </p:sp>
      <p:sp>
        <p:nvSpPr>
          <p:cNvPr id="283" name="The three hypotheses agree on the central story while keeping their boundaries visible."/>
          <p:cNvSpPr txBox="1"/>
          <p:nvPr/>
        </p:nvSpPr>
        <p:spPr>
          <a:xfrm>
            <a:off x="914400" y="1749069"/>
            <a:ext cx="14427200" cy="375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900">
                <a:solidFill>
                  <a:srgbClr val="58657C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All three hypotheses support the central story, within clear limits.</a:t>
            </a:r>
          </a:p>
        </p:txBody>
      </p:sp>
      <p:sp>
        <p:nvSpPr>
          <p:cNvPr id="284" name="HISTORICAL STOCK ANALYSIS  /  CONCLUSION"/>
          <p:cNvSpPr txBox="1"/>
          <p:nvPr/>
        </p:nvSpPr>
        <p:spPr>
          <a:xfrm>
            <a:off x="914400" y="8664222"/>
            <a:ext cx="8255000" cy="222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000">
                <a:solidFill>
                  <a:srgbClr val="ACC6E4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HISTORICAL STOCK ANALYSIS  /  CONCLUSION</a:t>
            </a:r>
          </a:p>
        </p:txBody>
      </p:sp>
      <p:sp>
        <p:nvSpPr>
          <p:cNvPr id="285" name="11"/>
          <p:cNvSpPr txBox="1"/>
          <p:nvPr/>
        </p:nvSpPr>
        <p:spPr>
          <a:xfrm>
            <a:off x="14986000" y="8664222"/>
            <a:ext cx="355600" cy="222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000">
                <a:solidFill>
                  <a:srgbClr val="ACC6E4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9</a:t>
            </a:r>
          </a:p>
        </p:txBody>
      </p:sp>
      <p:sp>
        <p:nvSpPr>
          <p:cNvPr id="286" name="01"/>
          <p:cNvSpPr txBox="1"/>
          <p:nvPr/>
        </p:nvSpPr>
        <p:spPr>
          <a:xfrm>
            <a:off x="914399" y="2587269"/>
            <a:ext cx="889004" cy="603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>
                <a:solidFill>
                  <a:srgbClr val="1973B7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01</a:t>
            </a:r>
          </a:p>
        </p:txBody>
      </p:sp>
      <p:sp>
        <p:nvSpPr>
          <p:cNvPr id="287" name="Technology leadership was concentrated"/>
          <p:cNvSpPr txBox="1"/>
          <p:nvPr/>
        </p:nvSpPr>
        <p:spPr>
          <a:xfrm>
            <a:off x="2006600" y="2561869"/>
            <a:ext cx="8255000" cy="515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2700">
                <a:solidFill>
                  <a:srgbClr val="182E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Technology leadership was concentrated</a:t>
            </a:r>
          </a:p>
        </p:txBody>
      </p:sp>
      <p:sp>
        <p:nvSpPr>
          <p:cNvPr id="288" name="The selected chip/AI group gained 549% versus 168% for broader tech."/>
          <p:cNvSpPr txBox="1"/>
          <p:nvPr/>
        </p:nvSpPr>
        <p:spPr>
          <a:xfrm>
            <a:off x="2006600" y="3152419"/>
            <a:ext cx="11049000" cy="375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900">
                <a:solidFill>
                  <a:srgbClr val="58657C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The selected chip/AI group gained 549% versus 168% for broader tech.</a:t>
            </a:r>
          </a:p>
        </p:txBody>
      </p:sp>
      <p:sp>
        <p:nvSpPr>
          <p:cNvPr id="289" name="02"/>
          <p:cNvSpPr txBox="1"/>
          <p:nvPr/>
        </p:nvSpPr>
        <p:spPr>
          <a:xfrm>
            <a:off x="914399" y="4174771"/>
            <a:ext cx="889004" cy="603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>
                <a:solidFill>
                  <a:srgbClr val="D06F2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02</a:t>
            </a:r>
          </a:p>
        </p:txBody>
      </p:sp>
      <p:sp>
        <p:nvSpPr>
          <p:cNvPr id="290" name="Regional protection weakened in sudden stress"/>
          <p:cNvSpPr txBox="1"/>
          <p:nvPr/>
        </p:nvSpPr>
        <p:spPr>
          <a:xfrm>
            <a:off x="2006599" y="4149371"/>
            <a:ext cx="9398001" cy="515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2700">
                <a:solidFill>
                  <a:srgbClr val="182E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Regional protection weakened in sudden stress</a:t>
            </a:r>
          </a:p>
        </p:txBody>
      </p:sp>
      <p:sp>
        <p:nvSpPr>
          <p:cNvPr id="291" name="Average correlation peaked at 0.539 in the 2020 crash."/>
          <p:cNvSpPr txBox="1"/>
          <p:nvPr/>
        </p:nvSpPr>
        <p:spPr>
          <a:xfrm>
            <a:off x="2006598" y="4739921"/>
            <a:ext cx="10414004" cy="375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900">
                <a:solidFill>
                  <a:srgbClr val="58657C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Average correlation peaked at 0.539 in the 2020 crash.</a:t>
            </a:r>
          </a:p>
        </p:txBody>
      </p:sp>
      <p:sp>
        <p:nvSpPr>
          <p:cNvPr id="292" name="03"/>
          <p:cNvSpPr txBox="1"/>
          <p:nvPr/>
        </p:nvSpPr>
        <p:spPr>
          <a:xfrm>
            <a:off x="914399" y="5762271"/>
            <a:ext cx="889004" cy="603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>
                <a:solidFill>
                  <a:srgbClr val="0B856E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03</a:t>
            </a:r>
          </a:p>
        </p:txBody>
      </p:sp>
      <p:sp>
        <p:nvSpPr>
          <p:cNvPr id="293" name="Volatility independently confirmed the panic signal"/>
          <p:cNvSpPr txBox="1"/>
          <p:nvPr/>
        </p:nvSpPr>
        <p:spPr>
          <a:xfrm>
            <a:off x="2006598" y="5736871"/>
            <a:ext cx="10414004" cy="5150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2700">
                <a:solidFill>
                  <a:srgbClr val="182E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Volatility independently confirmed the panic signal</a:t>
            </a:r>
          </a:p>
        </p:txBody>
      </p:sp>
      <p:sp>
        <p:nvSpPr>
          <p:cNvPr id="294" name="October 2008 and March 2020 were the largest monthly spikes."/>
          <p:cNvSpPr txBox="1"/>
          <p:nvPr/>
        </p:nvSpPr>
        <p:spPr>
          <a:xfrm>
            <a:off x="2006600" y="6349850"/>
            <a:ext cx="10922000" cy="3304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900">
                <a:solidFill>
                  <a:srgbClr val="58657C"/>
                </a:solidFill>
                <a:latin typeface="+mj-lt"/>
                <a:ea typeface="+mj-ea"/>
                <a:cs typeface="+mj-cs"/>
                <a:sym typeface="Helvetica Neue"/>
              </a:defRPr>
            </a:lvl1pPr>
          </a:lstStyle>
          <a:p>
            <a:pPr/>
            <a:r>
              <a:t>October 2008 and March 2020 were the largest monthly spikes.</a:t>
            </a:r>
          </a:p>
        </p:txBody>
      </p:sp>
      <p:sp>
        <p:nvSpPr>
          <p:cNvPr id="295" name="What we can claim: patterns in this dataset.  What we cannot claim: causality, forecasting, or a universal market law."/>
          <p:cNvSpPr txBox="1"/>
          <p:nvPr/>
        </p:nvSpPr>
        <p:spPr>
          <a:xfrm>
            <a:off x="914400" y="7641872"/>
            <a:ext cx="14427200" cy="413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2100">
                <a:solidFill>
                  <a:srgbClr val="1973B7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What we can claim: patterns in this dataset.  What we cannot claim: causality, forecasting, or a universal market law.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●  WHAT'S NEXT"/>
          <p:cNvSpPr txBox="1"/>
          <p:nvPr/>
        </p:nvSpPr>
        <p:spPr>
          <a:xfrm>
            <a:off x="914400" y="447322"/>
            <a:ext cx="6350000" cy="2737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300">
                <a:solidFill>
                  <a:srgbClr val="1973B7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●  CONCLUSION</a:t>
            </a:r>
          </a:p>
        </p:txBody>
      </p:sp>
      <p:sp>
        <p:nvSpPr>
          <p:cNvPr id="300" name="12"/>
          <p:cNvSpPr txBox="1"/>
          <p:nvPr/>
        </p:nvSpPr>
        <p:spPr>
          <a:xfrm>
            <a:off x="14351000" y="339370"/>
            <a:ext cx="990600" cy="5658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3000">
                <a:solidFill>
                  <a:srgbClr val="ACC6E4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301" name="Make the evidence explorable"/>
          <p:cNvSpPr txBox="1"/>
          <p:nvPr/>
        </p:nvSpPr>
        <p:spPr>
          <a:xfrm>
            <a:off x="914400" y="948972"/>
            <a:ext cx="14427200" cy="667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3600">
                <a:solidFill>
                  <a:srgbClr val="182E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Make the evidence explorable</a:t>
            </a:r>
          </a:p>
        </p:txBody>
      </p:sp>
      <p:sp>
        <p:nvSpPr>
          <p:cNvPr id="302" name="The dashboard keeps every assumption visible as a filter."/>
          <p:cNvSpPr txBox="1"/>
          <p:nvPr/>
        </p:nvSpPr>
        <p:spPr>
          <a:xfrm>
            <a:off x="914400" y="1749069"/>
            <a:ext cx="14427200" cy="375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900">
                <a:solidFill>
                  <a:srgbClr val="58657C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The dashboard keeps every assumption visible as a filter.</a:t>
            </a:r>
          </a:p>
        </p:txBody>
      </p:sp>
      <p:sp>
        <p:nvSpPr>
          <p:cNvPr id="303" name="HISTORICAL STOCK ANALYSIS  /  WHAT'S NEXT"/>
          <p:cNvSpPr txBox="1"/>
          <p:nvPr/>
        </p:nvSpPr>
        <p:spPr>
          <a:xfrm>
            <a:off x="914400" y="8664222"/>
            <a:ext cx="8255000" cy="222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000">
                <a:solidFill>
                  <a:srgbClr val="ACC6E4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HISTORICAL STOCK ANALYSIS  /  CONCLUSION</a:t>
            </a:r>
          </a:p>
        </p:txBody>
      </p:sp>
      <p:sp>
        <p:nvSpPr>
          <p:cNvPr id="304" name="12"/>
          <p:cNvSpPr txBox="1"/>
          <p:nvPr/>
        </p:nvSpPr>
        <p:spPr>
          <a:xfrm>
            <a:off x="14986000" y="8664222"/>
            <a:ext cx="355600" cy="222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000">
                <a:solidFill>
                  <a:srgbClr val="ACC6E4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10</a:t>
            </a:r>
          </a:p>
        </p:txBody>
      </p:sp>
      <p:sp>
        <p:nvSpPr>
          <p:cNvPr id="305" name="POWER BI / TABLEAU"/>
          <p:cNvSpPr txBox="1"/>
          <p:nvPr/>
        </p:nvSpPr>
        <p:spPr>
          <a:xfrm>
            <a:off x="914400" y="2695219"/>
            <a:ext cx="4572000" cy="324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600">
                <a:solidFill>
                  <a:srgbClr val="1973B7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POWER BI / TABLEAU</a:t>
            </a:r>
          </a:p>
        </p:txBody>
      </p:sp>
      <p:sp>
        <p:nvSpPr>
          <p:cNvPr id="306" name="One overview"/>
          <p:cNvSpPr txBox="1"/>
          <p:nvPr/>
        </p:nvSpPr>
        <p:spPr>
          <a:xfrm>
            <a:off x="914399" y="3190519"/>
            <a:ext cx="5207002" cy="553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2900">
                <a:solidFill>
                  <a:srgbClr val="182E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One overview</a:t>
            </a:r>
          </a:p>
        </p:txBody>
      </p:sp>
      <p:sp>
        <p:nvSpPr>
          <p:cNvPr id="307" name="Filter by ticker group, region, and crisis period; compare indexed performance, correlations, and monthly volatility."/>
          <p:cNvSpPr txBox="1"/>
          <p:nvPr/>
        </p:nvSpPr>
        <p:spPr>
          <a:xfrm>
            <a:off x="914400" y="4047771"/>
            <a:ext cx="5778500" cy="10738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2000">
                <a:solidFill>
                  <a:srgbClr val="58657C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Filter by ticker group, region, and crisis period; compare indexed performance, correlations, and monthly volatility.</a:t>
            </a:r>
          </a:p>
        </p:txBody>
      </p:sp>
      <p:sp>
        <p:nvSpPr>
          <p:cNvPr id="308" name="R WRANGLING"/>
          <p:cNvSpPr txBox="1"/>
          <p:nvPr/>
        </p:nvSpPr>
        <p:spPr>
          <a:xfrm>
            <a:off x="8254999" y="2695219"/>
            <a:ext cx="3810004" cy="324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600">
                <a:solidFill>
                  <a:srgbClr val="D06F21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R WRANGLING</a:t>
            </a:r>
          </a:p>
        </p:txBody>
      </p:sp>
      <p:sp>
        <p:nvSpPr>
          <p:cNvPr id="309" name="Long-form by design"/>
          <p:cNvSpPr txBox="1"/>
          <p:nvPr/>
        </p:nvSpPr>
        <p:spPr>
          <a:xfrm>
            <a:off x="8255000" y="3190519"/>
            <a:ext cx="5715000" cy="553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2900">
                <a:solidFill>
                  <a:srgbClr val="182E48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Long-form by design</a:t>
            </a:r>
          </a:p>
        </p:txBody>
      </p:sp>
      <p:sp>
        <p:nvSpPr>
          <p:cNvPr id="310" name="Use parsed dates, month bins, and one Ticker field so color, grouping, and filters remain consistent."/>
          <p:cNvSpPr txBox="1"/>
          <p:nvPr/>
        </p:nvSpPr>
        <p:spPr>
          <a:xfrm>
            <a:off x="8255000" y="4219221"/>
            <a:ext cx="5969000" cy="730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2000">
                <a:solidFill>
                  <a:srgbClr val="58657C"/>
                </a:solidFill>
                <a:latin typeface="Avenir Next Regular"/>
                <a:ea typeface="Avenir Next Regular"/>
                <a:cs typeface="Avenir Next Regular"/>
                <a:sym typeface="Avenir Next Regular"/>
              </a:defRPr>
            </a:lvl1pPr>
          </a:lstStyle>
          <a:p>
            <a:pPr/>
            <a:r>
              <a:t>Use parsed dates, month bins, and one Ticker field so color, grouping, and filters remain consistent.</a:t>
            </a:r>
          </a:p>
        </p:txBody>
      </p:sp>
      <p:sp>
        <p:nvSpPr>
          <p:cNvPr id="311" name="OPEN RISKS"/>
          <p:cNvSpPr txBox="1"/>
          <p:nvPr/>
        </p:nvSpPr>
        <p:spPr>
          <a:xfrm>
            <a:off x="914400" y="6073421"/>
            <a:ext cx="2286000" cy="3245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600">
                <a:solidFill>
                  <a:srgbClr val="0B856E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OPEN RISKS</a:t>
            </a:r>
          </a:p>
        </p:txBody>
      </p:sp>
      <p:sp>
        <p:nvSpPr>
          <p:cNvPr id="312" name="unequal regional coverage  ·  share-count volume  ·  removed original Kaggle page  ·  no causal interpretation"/>
          <p:cNvSpPr txBox="1"/>
          <p:nvPr/>
        </p:nvSpPr>
        <p:spPr>
          <a:xfrm>
            <a:off x="914400" y="6657622"/>
            <a:ext cx="13716002" cy="8071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2200">
                <a:solidFill>
                  <a:srgbClr val="182E48"/>
                </a:solidFill>
                <a:latin typeface="Avenir Next Medium"/>
                <a:ea typeface="Avenir Next Medium"/>
                <a:cs typeface="Avenir Next Medium"/>
                <a:sym typeface="Avenir Next Medium"/>
              </a:defRPr>
            </a:lvl1pPr>
          </a:lstStyle>
          <a:p>
            <a:pPr/>
            <a:r>
              <a:t>unequal regional coverage  ·  share-count volume  ·  removed original Kaggle page  ·  no causal interpretation</a:t>
            </a:r>
          </a:p>
        </p:txBody>
      </p:sp>
      <p:sp>
        <p:nvSpPr>
          <p:cNvPr id="313" name="Success means the user can reproduce each headline and see where the evidence becomes uncertain."/>
          <p:cNvSpPr txBox="1"/>
          <p:nvPr/>
        </p:nvSpPr>
        <p:spPr>
          <a:xfrm>
            <a:off x="914400" y="7876822"/>
            <a:ext cx="14224000" cy="375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22576" tIns="22576" rIns="22576" bIns="22576" anchor="ctr">
            <a:spAutoFit/>
          </a:bodyPr>
          <a:lstStyle>
            <a:lvl1pPr>
              <a:defRPr sz="1900">
                <a:solidFill>
                  <a:srgbClr val="1973B7"/>
                </a:solidFill>
                <a:latin typeface="Avenir Next Demi Bold"/>
                <a:ea typeface="Avenir Next Demi Bold"/>
                <a:cs typeface="Avenir Next Demi Bold"/>
                <a:sym typeface="Avenir Next Demi Bold"/>
              </a:defRPr>
            </a:lvl1pPr>
          </a:lstStyle>
          <a:p>
            <a:pPr/>
            <a:r>
              <a:t>Success means the user can reproduce each headline and see where the evidence becomes uncertain.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l" defTabSz="550332" rtl="0" fontAlgn="auto" latinLnBrk="0" hangingPunct="0">
          <a:lnSpc>
            <a:spcPct val="100000"/>
          </a:lnSpc>
          <a:spcBef>
            <a:spcPts val="3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22576" tIns="22576" rIns="22576" bIns="22576" numCol="1" spcCol="38100" rtlCol="0" anchor="ctr" upright="0">
        <a:spAutoFit/>
      </a:bodyPr>
      <a:lstStyle>
        <a:defPPr marL="0" marR="0" indent="0" algn="l" defTabSz="550332" rtl="0" fontAlgn="auto" latinLnBrk="0" hangingPunct="0">
          <a:lnSpc>
            <a:spcPct val="100000"/>
          </a:lnSpc>
          <a:spcBef>
            <a:spcPts val="3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Helvetica Neue"/>
        <a:ea typeface="Helvetica Neue"/>
        <a:cs typeface="Helvetica Neue"/>
      </a:majorFont>
      <a:minorFont>
        <a:latin typeface="Helvetica"/>
        <a:ea typeface="Helvetica"/>
        <a:cs typeface="Helvetica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0" tIns="0" rIns="0" bIns="0" numCol="1" spcCol="38100" rtlCol="0" anchor="ctr" upright="0">
        <a:spAutoFit/>
      </a:bodyPr>
      <a:lstStyle>
        <a:defPPr marL="0" marR="0" indent="0" algn="l" defTabSz="550332" rtl="0" fontAlgn="auto" latinLnBrk="0" hangingPunct="0">
          <a:lnSpc>
            <a:spcPct val="100000"/>
          </a:lnSpc>
          <a:spcBef>
            <a:spcPts val="3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22576" tIns="22576" rIns="22576" bIns="22576" numCol="1" spcCol="38100" rtlCol="0" anchor="ctr" upright="0">
        <a:spAutoFit/>
      </a:bodyPr>
      <a:lstStyle>
        <a:defPPr marL="0" marR="0" indent="0" algn="l" defTabSz="550332" rtl="0" fontAlgn="auto" latinLnBrk="0" hangingPunct="0">
          <a:lnSpc>
            <a:spcPct val="100000"/>
          </a:lnSpc>
          <a:spcBef>
            <a:spcPts val="390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32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