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1pPr>
    <a:lvl2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2pPr>
    <a:lvl3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3pPr>
    <a:lvl4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4pPr>
    <a:lvl5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5pPr>
    <a:lvl6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6pPr>
    <a:lvl7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7pPr>
    <a:lvl8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8pPr>
    <a:lvl9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08-26T13:11:10.555"/>
    <p1510:client id="{82749425-D721-A27C-FF4A-A6060BC351AA}" v="56" dt="2026-08-26T16:07:47.8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t>Speaker: Mirthula M | Target: 0:20</a:t>
            </a:r>
          </a:p>
          <a:p>
            <a:r>
              <a:t>Open with the umbrella question. Explain that the project is not forecasting prices; it tests whether apparent diversification remains meaningful across technology groups and crisis periods.</a:t>
            </a:r>
          </a:p>
          <a:p>
            <a:endParaRPr/>
          </a:p>
          <a:p>
            <a:r>
              <a:t>[Sources]</a:t>
            </a:r>
          </a:p>
          <a:p>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xfrm>
            <a:off x="381000" y="685800"/>
            <a:ext cx="6096000" cy="3429000"/>
          </a:xfrm>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Speaker: Mirthula M | Target: 0:50</a:t>
            </a:r>
          </a:p>
          <a:p>
            <a:r>
              <a:t>Introduce the dataset through one row: date, ticker, opening price, adjusted closing price, and volume. Then explain the workflow briefly: Python cleaned, transformed, visualized, and tested the hypotheses; R replicated the analysis and prepared monthly summaries. Because currencies and price scales differ, comparisons use returns or index-to-100 values rather than raw prices.</a:t>
            </a:r>
          </a:p>
          <a:p>
            <a:endParaRPr/>
          </a:p>
          <a:p>
            <a:r>
              <a:t>[Sources]</a:t>
            </a:r>
          </a:p>
          <a:p>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t>Speaker: Mirthula M | Target: 0:55</a:t>
            </a:r>
          </a:p>
          <a:p>
            <a:r>
              <a:t>State each hypothesis before discussing the tests. H1 asks whether the selected chip/AI group outperformed the selected broader-tech group during the AI rally. H2 asks whether regional correlations increased during crises compared with calm years. H3 asks whether volatility and volume rose during panic periods. Together, they test whether apparent diversification becomes thinner during concentrated rallies and market stress.</a:t>
            </a:r>
          </a:p>
          <a:p>
            <a:r>
              <a:t>[Sources]</a:t>
            </a:r>
          </a:p>
          <a:p>
            <a:r>
              <a:t>Hypothesis definitions: assignment_3/analysis.ipynb, extra_credit_1/analysis.ipynb, and AGENTS.md.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noRot="1" noChangeAspect="1"/>
          </p:cNvSpPr>
          <p:nvPr>
            <p:ph type="sldImg"/>
          </p:nvPr>
        </p:nvSpPr>
        <p:spPr>
          <a:xfrm>
            <a:off x="381000" y="685800"/>
            <a:ext cx="6096000" cy="3429000"/>
          </a:xfrm>
          <a:prstGeom prst="rect">
            <a:avLst/>
          </a:prstGeom>
        </p:spPr>
        <p:txBody>
          <a:bodyPr/>
          <a:lstStyle/>
          <a:p>
            <a:endParaRPr/>
          </a:p>
        </p:txBody>
      </p:sp>
      <p:sp>
        <p:nvSpPr>
          <p:cNvPr id="211" name="Shape 211"/>
          <p:cNvSpPr>
            <a:spLocks noGrp="1"/>
          </p:cNvSpPr>
          <p:nvPr>
            <p:ph type="body" sz="quarter" idx="1"/>
          </p:nvPr>
        </p:nvSpPr>
        <p:spPr>
          <a:prstGeom prst="rect">
            <a:avLst/>
          </a:prstGeom>
        </p:spPr>
        <p:txBody>
          <a:bodyPr/>
          <a:lstStyle/>
          <a:p>
            <a:r>
              <a:t>Speaker: Mirthula M | Target: 0:55</a:t>
            </a:r>
          </a:p>
          <a:p>
            <a:r>
              <a:t>Explain the periods in plain language. The 2008 crisis followed a housing boom: falling home prices created mortgage losses, damaged banks, and disrupted credit markets worldwide. The 2020 crash was the sudden market selloff around the first COVID-19 lockdowns. The 2022 drawdown was slower and occurred amid high inflation and rapid interest-rate increases. We compare all three with calm 2015–2017. Correlation means how closely markets move together; volatility means the size of price movements; volume means the number of shares traded. H1 separately compares the selected technology baskets using indexed adjusted prices and mean daily returns. Then hand over to Karthikeyan.</a:t>
            </a:r>
          </a:p>
          <a:p>
            <a:r>
              <a:t>[Sources]</a:t>
            </a:r>
          </a:p>
          <a:p>
            <a:r>
              <a:t>Group and period definitions: assignment_3/analysis.ipynb and extra_credit_1/analysis.ipynb. 2008 crisis context: Federal Reserve History, https://www.federalreservehistory.org/essays/great-recession-and-its-aftermath. Preis et al. (2012): https://www.nature.com/articles/srep00752. Morningstar (2026): https://www.morningstar.com/stocks/three-years-ai-stock-market-boom-charts. J.P. Morgan (2026): https://www.jpmorgan.com/insights/markets-and-economy/top-market-takeaways/tmt-is-it-all-one-big-ai-trade.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noRot="1" noChangeAspect="1"/>
          </p:cNvSpPr>
          <p:nvPr>
            <p:ph type="sldImg"/>
          </p:nvPr>
        </p:nvSpPr>
        <p:spPr>
          <a:prstGeom prst="rect">
            <a:avLst/>
          </a:prstGeom>
        </p:spPr>
        <p:txBody>
          <a:bodyPr/>
          <a:lstStyle/>
          <a:p>
            <a:endParaRPr/>
          </a:p>
        </p:txBody>
      </p:sp>
      <p:sp>
        <p:nvSpPr>
          <p:cNvPr id="229" name="Shape 229"/>
          <p:cNvSpPr>
            <a:spLocks noGrp="1"/>
          </p:cNvSpPr>
          <p:nvPr>
            <p:ph type="body" sz="quarter" idx="1"/>
          </p:nvPr>
        </p:nvSpPr>
        <p:spPr>
          <a:prstGeom prst="rect">
            <a:avLst/>
          </a:prstGeom>
        </p:spPr>
        <p:txBody>
          <a:bodyPr/>
          <a:lstStyle/>
          <a:p>
            <a:r>
              <a:t>Speaker: Karthikeyan M | Target: 1:00</a:t>
            </a:r>
          </a:p>
          <a:p>
            <a:r>
              <a:t>Start with index-to-100: every stock begins at the same value, so the chart compares percentage growth rather than currencies or raw share prices. Adjusted Close is used because it accounts for splits and dividends. Then give the result: the selected chip/AI group gained about 549% on average versus about 168% for the selected broader-tech group. Mean daily returns were 0.26% versus 0.14%, and Welch p = 0.0073 indicates a statistically meaningful difference under this test. State the boundary carefully: this supports H1 for these selected groups; it does not prove the entire AI economy is narrow or establish causality.</a:t>
            </a:r>
          </a:p>
          <a:p>
            <a:endParaRPr/>
          </a:p>
          <a:p>
            <a:r>
              <a:t>[Sources]</a:t>
            </a:r>
          </a:p>
          <a:p>
            <a:r>
              <a:t>Chart: assignment_3/figures/figure_a_ai_rally.png. Statistical check: extra_credit_1 output. Local 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prstGeom prst="rect">
            <a:avLst/>
          </a:prstGeom>
        </p:spPr>
        <p:txBody>
          <a:bodyPr/>
          <a:lstStyle/>
          <a:p>
            <a:endParaRPr/>
          </a:p>
        </p:txBody>
      </p:sp>
      <p:sp>
        <p:nvSpPr>
          <p:cNvPr id="247" name="Shape 247"/>
          <p:cNvSpPr>
            <a:spLocks noGrp="1"/>
          </p:cNvSpPr>
          <p:nvPr>
            <p:ph type="body" sz="quarter" idx="1"/>
          </p:nvPr>
        </p:nvSpPr>
        <p:spPr>
          <a:prstGeom prst="rect">
            <a:avLst/>
          </a:prstGeom>
        </p:spPr>
        <p:txBody>
          <a:bodyPr/>
          <a:lstStyle/>
          <a:p>
            <a:r>
              <a:t>Speaker: Karthikeyan M | Target: 1:00</a:t>
            </a:r>
          </a:p>
          <a:p>
            <a:r>
              <a:t>Explain correlation simply: a value closer to 1 means regional returns move together, so they provide less protection from one another. The widened regional basket averaged about 0.282 in calm years, 0.326 in 2008, 0.539 in 2020, and 0.196 in 2022. Therefore, the evidence is strongest for the sudden 2020 crash. The higher 2008 value is supportive but more qualified. Keep the limitation visible: Paris still has one stock, while Korea and Switzerland remain sector-narrow, so this is not a universal law about every regional market.</a:t>
            </a:r>
          </a:p>
          <a:p>
            <a:endParaRPr/>
          </a:p>
          <a:p>
            <a:r>
              <a:t>[Sources]</a:t>
            </a:r>
          </a:p>
          <a:p>
            <a:r>
              <a:t>Chart: extra_credit_1/figures/ec1_f_widened_basket.png. Calculations use data/stock_data.csv and the widened-basket method documented in extra_credit_1.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prstGeom prst="rect">
            <a:avLst/>
          </a:prstGeom>
        </p:spPr>
        <p:txBody>
          <a:bodyPr/>
          <a:lstStyle/>
          <a:p>
            <a:endParaRPr/>
          </a:p>
        </p:txBody>
      </p:sp>
      <p:sp>
        <p:nvSpPr>
          <p:cNvPr id="262" name="Shape 262"/>
          <p:cNvSpPr>
            <a:spLocks noGrp="1"/>
          </p:cNvSpPr>
          <p:nvPr>
            <p:ph type="body" sz="quarter" idx="1"/>
          </p:nvPr>
        </p:nvSpPr>
        <p:spPr>
          <a:prstGeom prst="rect">
            <a:avLst/>
          </a:prstGeom>
        </p:spPr>
        <p:txBody>
          <a:bodyPr/>
          <a:lstStyle/>
          <a:p>
            <a:r>
              <a:t>Speaker: Karthikeyan M | Target: 1:00</a:t>
            </a:r>
          </a:p>
          <a:p>
            <a:r>
              <a:t>Define volatility here as the average absolute daily return within each month: larger values mean larger day-to-day price movements, regardless of direction. The R-based check found the largest monthly spikes in October 2008 at 4.82% and March 2020 at 4.67%. The regional analysis also found volume around 2.7 times the calm level in 2008 and 1.7 times in 2020, but only 0.9 times in 2022. Treat volume as supporting evidence because share-count volume is affected by splits and is not directly comparable across companies.</a:t>
            </a:r>
          </a:p>
          <a:p>
            <a:endParaRPr/>
          </a:p>
          <a:p>
            <a:r>
              <a:t>[Sources]</a:t>
            </a:r>
          </a:p>
          <a:p>
            <a:r>
              <a:t>Chart: assignment_5/part_2/figures/b2_monthly_absolute_return.png. Monthly bins created in R with lubridate::floor_date(); source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277"/>
          <p:cNvSpPr>
            <a:spLocks noGrp="1" noRot="1" noChangeAspect="1"/>
          </p:cNvSpPr>
          <p:nvPr>
            <p:ph type="sldImg"/>
          </p:nvPr>
        </p:nvSpPr>
        <p:spPr>
          <a:prstGeom prst="rect">
            <a:avLst/>
          </a:prstGeom>
        </p:spPr>
        <p:txBody>
          <a:bodyPr/>
          <a:lstStyle/>
          <a:p>
            <a:endParaRPr/>
          </a:p>
        </p:txBody>
      </p:sp>
      <p:sp>
        <p:nvSpPr>
          <p:cNvPr id="278" name="Shape 278"/>
          <p:cNvSpPr>
            <a:spLocks noGrp="1"/>
          </p:cNvSpPr>
          <p:nvPr>
            <p:ph type="body" sz="quarter" idx="1"/>
          </p:nvPr>
        </p:nvSpPr>
        <p:spPr>
          <a:prstGeom prst="rect">
            <a:avLst/>
          </a:prstGeom>
        </p:spPr>
        <p:txBody>
          <a:bodyPr/>
          <a:lstStyle/>
          <a:p>
            <a:r>
              <a:t>Speaker: Lakshmi Mayuri Kavya N | Target: 1:00</a:t>
            </a:r>
          </a:p>
          <a:p>
            <a:r>
              <a:t>This is a design lesson, not a new calculation. On a linear axis, equal vertical distances represent equal point changes, so the fastest-growing series compresses the others. On a log axis, equal vertical distances represent equal proportional changes, making percentage growth easier to compare. The underlying data and index-to-100 rebasing do not change. Direct labels also reduce the need to search between lines and a legend.</a:t>
            </a:r>
          </a:p>
          <a:p>
            <a:endParaRPr/>
          </a:p>
          <a:p>
            <a:r>
              <a:t>[Sources]</a:t>
            </a:r>
          </a:p>
          <a:p>
            <a:r>
              <a:t>Before/after charts: extra_credit_1/figures/ec1_a_before.png and extra_credit_1/figures/ec1_a_after.png. Both use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t>Speaker: Lakshmi Mayuri Kavya N | Target: 0:55</a:t>
            </a:r>
          </a:p>
          <a:p>
            <a:r>
              <a:t>Resolve the opening question directly. The dataset shows diversification, but technology gains and crisis co-movement make it thinner than the surface suggests. Finish with the boundary: this is descriptive evidence, not causal proof or a forecast.</a:t>
            </a:r>
          </a:p>
          <a:p>
            <a:endParaRPr/>
          </a:p>
          <a:p>
            <a:r>
              <a:t>[Sources]</a:t>
            </a:r>
          </a:p>
          <a:p>
            <a:r>
              <a:t>Synthesis of slides 7–9 using data/stock_data.csv and the cited project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Speaker: Lakshmi Mayuri Kavya N | Target: 0:50</a:t>
            </a:r>
          </a:p>
          <a:p>
            <a:r>
              <a:t>Describe the dashboard as the next analytical interface, not just a prettier report. The filters should let users change the group and period while retaining the same return, correlation, and volatility definitions.</a:t>
            </a:r>
          </a:p>
          <a:p>
            <a:endParaRPr/>
          </a:p>
          <a:p>
            <a:r>
              <a:t>[Sources]</a:t>
            </a:r>
          </a:p>
          <a:p>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499553" y="2545644"/>
            <a:ext cx="9256894" cy="2065871"/>
          </a:xfrm>
          <a:prstGeom prst="rect">
            <a:avLst/>
          </a:prstGeom>
        </p:spPr>
        <p:txBody>
          <a:bodyPr anchor="b"/>
          <a:lstStyle/>
          <a:p>
            <a:r>
              <a:t>Title Text</a:t>
            </a:r>
          </a:p>
        </p:txBody>
      </p:sp>
      <p:sp>
        <p:nvSpPr>
          <p:cNvPr id="12" name="Body Level One…"/>
          <p:cNvSpPr txBox="1">
            <a:spLocks noGrp="1"/>
          </p:cNvSpPr>
          <p:nvPr>
            <p:ph type="body" sz="quarter" idx="1"/>
          </p:nvPr>
        </p:nvSpPr>
        <p:spPr>
          <a:xfrm>
            <a:off x="3499553" y="4667953"/>
            <a:ext cx="9256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sz="half" idx="21"/>
          </p:nvPr>
        </p:nvSpPr>
        <p:spPr>
          <a:xfrm>
            <a:off x="4098652" y="1349022"/>
            <a:ext cx="8060268" cy="5373512"/>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2991554" y="5751688"/>
            <a:ext cx="10272894" cy="891827"/>
          </a:xfrm>
          <a:prstGeom prst="rect">
            <a:avLst/>
          </a:prstGeom>
        </p:spPr>
        <p:txBody>
          <a:bodyPr anchor="b"/>
          <a:lstStyle/>
          <a:p>
            <a:r>
              <a:t>Title Text</a:t>
            </a:r>
          </a:p>
        </p:txBody>
      </p:sp>
      <p:sp>
        <p:nvSpPr>
          <p:cNvPr id="22" name="Body Level One…"/>
          <p:cNvSpPr txBox="1">
            <a:spLocks noGrp="1"/>
          </p:cNvSpPr>
          <p:nvPr>
            <p:ph type="body" sz="quarter" idx="1"/>
          </p:nvPr>
        </p:nvSpPr>
        <p:spPr>
          <a:xfrm>
            <a:off x="2991554" y="6609643"/>
            <a:ext cx="10272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3499553" y="3539066"/>
            <a:ext cx="9256894" cy="2065871"/>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quarter" idx="21"/>
          </p:nvPr>
        </p:nvSpPr>
        <p:spPr>
          <a:xfrm>
            <a:off x="8410222" y="1947333"/>
            <a:ext cx="5096937" cy="5096934"/>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3443108" y="1947333"/>
            <a:ext cx="4543782" cy="2466626"/>
          </a:xfrm>
          <a:prstGeom prst="rect">
            <a:avLst/>
          </a:prstGeom>
        </p:spPr>
        <p:txBody>
          <a:bodyPr anchor="b"/>
          <a:lstStyle>
            <a:lvl1pPr>
              <a:defRPr sz="5600"/>
            </a:lvl1pPr>
          </a:lstStyle>
          <a:p>
            <a:r>
              <a:t>Title Text</a:t>
            </a:r>
          </a:p>
        </p:txBody>
      </p:sp>
      <p:sp>
        <p:nvSpPr>
          <p:cNvPr id="40" name="Body Level One…"/>
          <p:cNvSpPr txBox="1">
            <a:spLocks noGrp="1"/>
          </p:cNvSpPr>
          <p:nvPr>
            <p:ph type="body" sz="quarter" idx="1"/>
          </p:nvPr>
        </p:nvSpPr>
        <p:spPr>
          <a:xfrm>
            <a:off x="3443108" y="4425243"/>
            <a:ext cx="4543782" cy="254564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half" idx="1"/>
          </p:nvPr>
        </p:nvSpPr>
        <p:spPr>
          <a:xfrm>
            <a:off x="3460043" y="2923819"/>
            <a:ext cx="9335914" cy="413173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quarter" idx="21"/>
          </p:nvPr>
        </p:nvSpPr>
        <p:spPr>
          <a:xfrm>
            <a:off x="7580486" y="2923819"/>
            <a:ext cx="6197606" cy="4131738"/>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sz="half" idx="1"/>
          </p:nvPr>
        </p:nvSpPr>
        <p:spPr>
          <a:xfrm>
            <a:off x="3460043" y="2314219"/>
            <a:ext cx="9335914" cy="4515562"/>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Sandy path between two hills leading to the ocean"/>
          <p:cNvSpPr>
            <a:spLocks noGrp="1"/>
          </p:cNvSpPr>
          <p:nvPr>
            <p:ph type="pic" sz="quarter" idx="21"/>
          </p:nvPr>
        </p:nvSpPr>
        <p:spPr>
          <a:xfrm>
            <a:off x="9509476" y="4656666"/>
            <a:ext cx="3699938" cy="2466627"/>
          </a:xfrm>
          <a:prstGeom prst="rect">
            <a:avLst/>
          </a:prstGeom>
        </p:spPr>
        <p:txBody>
          <a:bodyPr lIns="91439" tIns="45719" rIns="91439" bIns="45719">
            <a:noAutofit/>
          </a:bodyPr>
          <a:lstStyle/>
          <a:p>
            <a:endParaRPr/>
          </a:p>
        </p:txBody>
      </p:sp>
      <p:sp>
        <p:nvSpPr>
          <p:cNvPr id="102" name="Heron flying low over a beach with a short fence in the foreground"/>
          <p:cNvSpPr>
            <a:spLocks noGrp="1"/>
          </p:cNvSpPr>
          <p:nvPr>
            <p:ph type="pic" sz="quarter" idx="22"/>
          </p:nvPr>
        </p:nvSpPr>
        <p:spPr>
          <a:xfrm>
            <a:off x="9714086" y="1907819"/>
            <a:ext cx="3290716" cy="3290717"/>
          </a:xfrm>
          <a:prstGeom prst="rect">
            <a:avLst/>
          </a:prstGeom>
        </p:spPr>
        <p:txBody>
          <a:bodyPr lIns="91439" tIns="45719" rIns="91439" bIns="45719">
            <a:noAutofit/>
          </a:bodyPr>
          <a:lstStyle/>
          <a:p>
            <a:endParaRPr/>
          </a:p>
        </p:txBody>
      </p:sp>
      <p:sp>
        <p:nvSpPr>
          <p:cNvPr id="103" name="View of beach and sea from a grassy sand dune"/>
          <p:cNvSpPr>
            <a:spLocks noGrp="1"/>
          </p:cNvSpPr>
          <p:nvPr>
            <p:ph type="pic" sz="half" idx="23"/>
          </p:nvPr>
        </p:nvSpPr>
        <p:spPr>
          <a:xfrm>
            <a:off x="2269064" y="2026354"/>
            <a:ext cx="7645404" cy="5096937"/>
          </a:xfrm>
          <a:prstGeom prst="rect">
            <a:avLst/>
          </a:prstGeom>
        </p:spPr>
        <p:txBody>
          <a:bodyPr lIns="91439" tIns="45719" rIns="91439" bIns="45719">
            <a:noAutofit/>
          </a:bodyPr>
          <a:lstStyle/>
          <a:p>
            <a:endParaRP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Body Level One…"/>
          <p:cNvSpPr txBox="1">
            <a:spLocks noGrp="1"/>
          </p:cNvSpPr>
          <p:nvPr>
            <p:ph type="body" sz="quarter" idx="1"/>
          </p:nvPr>
        </p:nvSpPr>
        <p:spPr>
          <a:xfrm>
            <a:off x="3770488" y="5503333"/>
            <a:ext cx="8720668" cy="342847"/>
          </a:xfrm>
          <a:prstGeom prst="rect">
            <a:avLst/>
          </a:prstGeom>
        </p:spPr>
        <p:txBody>
          <a:bodyPr/>
          <a:lstStyle>
            <a:lvl1pPr>
              <a:defRPr sz="2000" i="1"/>
            </a:lvl1pPr>
            <a:lvl2pPr>
              <a:defRPr sz="2000" i="1"/>
            </a:lvl2pPr>
            <a:lvl3pPr>
              <a:defRPr sz="2000" i="1"/>
            </a:lvl3pPr>
            <a:lvl4pPr>
              <a:defRPr sz="2000" i="1"/>
            </a:lvl4pPr>
            <a:lvl5pPr>
              <a:defRPr sz="2000" i="1"/>
            </a:lvl5pPr>
          </a:lstStyle>
          <a:p>
            <a:r>
              <a:t>Body Level One</a:t>
            </a:r>
          </a:p>
          <a:p>
            <a:pPr lvl="1"/>
            <a:r>
              <a:t>Body Level Two</a:t>
            </a:r>
          </a:p>
          <a:p>
            <a:pPr lvl="2"/>
            <a:r>
              <a:t>Body Level Three</a:t>
            </a:r>
          </a:p>
          <a:p>
            <a:pPr lvl="3"/>
            <a:r>
              <a:t>Body Level Four</a:t>
            </a:r>
          </a:p>
          <a:p>
            <a:pPr lvl="4"/>
            <a:r>
              <a:t>Body Level Five</a:t>
            </a:r>
          </a:p>
        </p:txBody>
      </p:sp>
      <p:sp>
        <p:nvSpPr>
          <p:cNvPr id="112" name="“Type a quote here.”"/>
          <p:cNvSpPr txBox="1">
            <a:spLocks noGrp="1"/>
          </p:cNvSpPr>
          <p:nvPr>
            <p:ph type="body" sz="quarter" idx="21"/>
          </p:nvPr>
        </p:nvSpPr>
        <p:spPr>
          <a:xfrm>
            <a:off x="3770488" y="4143976"/>
            <a:ext cx="8720668" cy="528671"/>
          </a:xfrm>
          <a:prstGeom prst="rect">
            <a:avLst/>
          </a:prstGeom>
        </p:spPr>
        <p:txBody>
          <a:bodyPr anchor="ctr"/>
          <a:lstStyle/>
          <a:p>
            <a:endParaRP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View of beach and sea from a grassy sand dune"/>
          <p:cNvSpPr>
            <a:spLocks noGrp="1"/>
          </p:cNvSpPr>
          <p:nvPr>
            <p:ph type="pic" idx="21"/>
          </p:nvPr>
        </p:nvSpPr>
        <p:spPr>
          <a:xfrm>
            <a:off x="2686754" y="959554"/>
            <a:ext cx="10882494" cy="7254996"/>
          </a:xfrm>
          <a:prstGeom prst="rect">
            <a:avLst/>
          </a:prstGeom>
        </p:spPr>
        <p:txBody>
          <a:bodyPr lIns="91439" tIns="45719" rIns="91439" bIns="45719">
            <a:noAutofit/>
          </a:bodyPr>
          <a:lstStyle/>
          <a:p>
            <a:endParaRP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460043" y="1682044"/>
            <a:ext cx="9335914" cy="10160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normAutofit/>
          </a:bodyPr>
          <a:lstStyle/>
          <a:p>
            <a:r>
              <a:t>Title Text</a:t>
            </a:r>
          </a:p>
        </p:txBody>
      </p:sp>
      <p:sp>
        <p:nvSpPr>
          <p:cNvPr id="3" name="Body Level One…"/>
          <p:cNvSpPr txBox="1">
            <a:spLocks noGrp="1"/>
          </p:cNvSpPr>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983271" y="7337776"/>
            <a:ext cx="283812"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r>
              <a:t>Historical Stock Analysis</a:t>
            </a:r>
          </a:p>
        </p:txBody>
      </p:sp>
      <p:sp>
        <p:nvSpPr>
          <p:cNvPr id="139" name="Does diversification survive a closer look?"/>
          <p:cNvSpPr txBox="1"/>
          <p:nvPr/>
        </p:nvSpPr>
        <p:spPr>
          <a:xfrm>
            <a:off x="914397" y="2688869"/>
            <a:ext cx="11684007"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r>
              <a:t>Does diversification survive a closer look?</a:t>
            </a:r>
          </a:p>
        </p:txBody>
      </p:sp>
      <p:sp>
        <p:nvSpPr>
          <p:cNvPr id="140" name="230,111"/>
          <p:cNvSpPr txBox="1"/>
          <p:nvPr/>
        </p:nvSpPr>
        <p:spPr>
          <a:xfrm>
            <a:off x="914397" y="4358921"/>
            <a:ext cx="3302006"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r>
              <a:t>20 years</a:t>
            </a:r>
          </a:p>
        </p:txBody>
      </p:sp>
      <p:sp>
        <p:nvSpPr>
          <p:cNvPr id="145" name="2006–2026"/>
          <p:cNvSpPr txBox="1"/>
          <p:nvPr/>
        </p:nvSpPr>
        <p:spPr>
          <a:xfrm>
            <a:off x="8762999" y="5190771"/>
            <a:ext cx="2794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r>
              <a:t>●</a:t>
            </a:r>
          </a:p>
        </p:txBody>
      </p:sp>
      <p:sp>
        <p:nvSpPr>
          <p:cNvPr id="148" name="●"/>
          <p:cNvSpPr txBox="1"/>
          <p:nvPr/>
        </p:nvSpPr>
        <p:spPr>
          <a:xfrm>
            <a:off x="14909800" y="2009419"/>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r>
              <a:t>●</a:t>
            </a:r>
          </a:p>
        </p:txBody>
      </p:sp>
      <p:sp>
        <p:nvSpPr>
          <p:cNvPr id="149" name="●"/>
          <p:cNvSpPr txBox="1"/>
          <p:nvPr/>
        </p:nvSpPr>
        <p:spPr>
          <a:xfrm>
            <a:off x="14325598" y="2542819"/>
            <a:ext cx="508004"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INTRODUCTION</a:t>
            </a:r>
          </a:p>
        </p:txBody>
      </p:sp>
      <p:sp>
        <p:nvSpPr>
          <p:cNvPr id="156" name="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What we analyzed and how</a:t>
            </a:r>
          </a:p>
        </p:txBody>
      </p:sp>
      <p:sp>
        <p:nvSpPr>
          <p:cNvPr id="158" name="The file combines price, return-ready closing values, and trading activity."/>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230,111 daily company records; Python tested the hypotheses and R replicated the monthly analysis.</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2</a:t>
            </a:r>
          </a:p>
        </p:txBody>
      </p:sp>
      <p:sp>
        <p:nvSpPr>
          <p:cNvPr id="161" name="230,111 rows"/>
          <p:cNvSpPr txBox="1"/>
          <p:nvPr/>
        </p:nvSpPr>
        <p:spPr>
          <a:xfrm>
            <a:off x="9144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r>
              <a:t>230,111 rows</a:t>
            </a:r>
          </a:p>
        </p:txBody>
      </p:sp>
      <p:sp>
        <p:nvSpPr>
          <p:cNvPr id="162" name="8 columns"/>
          <p:cNvSpPr txBox="1"/>
          <p:nvPr/>
        </p:nvSpPr>
        <p:spPr>
          <a:xfrm>
            <a:off x="4445000" y="2320569"/>
            <a:ext cx="2286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r>
              <a:t>8 columns</a:t>
            </a:r>
          </a:p>
        </p:txBody>
      </p:sp>
      <p:sp>
        <p:nvSpPr>
          <p:cNvPr id="163" name="0 missing values"/>
          <p:cNvSpPr txBox="1"/>
          <p:nvPr/>
        </p:nvSpPr>
        <p:spPr>
          <a:xfrm>
            <a:off x="72390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r>
              <a:t>0 missing values</a:t>
            </a:r>
          </a:p>
        </p:txBody>
      </p:sp>
      <p:sp>
        <p:nvSpPr>
          <p:cNvPr id="164" name="2006-01-02 → 2026-02-20"/>
          <p:cNvSpPr txBox="1"/>
          <p:nvPr/>
        </p:nvSpPr>
        <p:spPr>
          <a:xfrm>
            <a:off x="10795000" y="2403119"/>
            <a:ext cx="4445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2006-01-02 → 2026-02-20</a:t>
            </a:r>
          </a:p>
        </p:txBody>
      </p:sp>
      <p:graphicFrame>
        <p:nvGraphicFramePr>
          <p:cNvPr id="165" name="Table 1"/>
          <p:cNvGraphicFramePr/>
          <p:nvPr>
            <p:extLst>
              <p:ext uri="{D42A27DB-BD31-4B8C-83A1-F6EECF244321}">
                <p14:modId xmlns:p14="http://schemas.microsoft.com/office/powerpoint/2010/main" val="3482196079"/>
              </p:ext>
            </p:extLst>
          </p:nvPr>
        </p:nvGraphicFramePr>
        <p:xfrm>
          <a:off x="914400" y="3149600"/>
          <a:ext cx="14427197" cy="4013200"/>
        </p:xfrm>
        <a:graphic>
          <a:graphicData uri="http://schemas.openxmlformats.org/drawingml/2006/table">
            <a:tbl>
              <a:tblPr firstRow="1" bandRow="1">
                <a:tableStyleId>{4C3C2611-4C71-4FC5-86AE-919BDF0F9419}</a:tableStyleId>
              </a:tblPr>
              <a:tblGrid>
                <a:gridCol w="3047999">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997199">
                  <a:extLst>
                    <a:ext uri="{9D8B030D-6E8A-4147-A177-3AD203B41FA5}">
                      <a16:colId xmlns:a16="http://schemas.microsoft.com/office/drawing/2014/main" val="20003"/>
                    </a:ext>
                  </a:extLst>
                </a:gridCol>
                <a:gridCol w="3047999">
                  <a:extLst>
                    <a:ext uri="{9D8B030D-6E8A-4147-A177-3AD203B41FA5}">
                      <a16:colId xmlns:a16="http://schemas.microsoft.com/office/drawing/2014/main" val="20004"/>
                    </a:ext>
                  </a:extLst>
                </a:gridCol>
              </a:tblGrid>
              <a:tr h="1003300">
                <a:tc>
                  <a:txBody>
                    <a:bodyPr/>
                    <a:lstStyle/>
                    <a:p>
                      <a:pPr lvl="0" defTabSz="914400">
                        <a:buNone/>
                        <a:defRPr sz="1800" b="0">
                          <a:solidFill>
                            <a:srgbClr val="000000"/>
                          </a:solidFill>
                        </a:defRPr>
                      </a:pPr>
                      <a:r>
                        <a:rPr lang="en-US" sz="1600">
                          <a:solidFill>
                            <a:srgbClr val="182E48"/>
                          </a:solidFill>
                          <a:latin typeface="Avenir Next Regular"/>
                        </a:rPr>
                        <a:t>Date</a:t>
                      </a:r>
                      <a:endParaRPr>
                        <a:sym typeface="Avenir Next Regular"/>
                      </a:endParaRPr>
                    </a:p>
                  </a:txBody>
                  <a:tcPr marL="50800" marR="50800" marT="50800" marB="50800" anchor="ctr" horzOverflow="overflow">
                    <a:solidFill>
                      <a:srgbClr val="FFFFFF"/>
                    </a:solidFill>
                  </a:tcPr>
                </a:tc>
                <a:tc>
                  <a:txBody>
                    <a:bodyPr/>
                    <a:lstStyle/>
                    <a:p>
                      <a:pPr lvl="0" defTabSz="914400">
                        <a:buNone/>
                        <a:defRPr sz="1800" b="0">
                          <a:solidFill>
                            <a:srgbClr val="000000"/>
                          </a:solidFill>
                        </a:defRPr>
                      </a:pPr>
                      <a:r>
                        <a:rPr lang="en-US" sz="1600">
                          <a:solidFill>
                            <a:srgbClr val="182E48"/>
                          </a:solidFill>
                          <a:latin typeface="Avenir Next Regular"/>
                        </a:rPr>
                        <a:t>Ticker</a:t>
                      </a:r>
                      <a:endParaRPr>
                        <a:sym typeface="Avenir Next Regular"/>
                      </a:endParaRPr>
                    </a:p>
                  </a:txBody>
                  <a:tcPr marL="50800" marR="50800" marT="50800" marB="50800" anchor="ctr" horzOverflow="overflow">
                    <a:solidFill>
                      <a:srgbClr val="FFFFFF"/>
                    </a:solidFill>
                  </a:tcPr>
                </a:tc>
                <a:tc>
                  <a:txBody>
                    <a:bodyPr/>
                    <a:lstStyle/>
                    <a:p>
                      <a:pPr lvl="0" defTabSz="914400">
                        <a:buNone/>
                        <a:defRPr sz="1800" b="0">
                          <a:solidFill>
                            <a:srgbClr val="000000"/>
                          </a:solidFill>
                        </a:defRPr>
                      </a:pPr>
                      <a:r>
                        <a:rPr lang="en-US" sz="1600">
                          <a:solidFill>
                            <a:srgbClr val="182E48"/>
                          </a:solidFill>
                          <a:latin typeface="Avenir Next Regular"/>
                        </a:rPr>
                        <a:t>Open</a:t>
                      </a:r>
                      <a:endParaRPr>
                        <a:sym typeface="Avenir Next Regular"/>
                      </a:endParaRPr>
                    </a:p>
                  </a:txBody>
                  <a:tcPr marL="50800" marR="50800" marT="50800" marB="50800" anchor="ctr" horzOverflow="overflow">
                    <a:solidFill>
                      <a:srgbClr val="FFFFFF"/>
                    </a:solidFill>
                  </a:tcPr>
                </a:tc>
                <a:tc>
                  <a:txBody>
                    <a:bodyPr/>
                    <a:lstStyle/>
                    <a:p>
                      <a:pPr lvl="0">
                        <a:buNone/>
                      </a:pPr>
                      <a:r>
                        <a:rPr lang="en-US" sz="1600">
                          <a:solidFill>
                            <a:srgbClr val="182E48"/>
                          </a:solidFill>
                          <a:latin typeface="Avenir Next Regular"/>
                        </a:rPr>
                        <a:t>Adj Close</a:t>
                      </a:r>
                      <a:endParaRPr>
                        <a:sym typeface="Avenir Next Regular"/>
                      </a:endParaRPr>
                    </a:p>
                  </a:txBody>
                  <a:tcPr marL="50800" marR="50800" marT="50800" marB="50800" anchor="ctr" horzOverflow="overflow">
                    <a:solidFill>
                      <a:srgbClr val="FFFFFF"/>
                    </a:solidFill>
                  </a:tcPr>
                </a:tc>
                <a:tc>
                  <a:txBody>
                    <a:bodyPr/>
                    <a:lstStyle/>
                    <a:p>
                      <a:pPr lvl="0" defTabSz="914400">
                        <a:buNone/>
                        <a:defRPr sz="1800" b="0">
                          <a:solidFill>
                            <a:srgbClr val="000000"/>
                          </a:solidFill>
                        </a:defRPr>
                      </a:pPr>
                      <a:r>
                        <a:rPr lang="en-US" sz="1600">
                          <a:solidFill>
                            <a:srgbClr val="182E48"/>
                          </a:solidFill>
                          <a:latin typeface="Avenir Next Regular"/>
                        </a:rPr>
                        <a:t>Volume</a:t>
                      </a:r>
                      <a:endParaRPr>
                        <a:sym typeface="Avenir Next Regular"/>
                      </a:endParaRPr>
                    </a:p>
                  </a:txBody>
                  <a:tcPr marL="50800" marR="50800" marT="50800" marB="50800" anchor="ctr" horzOverflow="overflow">
                    <a:solidFill>
                      <a:srgbClr val="FFFFFF"/>
                    </a:solidFill>
                  </a:tcPr>
                </a:tc>
                <a:extLst>
                  <a:ext uri="{0D108BD9-81ED-4DB2-BD59-A6C34878D82A}">
                    <a16:rowId xmlns:a16="http://schemas.microsoft.com/office/drawing/2014/main" val="10000"/>
                  </a:ext>
                </a:extLst>
              </a:tr>
              <a:tr h="1003300">
                <a:tc>
                  <a:txBody>
                    <a:bodyPr/>
                    <a:lstStyle/>
                    <a:p>
                      <a:pPr lvl="0" defTabSz="914400">
                        <a:buNone/>
                        <a:defRPr sz="1800"/>
                      </a:pPr>
                      <a:r>
                        <a:rPr lang="en-US" sz="1600">
                          <a:solidFill>
                            <a:srgbClr val="182E48"/>
                          </a:solidFill>
                          <a:latin typeface="Avenir Next Regular"/>
                          <a:ea typeface="Avenir Next Regular"/>
                          <a:cs typeface="Avenir Next Regular"/>
                        </a:rPr>
                        <a:t>2026-02-20</a:t>
                      </a:r>
                      <a:endParaRPr sz="1600">
                        <a:solidFill>
                          <a:srgbClr val="182E48"/>
                        </a:solidFill>
                        <a:latin typeface="Avenir Next Regular"/>
                        <a:ea typeface="Avenir Next Regular"/>
                        <a:cs typeface="Avenir Next Regula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AAPL</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258.97</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264.58</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4,20,44,900</a:t>
                      </a:r>
                      <a:endParaRPr>
                        <a:sym typeface="Avenir Next Regular"/>
                      </a:endParaRPr>
                    </a:p>
                  </a:txBody>
                  <a:tcPr marL="50800" marR="50800" marT="50800" marB="50800" anchor="ctr" horzOverflow="overflow"/>
                </a:tc>
                <a:extLst>
                  <a:ext uri="{0D108BD9-81ED-4DB2-BD59-A6C34878D82A}">
                    <a16:rowId xmlns:a16="http://schemas.microsoft.com/office/drawing/2014/main" val="10001"/>
                  </a:ext>
                </a:extLst>
              </a:tr>
              <a:tr h="1003300">
                <a:tc>
                  <a:txBody>
                    <a:bodyPr/>
                    <a:lstStyle/>
                    <a:p>
                      <a:pPr lvl="0" defTabSz="914400">
                        <a:buNone/>
                        <a:defRPr sz="1800"/>
                      </a:pPr>
                      <a:r>
                        <a:rPr lang="en-US" sz="1600">
                          <a:solidFill>
                            <a:srgbClr val="182E48"/>
                          </a:solidFill>
                          <a:latin typeface="Avenir Next Regular"/>
                        </a:rPr>
                        <a:t>2026-02-20</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005930.KS</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1,90,000</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1,90,100</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2,42,13,880</a:t>
                      </a:r>
                      <a:endParaRPr>
                        <a:sym typeface="Avenir Next Regular"/>
                      </a:endParaRPr>
                    </a:p>
                  </a:txBody>
                  <a:tcPr marL="50800" marR="50800" marT="50800" marB="50800" anchor="ctr" horzOverflow="overflow"/>
                </a:tc>
                <a:extLst>
                  <a:ext uri="{0D108BD9-81ED-4DB2-BD59-A6C34878D82A}">
                    <a16:rowId xmlns:a16="http://schemas.microsoft.com/office/drawing/2014/main" val="10002"/>
                  </a:ext>
                </a:extLst>
              </a:tr>
              <a:tr h="1003300">
                <a:tc>
                  <a:txBody>
                    <a:bodyPr/>
                    <a:lstStyle/>
                    <a:p>
                      <a:pPr lvl="0" defTabSz="914400">
                        <a:buNone/>
                        <a:defRPr sz="1800"/>
                      </a:pPr>
                      <a:r>
                        <a:rPr lang="en-US" sz="1600">
                          <a:solidFill>
                            <a:srgbClr val="182E48"/>
                          </a:solidFill>
                          <a:latin typeface="Avenir Next Regular"/>
                        </a:rPr>
                        <a:t>2026-02-20</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MC.PA</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541.40</a:t>
                      </a:r>
                      <a:endParaRPr>
                        <a:sym typeface="Avenir Next Regular"/>
                      </a:endParaRPr>
                    </a:p>
                  </a:txBody>
                  <a:tcPr marL="50800" marR="50800" marT="50800" marB="50800" anchor="ctr" horzOverflow="overflow"/>
                </a:tc>
                <a:tc>
                  <a:txBody>
                    <a:bodyPr/>
                    <a:lstStyle/>
                    <a:p>
                      <a:pPr lvl="0" defTabSz="914400">
                        <a:buNone/>
                        <a:defRPr sz="1800"/>
                      </a:pPr>
                      <a:r>
                        <a:rPr lang="en-US" sz="1600">
                          <a:solidFill>
                            <a:srgbClr val="182E48"/>
                          </a:solidFill>
                          <a:latin typeface="Avenir Next Regular"/>
                        </a:rPr>
                        <a:t>554.70</a:t>
                      </a:r>
                      <a:endParaRPr>
                        <a:sym typeface="Avenir Next Regular"/>
                      </a:endParaRPr>
                    </a:p>
                  </a:txBody>
                  <a:tcPr marL="50800" marR="50800" marT="50800" marB="50800" anchor="ctr" horzOverflow="overflow"/>
                </a:tc>
                <a:tc>
                  <a:txBody>
                    <a:bodyPr/>
                    <a:lstStyle/>
                    <a:p>
                      <a:pPr defTabSz="914400">
                        <a:defRPr sz="1800"/>
                      </a:pPr>
                      <a:r>
                        <a:rPr lang="en-US" sz="1600">
                          <a:solidFill>
                            <a:srgbClr val="182E48"/>
                          </a:solidFill>
                          <a:latin typeface="Avenir Next Regular"/>
                          <a:ea typeface="Avenir Next Regular"/>
                          <a:cs typeface="Avenir Next Regular"/>
                        </a:rPr>
                        <a:t>9,29,807</a:t>
                      </a:r>
                      <a:endParaRPr sz="1600">
                        <a:solidFill>
                          <a:srgbClr val="182E48"/>
                        </a:solidFill>
                        <a:latin typeface="Avenir Next Regular"/>
                        <a:ea typeface="Avenir Next Regular"/>
                        <a:cs typeface="Avenir Next Regular"/>
                        <a:sym typeface="Avenir Next Regular"/>
                      </a:endParaRPr>
                    </a:p>
                  </a:txBody>
                  <a:tcPr marL="50800" marR="50800" marT="50800" marB="50800" anchor="ctr" horzOverflow="overflow"/>
                </a:tc>
                <a:extLst>
                  <a:ext uri="{0D108BD9-81ED-4DB2-BD59-A6C34878D82A}">
                    <a16:rowId xmlns:a16="http://schemas.microsoft.com/office/drawing/2014/main" val="10003"/>
                  </a:ext>
                </a:extLst>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D06F21"/>
                </a:solidFill>
                <a:latin typeface="Avenir Next Medium"/>
                <a:ea typeface="Avenir Next Medium"/>
                <a:cs typeface="Avenir Next Medium"/>
                <a:sym typeface="Avenir Next Medium"/>
              </a:defRPr>
            </a:lvl1pPr>
          </a:lstStyle>
          <a:p>
            <a:r>
              <a:t>Returns and index-to-100 values make currencies and price scales comparable.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3</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Three hypotheses guide the analysis</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Each hypothesis tests one part of the same diversification question.</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SETUP</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3</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H1 · AI-rally concentration</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will outperform the selected broader-tech group during the AI rally.</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H2 · Regional diversification during crises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regional correlations will be higher in crisis periods than in calm years.</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H3 · Volatility and volume during panic periods</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Volatility and trading volume will rise during panic periods relative to the calm baseline.</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Together, H1 tests concentration; H2 and H3 test whether diversification weakens under stress.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  APPENDIX"/>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189" name="14"/>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4</a:t>
            </a:r>
          </a:p>
        </p:txBody>
      </p:sp>
      <p:sp>
        <p:nvSpPr>
          <p:cNvPr id="190" name="Definitions behind the headline results"/>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How we test the three hypotheses</a:t>
            </a:r>
          </a:p>
        </p:txBody>
      </p:sp>
      <p:sp>
        <p:nvSpPr>
          <p:cNvPr id="191" name="These choices keep each claim reproducible and appropriately narrow."/>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One technology comparison and three crisis measures, using adjusted prices.</a:t>
            </a:r>
          </a:p>
        </p:txBody>
      </p:sp>
      <p:sp>
        <p:nvSpPr>
          <p:cNvPr id="192" name="HISTORICAL STOCK ANALYSIS  /  APPENDIX"/>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r>
              <a:t>HISTORICAL STOCK ANALYSIS  /  HYPOTHESIS SETUP</a:t>
            </a:r>
          </a:p>
        </p:txBody>
      </p:sp>
      <p:sp>
        <p:nvSpPr>
          <p:cNvPr id="193" name="1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4</a:t>
            </a:r>
          </a:p>
        </p:txBody>
      </p:sp>
      <p:sp>
        <p:nvSpPr>
          <p:cNvPr id="194" name="H1 GROUPS"/>
          <p:cNvSpPr txBox="1"/>
          <p:nvPr/>
        </p:nvSpPr>
        <p:spPr>
          <a:xfrm>
            <a:off x="914398" y="2593620"/>
            <a:ext cx="3302005"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r>
              <a:t>TECHNOLOGY GROUPS</a:t>
            </a:r>
          </a:p>
        </p:txBody>
      </p:sp>
      <p:sp>
        <p:nvSpPr>
          <p:cNvPr id="195" name="Chip / AI"/>
          <p:cNvSpPr txBox="1"/>
          <p:nvPr/>
        </p:nvSpPr>
        <p:spPr>
          <a:xfrm>
            <a:off x="914400" y="3095269"/>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Chip / AI</a:t>
            </a:r>
          </a:p>
        </p:txBody>
      </p:sp>
      <p:sp>
        <p:nvSpPr>
          <p:cNvPr id="196" name="NVDA · AVGO · TSM · ASML · AMD · MU · LRCX"/>
          <p:cNvSpPr txBox="1"/>
          <p:nvPr/>
        </p:nvSpPr>
        <p:spPr>
          <a:xfrm>
            <a:off x="914400" y="3781071"/>
            <a:ext cx="6350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NVDA · AVGO · TSM · ASML · AMD · MU · LRCX</a:t>
            </a:r>
          </a:p>
        </p:txBody>
      </p:sp>
      <p:sp>
        <p:nvSpPr>
          <p:cNvPr id="197" name="Broader tech"/>
          <p:cNvSpPr txBox="1"/>
          <p:nvPr/>
        </p:nvSpPr>
        <p:spPr>
          <a:xfrm>
            <a:off x="914400" y="4695471"/>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Broader tech</a:t>
            </a:r>
          </a:p>
        </p:txBody>
      </p:sp>
      <p:sp>
        <p:nvSpPr>
          <p:cNvPr id="198" name="AAPL · MSFT · GOOGL · AMZN · META · NFLX · ORCL · CSCO"/>
          <p:cNvSpPr txBox="1"/>
          <p:nvPr/>
        </p:nvSpPr>
        <p:spPr>
          <a:xfrm>
            <a:off x="914400" y="5393971"/>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AAPL · MSFT · GOOGL · AMZN · META · NFLX · ORCL · CSCO</a:t>
            </a:r>
          </a:p>
        </p:txBody>
      </p:sp>
      <p:sp>
        <p:nvSpPr>
          <p:cNvPr id="199" name="Indexed value = 100 × Adj Close / Adj Close on shared start date"/>
          <p:cNvSpPr txBox="1"/>
          <p:nvPr/>
        </p:nvSpPr>
        <p:spPr>
          <a:xfrm>
            <a:off x="914400" y="6676672"/>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Indexed value = 100 × Adj Close / starting Adj Close</a:t>
            </a:r>
          </a:p>
        </p:txBody>
      </p:sp>
      <p:sp>
        <p:nvSpPr>
          <p:cNvPr id="200" name="H2 PERIODS"/>
          <p:cNvSpPr txBox="1"/>
          <p:nvPr/>
        </p:nvSpPr>
        <p:spPr>
          <a:xfrm>
            <a:off x="8407400" y="2593620"/>
            <a:ext cx="3048000"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r>
              <a:t>MARKET PERIODS</a:t>
            </a:r>
          </a:p>
        </p:txBody>
      </p:sp>
      <p:sp>
        <p:nvSpPr>
          <p:cNvPr id="201" name="Calm"/>
          <p:cNvSpPr txBox="1"/>
          <p:nvPr/>
        </p:nvSpPr>
        <p:spPr>
          <a:xfrm>
            <a:off x="8407399" y="2987320"/>
            <a:ext cx="3302003"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Calm baseline</a:t>
            </a:r>
          </a:p>
        </p:txBody>
      </p:sp>
      <p:sp>
        <p:nvSpPr>
          <p:cNvPr id="202" name="2015–2017"/>
          <p:cNvSpPr txBox="1"/>
          <p:nvPr/>
        </p:nvSpPr>
        <p:spPr>
          <a:xfrm>
            <a:off x="8407400" y="3544179"/>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2015–2017 · no major global shock</a:t>
            </a:r>
          </a:p>
        </p:txBody>
      </p:sp>
      <p:sp>
        <p:nvSpPr>
          <p:cNvPr id="203" name="2008 crisis"/>
          <p:cNvSpPr txBox="1"/>
          <p:nvPr/>
        </p:nvSpPr>
        <p:spPr>
          <a:xfrm>
            <a:off x="8407400" y="4003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2008 crisis</a:t>
            </a:r>
          </a:p>
        </p:txBody>
      </p:sp>
      <p:sp>
        <p:nvSpPr>
          <p:cNvPr id="204" name="calendar year 2008"/>
          <p:cNvSpPr txBox="1"/>
          <p:nvPr/>
        </p:nvSpPr>
        <p:spPr>
          <a:xfrm>
            <a:off x="8407400" y="453323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Housing collapse, mortgage losses, and a global banking shock</a:t>
            </a:r>
          </a:p>
        </p:txBody>
      </p:sp>
      <p:sp>
        <p:nvSpPr>
          <p:cNvPr id="205" name="2020 crash"/>
          <p:cNvSpPr txBox="1"/>
          <p:nvPr/>
        </p:nvSpPr>
        <p:spPr>
          <a:xfrm>
            <a:off x="8407400" y="5019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2020 crash</a:t>
            </a:r>
          </a:p>
        </p:txBody>
      </p:sp>
      <p:sp>
        <p:nvSpPr>
          <p:cNvPr id="206" name="February–April 2020"/>
          <p:cNvSpPr txBox="1"/>
          <p:nvPr/>
        </p:nvSpPr>
        <p:spPr>
          <a:xfrm>
            <a:off x="8407400" y="557907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Pandemic lockdowns triggered a sudden global selloff</a:t>
            </a:r>
          </a:p>
        </p:txBody>
      </p:sp>
      <p:sp>
        <p:nvSpPr>
          <p:cNvPr id="207" name="2022 drawdown"/>
          <p:cNvSpPr txBox="1"/>
          <p:nvPr/>
        </p:nvSpPr>
        <p:spPr>
          <a:xfrm>
            <a:off x="8407400" y="6035321"/>
            <a:ext cx="3556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2022 drawdown</a:t>
            </a:r>
          </a:p>
        </p:txBody>
      </p:sp>
      <p:sp>
        <p:nvSpPr>
          <p:cNvPr id="208" name="calendar year 2022"/>
          <p:cNvSpPr txBox="1"/>
          <p:nvPr/>
        </p:nvSpPr>
        <p:spPr>
          <a:xfrm>
            <a:off x="8407400" y="6689373"/>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Inflation and rapid rate hikes drove a slower drawdown</a:t>
            </a:r>
          </a:p>
        </p:txBody>
      </p:sp>
      <p:sp>
        <p:nvSpPr>
          <p:cNvPr id="209" name="Correlation = average pairwise Pearson correlation of daily returns across regional baskets"/>
          <p:cNvSpPr txBox="1"/>
          <p:nvPr/>
        </p:nvSpPr>
        <p:spPr>
          <a:xfrm>
            <a:off x="8407399" y="7432323"/>
            <a:ext cx="6604002"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r>
              <a:t>Measures: correlation, volatility, and volume relative to calm</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1</a:t>
            </a:r>
          </a:p>
        </p:txBody>
      </p:sp>
      <p:sp>
        <p:nvSpPr>
          <p:cNvPr id="214" name="7"/>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5</a:t>
            </a:r>
          </a:p>
        </p:txBody>
      </p:sp>
      <p:sp>
        <p:nvSpPr>
          <p:cNvPr id="215"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The selected chip/AI group pulled decisively ahead</a:t>
            </a:r>
          </a:p>
        </p:txBody>
      </p:sp>
      <p:sp>
        <p:nvSpPr>
          <p:cNvPr id="216" name="Indexed group averages from 2023-01-03 to 2026-02-20."/>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Indexed group averages from 2023-01-03 to 2026-02-20.</a:t>
            </a:r>
          </a:p>
        </p:txBody>
      </p:sp>
      <p:sp>
        <p:nvSpPr>
          <p:cNvPr id="217"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1</a:t>
            </a:r>
          </a:p>
        </p:txBody>
      </p:sp>
      <p:sp>
        <p:nvSpPr>
          <p:cNvPr id="218"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5</a:t>
            </a:r>
          </a:p>
        </p:txBody>
      </p:sp>
      <p:pic>
        <p:nvPicPr>
          <p:cNvPr id="219" name="figure_a_ai_rally.png" descr="figure_a_ai_rally.png"/>
          <p:cNvPicPr>
            <a:picLocks noChangeAspect="1"/>
          </p:cNvPicPr>
          <p:nvPr/>
        </p:nvPicPr>
        <p:blipFill>
          <a:blip r:embed="rId3"/>
          <a:stretch>
            <a:fillRect/>
          </a:stretch>
        </p:blipFill>
        <p:spPr>
          <a:xfrm>
            <a:off x="914400" y="2387599"/>
            <a:ext cx="9849044" cy="5803902"/>
          </a:xfrm>
          <a:prstGeom prst="rect">
            <a:avLst/>
          </a:prstGeom>
          <a:ln w="12700">
            <a:miter lim="400000"/>
          </a:ln>
        </p:spPr>
      </p:pic>
      <p:sp>
        <p:nvSpPr>
          <p:cNvPr id="220" name="+549%"/>
          <p:cNvSpPr txBox="1"/>
          <p:nvPr/>
        </p:nvSpPr>
        <p:spPr>
          <a:xfrm>
            <a:off x="11810999" y="2771419"/>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+549%</a:t>
            </a:r>
          </a:p>
        </p:txBody>
      </p:sp>
      <p:sp>
        <p:nvSpPr>
          <p:cNvPr id="221"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chip / AI group</a:t>
            </a:r>
          </a:p>
        </p:txBody>
      </p:sp>
      <p:sp>
        <p:nvSpPr>
          <p:cNvPr id="222" name="+168%"/>
          <p:cNvSpPr txBox="1"/>
          <p:nvPr/>
        </p:nvSpPr>
        <p:spPr>
          <a:xfrm>
            <a:off x="11810999" y="4295421"/>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+168%</a:t>
            </a:r>
          </a:p>
        </p:txBody>
      </p:sp>
      <p:sp>
        <p:nvSpPr>
          <p:cNvPr id="223" name="broader-tech group"/>
          <p:cNvSpPr txBox="1"/>
          <p:nvPr/>
        </p:nvSpPr>
        <p:spPr>
          <a:xfrm>
            <a:off x="11861799" y="5101871"/>
            <a:ext cx="3175004"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broader-tech group</a:t>
            </a:r>
          </a:p>
        </p:txBody>
      </p:sp>
      <p:sp>
        <p:nvSpPr>
          <p:cNvPr id="224"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r>
              <a:t>0.26% vs 0.14%</a:t>
            </a:r>
          </a:p>
        </p:txBody>
      </p:sp>
      <p:sp>
        <p:nvSpPr>
          <p:cNvPr id="225" name="mean daily return"/>
          <p:cNvSpPr txBox="1"/>
          <p:nvPr/>
        </p:nvSpPr>
        <p:spPr>
          <a:xfrm>
            <a:off x="11861799" y="6498869"/>
            <a:ext cx="3175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mean daily return</a:t>
            </a:r>
          </a:p>
        </p:txBody>
      </p:sp>
      <p:sp>
        <p:nvSpPr>
          <p:cNvPr id="226"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r>
              <a:t>Welch p = 0.0073</a:t>
            </a:r>
          </a:p>
        </p:txBody>
      </p:sp>
      <p:sp>
        <p:nvSpPr>
          <p:cNvPr id="227"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H1 is supported for these selected groups—not for every company linked to AI.</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2</a:t>
            </a:r>
          </a:p>
        </p:txBody>
      </p:sp>
      <p:sp>
        <p:nvSpPr>
          <p:cNvPr id="232" name="8"/>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6</a:t>
            </a:r>
          </a:p>
        </p:txBody>
      </p:sp>
      <p:sp>
        <p:nvSpPr>
          <p:cNvPr id="233"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Regional diversification weakened most in the 2020 crash</a:t>
            </a:r>
          </a:p>
        </p:txBody>
      </p:sp>
      <p:sp>
        <p:nvSpPr>
          <p:cNvPr id="234" name="Average pairwise correlations after widening the available regional basket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Average pairwise correlations after widening the available regional baskets.</a:t>
            </a:r>
          </a:p>
        </p:txBody>
      </p:sp>
      <p:sp>
        <p:nvSpPr>
          <p:cNvPr id="235"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2</a:t>
            </a:r>
          </a:p>
        </p:txBody>
      </p:sp>
      <p:sp>
        <p:nvSpPr>
          <p:cNvPr id="236"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6</a:t>
            </a:r>
          </a:p>
        </p:txBody>
      </p:sp>
      <p:pic>
        <p:nvPicPr>
          <p:cNvPr id="237" name="ec1_f_widened_basket.png" descr="ec1_f_widened_basket.png"/>
          <p:cNvPicPr>
            <a:picLocks noChangeAspect="1"/>
          </p:cNvPicPr>
          <p:nvPr/>
        </p:nvPicPr>
        <p:blipFill>
          <a:blip r:embed="rId3"/>
          <a:stretch>
            <a:fillRect/>
          </a:stretch>
        </p:blipFill>
        <p:spPr>
          <a:xfrm>
            <a:off x="914400" y="2540000"/>
            <a:ext cx="10625247" cy="3898900"/>
          </a:xfrm>
          <a:prstGeom prst="rect">
            <a:avLst/>
          </a:prstGeom>
          <a:ln w="12700">
            <a:miter lim="400000"/>
          </a:ln>
        </p:spPr>
      </p:pic>
      <p:sp>
        <p:nvSpPr>
          <p:cNvPr id="238" name="0.282"/>
          <p:cNvSpPr txBox="1"/>
          <p:nvPr/>
        </p:nvSpPr>
        <p:spPr>
          <a:xfrm>
            <a:off x="12700000" y="2777769"/>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r>
              <a:t>0.282</a:t>
            </a:r>
          </a:p>
        </p:txBody>
      </p:sp>
      <p:sp>
        <p:nvSpPr>
          <p:cNvPr id="239"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calm</a:t>
            </a:r>
          </a:p>
        </p:txBody>
      </p:sp>
      <p:sp>
        <p:nvSpPr>
          <p:cNvPr id="240"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r>
              <a:t>0.326</a:t>
            </a:r>
          </a:p>
        </p:txBody>
      </p:sp>
      <p:sp>
        <p:nvSpPr>
          <p:cNvPr id="241"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2008</a:t>
            </a:r>
          </a:p>
        </p:txBody>
      </p:sp>
      <p:sp>
        <p:nvSpPr>
          <p:cNvPr id="242"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r>
              <a:t>0.539</a:t>
            </a:r>
          </a:p>
        </p:txBody>
      </p:sp>
      <p:sp>
        <p:nvSpPr>
          <p:cNvPr id="243"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2020</a:t>
            </a:r>
          </a:p>
        </p:txBody>
      </p:sp>
      <p:sp>
        <p:nvSpPr>
          <p:cNvPr id="244"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The 2008 estimate became more crisis-like after widening the basket, but Paris still has one stock and Korea/Switzerland remain sector-narrow.</a:t>
            </a:r>
          </a:p>
        </p:txBody>
      </p:sp>
      <p:sp>
        <p:nvSpPr>
          <p:cNvPr id="245"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H2 is strongly supported for 2020 and directionally supported for 2008.</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3</a:t>
            </a:r>
          </a:p>
        </p:txBody>
      </p:sp>
      <p:sp>
        <p:nvSpPr>
          <p:cNvPr id="250" name="9"/>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7</a:t>
            </a:r>
          </a:p>
        </p:txBody>
      </p:sp>
      <p:sp>
        <p:nvSpPr>
          <p:cNvPr id="251"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Panic months produced the largest volatility spikes</a:t>
            </a:r>
          </a:p>
        </p:txBody>
      </p:sp>
      <p:sp>
        <p:nvSpPr>
          <p:cNvPr id="252" name="Equal-weighted mean absolute daily return by month across available ticker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Equal-weighted mean absolute daily return by month across available tickers.</a:t>
            </a:r>
          </a:p>
        </p:txBody>
      </p:sp>
      <p:sp>
        <p:nvSpPr>
          <p:cNvPr id="253"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3</a:t>
            </a:r>
          </a:p>
        </p:txBody>
      </p:sp>
      <p:sp>
        <p:nvSpPr>
          <p:cNvPr id="254"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7</a:t>
            </a:r>
          </a:p>
        </p:txBody>
      </p:sp>
      <p:pic>
        <p:nvPicPr>
          <p:cNvPr id="255" name="b2_monthly_absolute_return.png" descr="b2_monthly_absolute_return.png"/>
          <p:cNvPicPr>
            <a:picLocks noChangeAspect="1"/>
          </p:cNvPicPr>
          <p:nvPr/>
        </p:nvPicPr>
        <p:blipFill>
          <a:blip r:embed="rId3"/>
          <a:stretch>
            <a:fillRect/>
          </a:stretch>
        </p:blipFill>
        <p:spPr>
          <a:xfrm>
            <a:off x="914400" y="2362200"/>
            <a:ext cx="10916223" cy="6261100"/>
          </a:xfrm>
          <a:prstGeom prst="rect">
            <a:avLst/>
          </a:prstGeom>
          <a:ln w="12700">
            <a:miter lim="400000"/>
          </a:ln>
        </p:spPr>
      </p:pic>
      <p:sp>
        <p:nvSpPr>
          <p:cNvPr id="256" name="OCT 2008"/>
          <p:cNvSpPr txBox="1"/>
          <p:nvPr/>
        </p:nvSpPr>
        <p:spPr>
          <a:xfrm>
            <a:off x="12522200" y="3088919"/>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OCT 2008</a:t>
            </a:r>
          </a:p>
        </p:txBody>
      </p:sp>
      <p:sp>
        <p:nvSpPr>
          <p:cNvPr id="257"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4.82%</a:t>
            </a:r>
          </a:p>
        </p:txBody>
      </p:sp>
      <p:sp>
        <p:nvSpPr>
          <p:cNvPr id="258"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MAR 2020</a:t>
            </a:r>
          </a:p>
        </p:txBody>
      </p:sp>
      <p:sp>
        <p:nvSpPr>
          <p:cNvPr id="259"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4.67%</a:t>
            </a:r>
          </a:p>
        </p:txBody>
      </p:sp>
      <p:sp>
        <p:nvSpPr>
          <p:cNvPr id="260" name="Independent monthly aggregation reaches the same crisis conclusion."/>
          <p:cNvSpPr txBox="1"/>
          <p:nvPr/>
        </p:nvSpPr>
        <p:spPr>
          <a:xfrm>
            <a:off x="12471399" y="6479819"/>
            <a:ext cx="2794004" cy="1035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r>
              <a:t>Independent monthly aggregation reaches the same crisis conclusion.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65" name="10"/>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8</a:t>
            </a:r>
          </a:p>
        </p:txBody>
      </p:sp>
      <p:sp>
        <p:nvSpPr>
          <p:cNvPr id="266"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A log scale reveals the growth stories hidden by the linear chart</a:t>
            </a:r>
          </a:p>
        </p:txBody>
      </p:sp>
      <p:sp>
        <p:nvSpPr>
          <p:cNvPr id="267" name="Same data and rebasing; only the visual encoding change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Same data and rebasing; only the visual encoding changes.</a:t>
            </a:r>
          </a:p>
        </p:txBody>
      </p:sp>
      <p:sp>
        <p:nvSpPr>
          <p:cNvPr id="268"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69"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8</a:t>
            </a:r>
          </a:p>
        </p:txBody>
      </p:sp>
      <p:sp>
        <p:nvSpPr>
          <p:cNvPr id="270" name="BEFORE  ·  LINEAR"/>
          <p:cNvSpPr txBox="1"/>
          <p:nvPr/>
        </p:nvSpPr>
        <p:spPr>
          <a:xfrm>
            <a:off x="9144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r>
              <a:t>BEFORE  ·  LINEAR</a:t>
            </a:r>
          </a:p>
        </p:txBody>
      </p:sp>
      <p:sp>
        <p:nvSpPr>
          <p:cNvPr id="271" name="AFTER  ·  LOG"/>
          <p:cNvSpPr txBox="1"/>
          <p:nvPr/>
        </p:nvSpPr>
        <p:spPr>
          <a:xfrm>
            <a:off x="82550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AFTER  ·  LOG</a:t>
            </a:r>
          </a:p>
        </p:txBody>
      </p:sp>
      <p:pic>
        <p:nvPicPr>
          <p:cNvPr id="272" name="ec1_a_before.png" descr="ec1_a_before.png"/>
          <p:cNvPicPr>
            <a:picLocks noChangeAspect="1"/>
          </p:cNvPicPr>
          <p:nvPr/>
        </p:nvPicPr>
        <p:blipFill>
          <a:blip r:embed="rId3"/>
          <a:stretch>
            <a:fillRect/>
          </a:stretch>
        </p:blipFill>
        <p:spPr>
          <a:xfrm>
            <a:off x="914400" y="2641600"/>
            <a:ext cx="6962258" cy="4178300"/>
          </a:xfrm>
          <a:prstGeom prst="rect">
            <a:avLst/>
          </a:prstGeom>
          <a:ln w="12700">
            <a:miter lim="400000"/>
          </a:ln>
        </p:spPr>
      </p:pic>
      <p:pic>
        <p:nvPicPr>
          <p:cNvPr id="273" name="ec1_a_after.png" descr="ec1_a_after.png"/>
          <p:cNvPicPr>
            <a:picLocks noChangeAspect="1"/>
          </p:cNvPicPr>
          <p:nvPr/>
        </p:nvPicPr>
        <p:blipFill>
          <a:blip r:embed="rId4"/>
          <a:stretch>
            <a:fillRect/>
          </a:stretch>
        </p:blipFill>
        <p:spPr>
          <a:xfrm>
            <a:off x="8255000" y="2641600"/>
            <a:ext cx="6966985" cy="4178300"/>
          </a:xfrm>
          <a:prstGeom prst="rect">
            <a:avLst/>
          </a:prstGeom>
          <a:ln w="12700">
            <a:miter lim="400000"/>
          </a:ln>
        </p:spPr>
      </p:pic>
      <p:sp>
        <p:nvSpPr>
          <p:cNvPr id="274"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NVDA and AVGO dominate the absolute range, compressing four lines near the baseline.</a:t>
            </a:r>
          </a:p>
        </p:txBody>
      </p:sp>
      <p:sp>
        <p:nvSpPr>
          <p:cNvPr id="275"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r>
              <a:t>Equal vertical distance now represents equal proportional change; all six series remain legible.</a:t>
            </a:r>
          </a:p>
        </p:txBody>
      </p:sp>
      <p:sp>
        <p:nvSpPr>
          <p:cNvPr id="276"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Principles applied: appropriate scale  ·  direct labels  ·  less non-data ink  ·  better pre-attentive separation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9</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Diversification is thinner when it matters most</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All three hypotheses support the central story, within clear limits.</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9</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Technology leadership was concentrated</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gained 549% versus 168% for broader tech.</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Regional protection weakened in sudden stress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correlation peaked at 0.539 in the 2020 crash.</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Volatility independently confirmed the panic signal</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October 2008 and March 2020 were the largest monthly spikes.</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What we can claim: patterns in this dataset.  What we cannot claim: causality, forecasting, or a universal market law.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300" name="1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10</a:t>
            </a:r>
          </a:p>
        </p:txBody>
      </p:sp>
      <p:sp>
        <p:nvSpPr>
          <p:cNvPr id="301"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Make the evidence explorable</a:t>
            </a:r>
          </a:p>
        </p:txBody>
      </p:sp>
      <p:sp>
        <p:nvSpPr>
          <p:cNvPr id="302" name="The dashboard keeps every assumption visible as a filter."/>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The dashboard keeps every assumption visible as a filter.</a:t>
            </a:r>
          </a:p>
        </p:txBody>
      </p:sp>
      <p:sp>
        <p:nvSpPr>
          <p:cNvPr id="303"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304"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10</a:t>
            </a:r>
          </a:p>
        </p:txBody>
      </p:sp>
      <p:sp>
        <p:nvSpPr>
          <p:cNvPr id="305" name="POWER BI / TABLEAU"/>
          <p:cNvSpPr txBox="1"/>
          <p:nvPr/>
        </p:nvSpPr>
        <p:spPr>
          <a:xfrm>
            <a:off x="914400" y="2695219"/>
            <a:ext cx="4572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r>
              <a:t>POWER BI / TABLEAU</a:t>
            </a:r>
          </a:p>
        </p:txBody>
      </p:sp>
      <p:sp>
        <p:nvSpPr>
          <p:cNvPr id="306" name="One overview"/>
          <p:cNvSpPr txBox="1"/>
          <p:nvPr/>
        </p:nvSpPr>
        <p:spPr>
          <a:xfrm>
            <a:off x="914399" y="3190519"/>
            <a:ext cx="5207002"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One overview</a:t>
            </a:r>
          </a:p>
        </p:txBody>
      </p:sp>
      <p:sp>
        <p:nvSpPr>
          <p:cNvPr id="307"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Filter by ticker group, region, and crisis period; compare indexed performance, correlations, and monthly volatility.</a:t>
            </a:r>
          </a:p>
        </p:txBody>
      </p:sp>
      <p:sp>
        <p:nvSpPr>
          <p:cNvPr id="308" name="R WRANGLING"/>
          <p:cNvSpPr txBox="1"/>
          <p:nvPr/>
        </p:nvSpPr>
        <p:spPr>
          <a:xfrm>
            <a:off x="8254999" y="2695219"/>
            <a:ext cx="3810004"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r>
              <a:t>R WRANGLING</a:t>
            </a:r>
          </a:p>
        </p:txBody>
      </p:sp>
      <p:sp>
        <p:nvSpPr>
          <p:cNvPr id="309" name="Long-form by design"/>
          <p:cNvSpPr txBox="1"/>
          <p:nvPr/>
        </p:nvSpPr>
        <p:spPr>
          <a:xfrm>
            <a:off x="8255000" y="3190519"/>
            <a:ext cx="5715000"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Long-form by design</a:t>
            </a:r>
          </a:p>
        </p:txBody>
      </p:sp>
      <p:sp>
        <p:nvSpPr>
          <p:cNvPr id="310"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Use parsed dates, month bins, and one Ticker field so color, grouping, and filters remain consistent.</a:t>
            </a:r>
          </a:p>
        </p:txBody>
      </p:sp>
      <p:sp>
        <p:nvSpPr>
          <p:cNvPr id="311"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r>
              <a:t>OPEN RISKS</a:t>
            </a:r>
          </a:p>
        </p:txBody>
      </p:sp>
      <p:sp>
        <p:nvSpPr>
          <p:cNvPr id="312"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r>
              <a:t>unequal regional coverage  ·  share-count volume  ·  removed original Kaggle page  ·  no causal interpretation</a:t>
            </a:r>
          </a:p>
        </p:txBody>
      </p:sp>
      <p:sp>
        <p:nvSpPr>
          <p:cNvPr id="313"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r>
              <a:t>Success means the user can reproduce each headline and see where the evidence becomes uncertain.</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7</cp:revision>
  <dcterms:modified xsi:type="dcterms:W3CDTF">2026-08-26T16:08:13Z</dcterms:modified>
</cp:coreProperties>
</file>